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10287000" cx="18288000"/>
  <p:notesSz cx="10287000" cy="18288000"/>
  <p:embeddedFontLst>
    <p:embeddedFont>
      <p:font typeface="IBM Plex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hDgWd00RssvgCqYoXsvVQXqzGV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BMPlexSans-bold.fntdata"/><Relationship Id="rId25" Type="http://schemas.openxmlformats.org/officeDocument/2006/relationships/font" Target="fonts/IBMPlexSans-regular.fntdata"/><Relationship Id="rId28" Type="http://schemas.openxmlformats.org/officeDocument/2006/relationships/font" Target="fonts/IBMPlexSans-boldItalic.fntdata"/><Relationship Id="rId27" Type="http://schemas.openxmlformats.org/officeDocument/2006/relationships/font" Target="fonts/IBMPlexSans-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 Welcome. Confirm everyone has a Docker account and sbx installed — anyone who doesn't can pair up or install during section 01 (commands are on screen). Frame: unlike the security talk, today is purely practical getting-started. No threat theory. Everything we do works with the empty shell sandbox too — it's about the isolation and customization, not the specific agent. We'll use Claude because that's what most people here run.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 min. Set expectations: follow along on your own laptop; checkpoints at the end of each section. If you fall behind, the commands stay on screen and the deck will be shared. Section 05 is the big one — VS Code running inside a sandbox, including the brand-new built-in SSH support that shipped experimentally in v0.34.</a:t>
            </a:r>
            <a:endParaRPr/>
          </a:p>
        </p:txBody>
      </p:sp>
      <p:sp>
        <p:nvSpPr>
          <p:cNvPr id="35" name="Google Shape;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 Keep this fast — this is the only architecture slide. Three things to land: (1) microVM with its own kernel, so root inside is fine; (2) the workspace folder is the ONLY shared filesystem surface; (3) every byte of egress goes through the host-side proxy — that's where policies and credential injection happen. Everything else today builds on point 3. For the deep security story, point people to the AI Governance deck / home-directory talk.</a:t>
            </a:r>
            <a:endParaRPr/>
          </a:p>
        </p:txBody>
      </p:sp>
      <p:sp>
        <p:nvSpPr>
          <p:cNvPr id="65" name="Google Shape;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5 min incl. stragglers installing. Linux gotchas: verify KVM with 'lsmod | grep kvm', add yourself to the kvm group (sudo usermod -aG kvm $USER, then re-login or newgrp kvm). Windows: Enable-WindowsOptionalFeature -Online -FeatureName HypervisorPlatform -All. Why sign-in: verified identity, image pulls, and org governance; sbx itself is free including commercial use — only org governance is a paid add-on.</a:t>
            </a:r>
            <a:endParaRPr/>
          </a:p>
        </p:txBody>
      </p:sp>
      <p:sp>
        <p:nvSpPr>
          <p:cNvPr id="99" name="Google Shape;9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 If someone already installed and picked a different preset, 'sbx policy reset' re-prompts (warning: it stops running sandboxes). Balanced = default-deny plus a curated allow list of common dev endpoints. This one choice is why later sections have 'allow' steps — own the friction, it's the point of the tool.</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5 min hands-on. Mention: Claude runs with --dangerously-skip-permissions by default — no permission prompts, because the microVM is the guardrail (re-enable via /permissions if wanted). Re-running sbx run in the same workspace reconnects to the existing sandbox. Packages and config persist across stop/start; rm deletes the VM but never your host workspace files. Advanced flags to mention verbally: --clone (private git clone inside the VM, host repo read-only) and --branch (worktree under .sbx/).</a:t>
            </a:r>
            <a:endParaRPr/>
          </a:p>
        </p:txBody>
      </p:sp>
      <p:sp>
        <p:nvSpPr>
          <p:cNvPr id="150" name="Google Shape;15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3 min. This is the core idea of the section: injection happens at the proxy, gated by service domain. Two supported paths: stored secrets (OS keychain, recommended) and host env vars (work, but visible to other host processes). If both exist, the stored secret wins.</a:t>
            </a:r>
            <a:endParaRPr/>
          </a:p>
        </p:txBody>
      </p:sp>
      <p:sp>
        <p:nvSpPr>
          <p:cNvPr id="180" name="Google Shape;18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 min hands-on — have everyone set the github secret at minimum. The 1Password pattern is straight from an internal thread; a --ref flag with auto-refresh (op:// references, refreshing gcloud tokens) is in design right now, so watch the changelog. Custom env vars for unsupported services exist via /etc/sandbox-persistent.sh, but warn: that value DOES live inside the sandbox — unlike proxy-injected secrets. 'sbx reset' wipes secrets; use 'sbx reset --preserve-secrets'.</a:t>
            </a:r>
            <a:endParaRPr/>
          </a:p>
        </p:txBody>
      </p:sp>
      <p:sp>
        <p:nvSpPr>
          <p:cNvPr id="206" name="Google Shape;20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5 min hands-on. This is the section where auth headers click for people. /headers echoes the full request; /bearer validates an Authorization header. Run 'sbx policy log' on the host in a second terminal while curling — you'll see each request with a PROXY column. 'forward' = injection path, 'transparent' = policy-only, no injection. Requests from containers running INSIDE the sandbox go transparent — the #1 cause of mystery 401s when people docker-run things in-sandbox.</a:t>
            </a:r>
            <a:endParaRPr/>
          </a:p>
        </p:txBody>
      </p:sp>
      <p:sp>
        <p:nvSpPr>
          <p:cNvPr id="230" name="Google Shape;2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5 min. This generalizes credential injection to ANY API — internal services included. The kit declares: this env var is a credential; for this domain, format it into this header. Check 'sbx policy log' again: httpbin.org now shows PROXY=forward (injection) instead of transparent. If the token still leaks into the VM, you've exported it via /etc/sandbox-persistent.sh somewhere — that's the anti-pattern.</a:t>
            </a:r>
            <a:endParaRPr/>
          </a:p>
        </p:txBody>
      </p:sp>
      <p:sp>
        <p:nvSpPr>
          <p:cNvPr id="253" name="Google Shape;2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 Vocabulary slide. Docs call all of these 'kits'; a mixin is a kind of kit. Key warning that saves hours: a custom kind:agent kit REPLACES the built-in agent and currently loses host-credential injection (known issue in 0.34 — injection is gated on the agent name). Stacking a mixin on 'sbx run claude' keeps automatic auth. Mixin = the path of least surprise.</a:t>
            </a:r>
            <a:endParaRPr/>
          </a:p>
        </p:txBody>
      </p:sp>
      <p:sp>
        <p:nvSpPr>
          <p:cNvPr id="279" name="Google Shape;27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8 min hands-on. Why startup-append instead of just shipping CLAUDE.md as a static file: kit files land before the sandbox seeds agent config, and you don't want to clobber a project's existing CLAUDE.md — append, idempotently (the grep guard). For agent kits there's also a 'memory:' field that appends to the agent's memory file natively; for mixins, this + skills are the documented patterns. Kits load from dirs, zips, git+https URLs, or OCI refs — but non-Docker sources need: sbx settings set kit.allowedSources with docker.io/ and github.com/myorg/. --kit is create-time only; 'sbx kit add my-sandbox ./kit' applies to a running one. Examples to steal from: github.com/docker/sbx-kits-contrib.</a:t>
            </a:r>
            <a:endParaRPr/>
          </a:p>
        </p:txBody>
      </p:sp>
      <p:sp>
        <p:nvSpPr>
          <p:cNvPr id="305" name="Google Shape;30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3 min. Keep light — this is the practical subset, not the governance talk. Most common friction in week one: package registries and internal APIs. Teach the reflex: when something's blocked, don't guess — 'sbx policy log' shows exactly what was denied, copy the domain into an allow rule. Org governance demo only if time permits: admin console lives in Docker Home → AI Platform.</a:t>
            </a:r>
            <a:endParaRPr/>
          </a:p>
        </p:txBody>
      </p:sp>
      <p:sp>
        <p:nvSpPr>
          <p:cNvPr id="339" name="Google Shape;33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 min. This answers 'has SSH tunneling gotten easier?' — yes, dramatically, as of v0.34.0 (late June 2026). sbx ssh setup registers a managed key and known-hosts command; connect with ssh sandbox-name@sbx. Engineers advise against relying on it in .34 for the full VS Code flow (channel-type + sftp gaps), and upcoming work adds connect-on-demand (no need to pre-start the sandbox) and cloud SSH. Check release notes — by the time you run this workshop again, the next slide may be obsolete.</a:t>
            </a:r>
            <a:endParaRPr/>
          </a:p>
        </p:txBody>
      </p:sp>
      <p:sp>
        <p:nvSpPr>
          <p:cNvPr id="366" name="Google Shape;36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3 min explain, then lab on next slide. Plain OpenSSH, loopback only — the kit installs sshd (pubkey-only, AllowUsers agent, ListenAddress 0.0.0.0 — required for sbx ports). The workspace mounts at the SAME absolute path inside, so .git and tooling behave. ssh_config entry: Host sbx-vscode-ssh / HostName 127.0.0.1 / Port 2222 / User agent / StrictHostKeyChecking no (host keys regenerate per create; loopback-only so acceptable). Source: github.com/DockerSolutionsEngineering/ai.gov.sbx-vscode-ssh.</a:t>
            </a:r>
            <a:endParaRPr/>
          </a:p>
        </p:txBody>
      </p:sp>
      <p:sp>
        <p:nvSpPr>
          <p:cNvPr id="392" name="Google Shape;39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8 min hands-on (wifi-dependent: first connect downloads ~140 MB of VS Code Server). Ports across the repo examples: 01→2222, 06→2244 — they can coexist. Overrides: SSH_PORT=2255 SANDBOX_NAME=demo ./start.sh ~/code/demo. One repo caveat: keep 'claude' as the agent (mixin, not custom agent kit) or you lose automatic Anthropic credential wiring. These are proofs of concept from Solutions Engineering — read before trusting, sbx moves fast.</a:t>
            </a:r>
            <a:endParaRPr/>
          </a:p>
        </p:txBody>
      </p:sp>
      <p:sp>
        <p:nvSpPr>
          <p:cNvPr id="440" name="Google Shape;44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3 min — or dispense as people hit them during the lab. Extra ones for Q&amp;A: stale .staging/.lock files under ~/.vscode-server force re-downloads (the kit cleans them each boot); authorized_keys must be 0600 and owned agent:agent or sshd silently refuses; PATH in non-login SSH shells misses npm-global — the kit exports it via /etc/sandbox-persistent.sh; launching from Finder (.app) loses Keychain access — the repo's 04 example shows the osascript workaround.</a:t>
            </a:r>
            <a:endParaRPr/>
          </a:p>
        </p:txBody>
      </p:sp>
      <p:sp>
        <p:nvSpPr>
          <p:cNvPr id="466" name="Google Shape;46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3 min. The habit to leave with: keep 'sbx policy log' in a spare terminal the first week. It answers 'why is this failing' (blocked domain), 'why is auth failing' (transparent path), and 'what did the agent touch on the network' in one place. Filesystem mount decisions aren't logged yet — network only. Fun check: ask Claude what it thinks it can reach, then compare against the log.</a:t>
            </a:r>
            <a:endParaRPr/>
          </a:p>
        </p:txBody>
      </p:sp>
      <p:sp>
        <p:nvSpPr>
          <p:cNvPr id="490" name="Google Shape;49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 — don't read the slide, just tell them it exists and hit the top two: global-secret-at-creation and kit-allowedSources, because everyone hits both in week one. This slide doubles as the take-home cheat sheet.</a:t>
            </a:r>
            <a:endParaRPr/>
          </a:p>
        </p:txBody>
      </p:sp>
      <p:sp>
        <p:nvSpPr>
          <p:cNvPr id="517" name="Google Shape;51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 + Q&amp;A buffer. Close on: the agent was never the point — the isolation, the credential boundary, and the customization are. Everything works identically with 'sbx run shell'. Ask people to watch the release notes: built-in SSH is moving fast and will likely replace the kit approach within a release or two.</a:t>
            </a:r>
            <a:endParaRPr/>
          </a:p>
        </p:txBody>
      </p:sp>
      <p:sp>
        <p:nvSpPr>
          <p:cNvPr id="546" name="Google Shape;54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3C"/>
        </a:solidFill>
      </p:bgPr>
    </p:bg>
    <p:spTree>
      <p:nvGrpSpPr>
        <p:cNvPr id="15" name="Shape 15"/>
        <p:cNvGrpSpPr/>
        <p:nvPr/>
      </p:nvGrpSpPr>
      <p:grpSpPr>
        <a:xfrm>
          <a:off x="0" y="0"/>
          <a:ext cx="0" cy="0"/>
          <a:chOff x="0" y="0"/>
          <a:chExt cx="0" cy="0"/>
        </a:xfrm>
      </p:grpSpPr>
      <p:sp>
        <p:nvSpPr>
          <p:cNvPr id="16" name="Google Shape;16;p1"/>
          <p:cNvSpPr/>
          <p:nvPr/>
        </p:nvSpPr>
        <p:spPr>
          <a:xfrm>
            <a:off x="990600" y="900113"/>
            <a:ext cx="1745650"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BA4F4"/>
              </a:buClr>
              <a:buSzPts val="1800"/>
              <a:buFont typeface="IBM Plex Sans"/>
              <a:buNone/>
            </a:pPr>
            <a:r>
              <a:rPr b="1" i="0" lang="en-US" sz="1800" u="none" cap="none" strike="noStrike">
                <a:solidFill>
                  <a:srgbClr val="7BA4F4"/>
                </a:solidFill>
                <a:latin typeface="IBM Plex Sans"/>
                <a:ea typeface="IBM Plex Sans"/>
                <a:cs typeface="IBM Plex Sans"/>
                <a:sym typeface="IBM Plex Sans"/>
              </a:rPr>
              <a:t>WORKSHOP</a:t>
            </a:r>
            <a:endParaRPr b="0" i="0" sz="1800" u="none" cap="none" strike="noStrike">
              <a:solidFill>
                <a:schemeClr val="dk1"/>
              </a:solidFill>
              <a:latin typeface="Calibri"/>
              <a:ea typeface="Calibri"/>
              <a:cs typeface="Calibri"/>
              <a:sym typeface="Calibri"/>
            </a:endParaRPr>
          </a:p>
        </p:txBody>
      </p:sp>
      <p:pic>
        <p:nvPicPr>
          <p:cNvPr descr="preencoded.png" id="17" name="Google Shape;17;p1"/>
          <p:cNvPicPr preferRelativeResize="0"/>
          <p:nvPr/>
        </p:nvPicPr>
        <p:blipFill rotWithShape="1">
          <a:blip r:embed="rId3">
            <a:alphaModFix/>
          </a:blip>
          <a:srcRect b="0" l="0" r="0" t="0"/>
          <a:stretch/>
        </p:blipFill>
        <p:spPr>
          <a:xfrm>
            <a:off x="15342691" y="838200"/>
            <a:ext cx="1954709" cy="419100"/>
          </a:xfrm>
          <a:prstGeom prst="rect">
            <a:avLst/>
          </a:prstGeom>
          <a:noFill/>
          <a:ln>
            <a:noFill/>
          </a:ln>
        </p:spPr>
      </p:pic>
      <p:sp>
        <p:nvSpPr>
          <p:cNvPr id="18" name="Google Shape;18;p1"/>
          <p:cNvSpPr/>
          <p:nvPr/>
        </p:nvSpPr>
        <p:spPr>
          <a:xfrm>
            <a:off x="990600" y="1790700"/>
            <a:ext cx="14716125" cy="2098477"/>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FFFFFF"/>
              </a:buClr>
              <a:buSzPts val="7800"/>
              <a:buFont typeface="IBM Plex Sans"/>
              <a:buNone/>
            </a:pPr>
            <a:r>
              <a:rPr b="1" i="0" lang="en-US" sz="7800" u="none" cap="none" strike="noStrike">
                <a:solidFill>
                  <a:srgbClr val="FFFFFF"/>
                </a:solidFill>
                <a:latin typeface="IBM Plex Sans"/>
                <a:ea typeface="IBM Plex Sans"/>
                <a:cs typeface="IBM Plex Sans"/>
                <a:sym typeface="IBM Plex Sans"/>
              </a:rPr>
              <a:t>Using agents securely with Docker Sandboxes</a:t>
            </a:r>
            <a:endParaRPr b="0" i="0" sz="7800" u="none" cap="none" strike="noStrike">
              <a:solidFill>
                <a:schemeClr val="dk1"/>
              </a:solidFill>
              <a:latin typeface="Calibri"/>
              <a:ea typeface="Calibri"/>
              <a:cs typeface="Calibri"/>
              <a:sym typeface="Calibri"/>
            </a:endParaRPr>
          </a:p>
        </p:txBody>
      </p:sp>
      <p:sp>
        <p:nvSpPr>
          <p:cNvPr id="19" name="Google Shape;19;p1"/>
          <p:cNvSpPr/>
          <p:nvPr/>
        </p:nvSpPr>
        <p:spPr>
          <a:xfrm>
            <a:off x="990600" y="4193977"/>
            <a:ext cx="11576685" cy="92199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FFFFF"/>
              </a:buClr>
              <a:buSzPts val="2400"/>
              <a:buFont typeface="IBM Plex Sans"/>
              <a:buNone/>
            </a:pPr>
            <a:r>
              <a:rPr b="0" i="0" lang="en-US" sz="2400" u="none" cap="none" strike="noStrike">
                <a:solidFill>
                  <a:srgbClr val="FFFFFF"/>
                </a:solidFill>
                <a:latin typeface="IBM Plex Sans"/>
                <a:ea typeface="IBM Plex Sans"/>
                <a:cs typeface="IBM Plex Sans"/>
                <a:sym typeface="IBM Plex Sans"/>
              </a:rPr>
              <a:t>Hands-on: install sbx, launch your first sandboxed agent, and keep credentials out of the runtime.</a:t>
            </a:r>
            <a:endParaRPr b="0" i="0" sz="2400" u="none" cap="none" strike="noStrike">
              <a:solidFill>
                <a:schemeClr val="dk1"/>
              </a:solidFill>
              <a:latin typeface="Calibri"/>
              <a:ea typeface="Calibri"/>
              <a:cs typeface="Calibri"/>
              <a:sym typeface="Calibri"/>
            </a:endParaRPr>
          </a:p>
        </p:txBody>
      </p:sp>
      <p:sp>
        <p:nvSpPr>
          <p:cNvPr id="20" name="Google Shape;20;p1"/>
          <p:cNvSpPr/>
          <p:nvPr/>
        </p:nvSpPr>
        <p:spPr>
          <a:xfrm>
            <a:off x="990600" y="6429375"/>
            <a:ext cx="8382000" cy="2176463"/>
          </a:xfrm>
          <a:prstGeom prst="roundRect">
            <a:avLst>
              <a:gd fmla="val 7002"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1333500" y="669607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1562100" y="669607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1790700" y="669607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1333500" y="7019925"/>
            <a:ext cx="7927086"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75"/>
              <a:buFont typeface="Courier New"/>
              <a:buNone/>
            </a:pPr>
            <a:r>
              <a:rPr b="1" i="0" lang="en-US" sz="1875" u="none" cap="none" strike="noStrike">
                <a:solidFill>
                  <a:srgbClr val="63C993"/>
                </a:solidFill>
                <a:latin typeface="Courier New"/>
                <a:ea typeface="Courier New"/>
                <a:cs typeface="Courier New"/>
                <a:sym typeface="Courier New"/>
              </a:rPr>
              <a:t>~ $ </a:t>
            </a:r>
            <a:r>
              <a:rPr b="0" i="0" lang="en-US" sz="1875" u="none" cap="none" strike="noStrike">
                <a:solidFill>
                  <a:srgbClr val="EEF2F8"/>
                </a:solidFill>
                <a:latin typeface="Courier New"/>
                <a:ea typeface="Courier New"/>
                <a:cs typeface="Courier New"/>
                <a:sym typeface="Courier New"/>
              </a:rPr>
              <a:t>sbx run claude</a:t>
            </a:r>
            <a:endParaRPr b="0" i="0" sz="1875" u="none" cap="none" strike="noStrike">
              <a:solidFill>
                <a:schemeClr val="dk1"/>
              </a:solidFill>
              <a:latin typeface="Calibri"/>
              <a:ea typeface="Calibri"/>
              <a:cs typeface="Calibri"/>
              <a:sym typeface="Calibri"/>
            </a:endParaRPr>
          </a:p>
        </p:txBody>
      </p:sp>
      <p:sp>
        <p:nvSpPr>
          <p:cNvPr id="25" name="Google Shape;25;p1"/>
          <p:cNvSpPr/>
          <p:nvPr/>
        </p:nvSpPr>
        <p:spPr>
          <a:xfrm>
            <a:off x="1333500" y="7472363"/>
            <a:ext cx="7927086"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75"/>
              <a:buFont typeface="Courier New"/>
              <a:buNone/>
            </a:pPr>
            <a:r>
              <a:rPr b="0" i="0" lang="en-US" sz="1875" u="none" cap="none" strike="noStrike">
                <a:solidFill>
                  <a:srgbClr val="FFFFFF"/>
                </a:solidFill>
                <a:latin typeface="Courier New"/>
                <a:ea typeface="Courier New"/>
                <a:cs typeface="Courier New"/>
                <a:sym typeface="Courier New"/>
              </a:rPr>
              <a:t>Starting sandbox… microVM up, proxy attached.</a:t>
            </a:r>
            <a:endParaRPr b="0" i="0" sz="1875" u="none" cap="none" strike="noStrike">
              <a:solidFill>
                <a:schemeClr val="dk1"/>
              </a:solidFill>
              <a:latin typeface="Calibri"/>
              <a:ea typeface="Calibri"/>
              <a:cs typeface="Calibri"/>
              <a:sym typeface="Calibri"/>
            </a:endParaRPr>
          </a:p>
        </p:txBody>
      </p:sp>
      <p:sp>
        <p:nvSpPr>
          <p:cNvPr id="26" name="Google Shape;26;p1"/>
          <p:cNvSpPr/>
          <p:nvPr/>
        </p:nvSpPr>
        <p:spPr>
          <a:xfrm>
            <a:off x="1333500" y="7924800"/>
            <a:ext cx="7927086"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75"/>
              <a:buFont typeface="Courier New"/>
              <a:buNone/>
            </a:pPr>
            <a:r>
              <a:rPr b="0" i="0" lang="en-US" sz="1875" u="none" cap="none" strike="noStrike">
                <a:solidFill>
                  <a:srgbClr val="FFFFFF"/>
                </a:solidFill>
                <a:latin typeface="Courier New"/>
                <a:ea typeface="Courier New"/>
                <a:cs typeface="Courier New"/>
                <a:sym typeface="Courier New"/>
              </a:rPr>
              <a:t>Your host is not invited.</a:t>
            </a:r>
            <a:endParaRPr b="0" i="0" sz="1875" u="none" cap="none" strike="noStrike">
              <a:solidFill>
                <a:schemeClr val="dk1"/>
              </a:solidFill>
              <a:latin typeface="Calibri"/>
              <a:ea typeface="Calibri"/>
              <a:cs typeface="Calibri"/>
              <a:sym typeface="Calibri"/>
            </a:endParaRPr>
          </a:p>
        </p:txBody>
      </p:sp>
      <p:sp>
        <p:nvSpPr>
          <p:cNvPr id="27" name="Google Shape;27;p1"/>
          <p:cNvSpPr/>
          <p:nvPr/>
        </p:nvSpPr>
        <p:spPr>
          <a:xfrm>
            <a:off x="9982200" y="6669881"/>
            <a:ext cx="3135883"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Sans"/>
              <a:buNone/>
            </a:pPr>
            <a:r>
              <a:rPr b="0" i="0" lang="en-US" sz="1800" u="none" cap="none" strike="noStrike">
                <a:solidFill>
                  <a:srgbClr val="FFFFFF"/>
                </a:solidFill>
                <a:latin typeface="IBM Plex Sans"/>
                <a:ea typeface="IBM Plex Sans"/>
                <a:cs typeface="IBM Plex Sans"/>
                <a:sym typeface="IBM Plex Sans"/>
              </a:rPr>
              <a:t>Bring along:</a:t>
            </a:r>
            <a:endParaRPr b="0" i="0" sz="1800" u="none" cap="none" strike="noStrike">
              <a:solidFill>
                <a:schemeClr val="dk1"/>
              </a:solidFill>
              <a:latin typeface="Calibri"/>
              <a:ea typeface="Calibri"/>
              <a:cs typeface="Calibri"/>
              <a:sym typeface="Calibri"/>
            </a:endParaRPr>
          </a:p>
        </p:txBody>
      </p:sp>
      <p:sp>
        <p:nvSpPr>
          <p:cNvPr id="28" name="Google Shape;28;p1"/>
          <p:cNvSpPr/>
          <p:nvPr/>
        </p:nvSpPr>
        <p:spPr>
          <a:xfrm>
            <a:off x="9982200" y="7098506"/>
            <a:ext cx="3135883" cy="3714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025"/>
              <a:buFont typeface="IBM Plex Sans"/>
              <a:buNone/>
            </a:pPr>
            <a:r>
              <a:rPr b="0" i="0" lang="en-US" sz="2025" u="none" cap="none" strike="noStrike">
                <a:solidFill>
                  <a:srgbClr val="FFFFFF"/>
                </a:solidFill>
                <a:latin typeface="IBM Plex Sans"/>
                <a:ea typeface="IBM Plex Sans"/>
                <a:cs typeface="IBM Plex Sans"/>
                <a:sym typeface="IBM Plex Sans"/>
              </a:rPr>
              <a:t>· a Docker account (free)</a:t>
            </a:r>
            <a:endParaRPr b="0" i="0" sz="2025" u="none" cap="none" strike="noStrike">
              <a:solidFill>
                <a:schemeClr val="dk1"/>
              </a:solidFill>
              <a:latin typeface="Calibri"/>
              <a:ea typeface="Calibri"/>
              <a:cs typeface="Calibri"/>
              <a:sym typeface="Calibri"/>
            </a:endParaRPr>
          </a:p>
        </p:txBody>
      </p:sp>
      <p:sp>
        <p:nvSpPr>
          <p:cNvPr id="29" name="Google Shape;29;p1"/>
          <p:cNvSpPr/>
          <p:nvPr/>
        </p:nvSpPr>
        <p:spPr>
          <a:xfrm>
            <a:off x="9982200" y="7565231"/>
            <a:ext cx="3135883" cy="3714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025"/>
              <a:buFont typeface="IBM Plex Sans"/>
              <a:buNone/>
            </a:pPr>
            <a:r>
              <a:rPr b="0" i="0" lang="en-US" sz="2025" u="none" cap="none" strike="noStrike">
                <a:solidFill>
                  <a:srgbClr val="FFFFFF"/>
                </a:solidFill>
                <a:latin typeface="IBM Plex Sans"/>
                <a:ea typeface="IBM Plex Sans"/>
                <a:cs typeface="IBM Plex Sans"/>
                <a:sym typeface="IBM Plex Sans"/>
              </a:rPr>
              <a:t>· sbx installed</a:t>
            </a:r>
            <a:endParaRPr b="0" i="0" sz="2025" u="none" cap="none" strike="noStrike">
              <a:solidFill>
                <a:schemeClr val="dk1"/>
              </a:solidFill>
              <a:latin typeface="Calibri"/>
              <a:ea typeface="Calibri"/>
              <a:cs typeface="Calibri"/>
              <a:sym typeface="Calibri"/>
            </a:endParaRPr>
          </a:p>
        </p:txBody>
      </p:sp>
      <p:sp>
        <p:nvSpPr>
          <p:cNvPr id="30" name="Google Shape;30;p1"/>
          <p:cNvSpPr/>
          <p:nvPr/>
        </p:nvSpPr>
        <p:spPr>
          <a:xfrm>
            <a:off x="9982200" y="8031956"/>
            <a:ext cx="3135883" cy="3714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025"/>
              <a:buFont typeface="IBM Plex Sans"/>
              <a:buNone/>
            </a:pPr>
            <a:r>
              <a:rPr b="0" i="0" lang="en-US" sz="2025" u="none" cap="none" strike="noStrike">
                <a:solidFill>
                  <a:srgbClr val="FFFFFF"/>
                </a:solidFill>
                <a:latin typeface="IBM Plex Sans"/>
                <a:ea typeface="IBM Plex Sans"/>
                <a:cs typeface="IBM Plex Sans"/>
                <a:sym typeface="IBM Plex Sans"/>
              </a:rPr>
              <a:t>· any project folder</a:t>
            </a:r>
            <a:endParaRPr b="0" i="0" sz="2025" u="none" cap="none" strike="noStrike">
              <a:solidFill>
                <a:schemeClr val="dk1"/>
              </a:solidFill>
              <a:latin typeface="Calibri"/>
              <a:ea typeface="Calibri"/>
              <a:cs typeface="Calibri"/>
              <a:sym typeface="Calibri"/>
            </a:endParaRPr>
          </a:p>
        </p:txBody>
      </p:sp>
      <p:sp>
        <p:nvSpPr>
          <p:cNvPr id="31" name="Google Shape;31;p1"/>
          <p:cNvSpPr/>
          <p:nvPr/>
        </p:nvSpPr>
        <p:spPr>
          <a:xfrm>
            <a:off x="990600" y="9139238"/>
            <a:ext cx="1793748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75"/>
              <a:buFont typeface="IBM Plex Sans"/>
              <a:buNone/>
            </a:pPr>
            <a:r>
              <a:rPr b="0" i="0" lang="en-US" sz="1875" u="none" cap="none" strike="noStrike">
                <a:solidFill>
                  <a:srgbClr val="FFFFFF"/>
                </a:solidFill>
                <a:latin typeface="IBM Plex Sans"/>
                <a:ea typeface="IBM Plex Sans"/>
                <a:cs typeface="IBM Plex Sans"/>
                <a:sym typeface="IBM Plex Sans"/>
              </a:rPr>
              <a:t>Chris Barker·Docker</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 name="Shape 36"/>
        <p:cNvGrpSpPr/>
        <p:nvPr/>
      </p:nvGrpSpPr>
      <p:grpSpPr>
        <a:xfrm>
          <a:off x="0" y="0"/>
          <a:ext cx="0" cy="0"/>
          <a:chOff x="0" y="0"/>
          <a:chExt cx="0" cy="0"/>
        </a:xfrm>
      </p:grpSpPr>
      <p:sp>
        <p:nvSpPr>
          <p:cNvPr id="37" name="Google Shape;37;p2"/>
          <p:cNvSpPr/>
          <p:nvPr/>
        </p:nvSpPr>
        <p:spPr>
          <a:xfrm>
            <a:off x="914400" y="762000"/>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IBM Plex Sans"/>
              <a:buNone/>
            </a:pPr>
            <a:r>
              <a:rPr b="1" i="0" lang="en-US" sz="4500" u="none" cap="none" strike="noStrike">
                <a:solidFill>
                  <a:srgbClr val="0B0C10"/>
                </a:solidFill>
                <a:latin typeface="IBM Plex Sans"/>
                <a:ea typeface="IBM Plex Sans"/>
                <a:cs typeface="IBM Plex Sans"/>
                <a:sym typeface="IBM Plex Sans"/>
              </a:rPr>
              <a:t>The next </a:t>
            </a:r>
            <a:r>
              <a:rPr b="1" lang="en-US" sz="4500">
                <a:solidFill>
                  <a:srgbClr val="0B0C10"/>
                </a:solidFill>
                <a:latin typeface="IBM Plex Sans"/>
                <a:ea typeface="IBM Plex Sans"/>
                <a:cs typeface="IBM Plex Sans"/>
                <a:sym typeface="IBM Plex Sans"/>
              </a:rPr>
              <a:t>45</a:t>
            </a:r>
            <a:r>
              <a:rPr b="1" i="0" lang="en-US" sz="4500" u="none" cap="none" strike="noStrike">
                <a:solidFill>
                  <a:srgbClr val="0B0C10"/>
                </a:solidFill>
                <a:latin typeface="IBM Plex Sans"/>
                <a:ea typeface="IBM Plex Sans"/>
                <a:cs typeface="IBM Plex Sans"/>
                <a:sym typeface="IBM Plex Sans"/>
              </a:rPr>
              <a:t> minutes</a:t>
            </a:r>
            <a:endParaRPr b="0" i="0" sz="4500" u="none" cap="none" strike="noStrike">
              <a:solidFill>
                <a:schemeClr val="dk1"/>
              </a:solidFill>
              <a:latin typeface="Calibri"/>
              <a:ea typeface="Calibri"/>
              <a:cs typeface="Calibri"/>
              <a:sym typeface="Calibri"/>
            </a:endParaRPr>
          </a:p>
        </p:txBody>
      </p:sp>
      <p:sp>
        <p:nvSpPr>
          <p:cNvPr id="38" name="Google Shape;38;p2"/>
          <p:cNvSpPr/>
          <p:nvPr/>
        </p:nvSpPr>
        <p:spPr>
          <a:xfrm>
            <a:off x="914400" y="1836390"/>
            <a:ext cx="16459200" cy="1100138"/>
          </a:xfrm>
          <a:prstGeom prst="roundRect">
            <a:avLst>
              <a:gd fmla="val 10390"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304925" y="2198340"/>
            <a:ext cx="1219200" cy="4143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2550"/>
              <a:buFont typeface="Courier New"/>
              <a:buNone/>
            </a:pPr>
            <a:r>
              <a:rPr b="1" i="0" lang="en-US" sz="2550" u="none" cap="none" strike="noStrike">
                <a:solidFill>
                  <a:srgbClr val="2560FF"/>
                </a:solidFill>
                <a:latin typeface="Courier New"/>
                <a:ea typeface="Courier New"/>
                <a:cs typeface="Courier New"/>
                <a:sym typeface="Courier New"/>
              </a:rPr>
              <a:t>01</a:t>
            </a:r>
            <a:endParaRPr b="0" i="0" sz="2550" u="none" cap="none" strike="noStrike">
              <a:solidFill>
                <a:schemeClr val="dk1"/>
              </a:solidFill>
              <a:latin typeface="Calibri"/>
              <a:ea typeface="Calibri"/>
              <a:cs typeface="Calibri"/>
              <a:sym typeface="Calibri"/>
            </a:endParaRPr>
          </a:p>
        </p:txBody>
      </p:sp>
      <p:sp>
        <p:nvSpPr>
          <p:cNvPr id="40" name="Google Shape;40;p2"/>
          <p:cNvSpPr/>
          <p:nvPr/>
        </p:nvSpPr>
        <p:spPr>
          <a:xfrm>
            <a:off x="2447925" y="2055465"/>
            <a:ext cx="13303377" cy="7000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75"/>
              <a:buFont typeface="IBM Plex Sans"/>
              <a:buNone/>
            </a:pPr>
            <a:r>
              <a:rPr b="1" i="0" lang="en-US" sz="2175" u="none" cap="none" strike="noStrike">
                <a:solidFill>
                  <a:srgbClr val="0B0C10"/>
                </a:solidFill>
                <a:latin typeface="IBM Plex Sans"/>
                <a:ea typeface="IBM Plex Sans"/>
                <a:cs typeface="IBM Plex Sans"/>
                <a:sym typeface="IBM Plex Sans"/>
              </a:rPr>
              <a:t>Install sbx &amp; first run </a:t>
            </a:r>
            <a:r>
              <a:rPr b="0" i="0" lang="en-US" sz="1800" u="none" cap="none" strike="noStrike">
                <a:solidFill>
                  <a:srgbClr val="3D414C"/>
                </a:solidFill>
                <a:latin typeface="IBM Plex Sans"/>
                <a:ea typeface="IBM Plex Sans"/>
                <a:cs typeface="IBM Plex Sans"/>
                <a:sym typeface="IBM Plex Sans"/>
              </a:rPr>
              <a:t>brew/winget/apt · sbx login · lifecycle basics</a:t>
            </a:r>
            <a:endParaRPr b="0" i="0" sz="1200" u="none" cap="none" strike="noStrike">
              <a:solidFill>
                <a:schemeClr val="dk1"/>
              </a:solidFill>
              <a:latin typeface="Calibri"/>
              <a:ea typeface="Calibri"/>
              <a:cs typeface="Calibri"/>
              <a:sym typeface="Calibri"/>
            </a:endParaRPr>
          </a:p>
        </p:txBody>
      </p:sp>
      <p:sp>
        <p:nvSpPr>
          <p:cNvPr id="41" name="Google Shape;41;p2"/>
          <p:cNvSpPr/>
          <p:nvPr/>
        </p:nvSpPr>
        <p:spPr>
          <a:xfrm>
            <a:off x="15201900" y="2253109"/>
            <a:ext cx="1781175" cy="3048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8A92A0"/>
              </a:buClr>
              <a:buSzPts val="1800"/>
              <a:buFont typeface="Courier New"/>
              <a:buNone/>
            </a:pPr>
            <a:r>
              <a:rPr b="0" i="0" lang="en-US" sz="1800" u="none" cap="none" strike="noStrike">
                <a:solidFill>
                  <a:srgbClr val="8A92A0"/>
                </a:solidFill>
                <a:latin typeface="Courier New"/>
                <a:ea typeface="Courier New"/>
                <a:cs typeface="Courier New"/>
                <a:sym typeface="Courier New"/>
              </a:rPr>
              <a:t>10 min</a:t>
            </a:r>
            <a:endParaRPr b="0" i="0" sz="1800" u="none" cap="none" strike="noStrike">
              <a:solidFill>
                <a:schemeClr val="dk1"/>
              </a:solidFill>
              <a:latin typeface="Calibri"/>
              <a:ea typeface="Calibri"/>
              <a:cs typeface="Calibri"/>
              <a:sym typeface="Calibri"/>
            </a:endParaRPr>
          </a:p>
        </p:txBody>
      </p:sp>
      <p:sp>
        <p:nvSpPr>
          <p:cNvPr id="42" name="Google Shape;42;p2"/>
          <p:cNvSpPr/>
          <p:nvPr/>
        </p:nvSpPr>
        <p:spPr>
          <a:xfrm>
            <a:off x="914400" y="3088928"/>
            <a:ext cx="16459200" cy="1100138"/>
          </a:xfrm>
          <a:prstGeom prst="roundRect">
            <a:avLst>
              <a:gd fmla="val 10390"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304925" y="3450878"/>
            <a:ext cx="1219200" cy="4143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2550"/>
              <a:buFont typeface="Courier New"/>
              <a:buNone/>
            </a:pPr>
            <a:r>
              <a:rPr b="1" i="0" lang="en-US" sz="2550" u="none" cap="none" strike="noStrike">
                <a:solidFill>
                  <a:srgbClr val="2560FF"/>
                </a:solidFill>
                <a:latin typeface="Courier New"/>
                <a:ea typeface="Courier New"/>
                <a:cs typeface="Courier New"/>
                <a:sym typeface="Courier New"/>
              </a:rPr>
              <a:t>02</a:t>
            </a:r>
            <a:endParaRPr b="0" i="0" sz="2550" u="none" cap="none" strike="noStrike">
              <a:solidFill>
                <a:schemeClr val="dk1"/>
              </a:solidFill>
              <a:latin typeface="Calibri"/>
              <a:ea typeface="Calibri"/>
              <a:cs typeface="Calibri"/>
              <a:sym typeface="Calibri"/>
            </a:endParaRPr>
          </a:p>
        </p:txBody>
      </p:sp>
      <p:sp>
        <p:nvSpPr>
          <p:cNvPr id="44" name="Google Shape;44;p2"/>
          <p:cNvSpPr/>
          <p:nvPr/>
        </p:nvSpPr>
        <p:spPr>
          <a:xfrm>
            <a:off x="2447925" y="3308003"/>
            <a:ext cx="13303377" cy="7000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75"/>
              <a:buFont typeface="IBM Plex Sans"/>
              <a:buNone/>
            </a:pPr>
            <a:r>
              <a:rPr b="1" i="0" lang="en-US" sz="2175" u="none" cap="none" strike="noStrike">
                <a:solidFill>
                  <a:srgbClr val="0B0C10"/>
                </a:solidFill>
                <a:latin typeface="IBM Plex Sans"/>
                <a:ea typeface="IBM Plex Sans"/>
                <a:cs typeface="IBM Plex Sans"/>
                <a:sym typeface="IBM Plex Sans"/>
              </a:rPr>
              <a:t>Credentials, out of the runtime </a:t>
            </a:r>
            <a:r>
              <a:rPr b="0" i="0" lang="en-US" sz="1800" u="none" cap="none" strike="noStrike">
                <a:solidFill>
                  <a:srgbClr val="3D414C"/>
                </a:solidFill>
                <a:latin typeface="IBM Plex Sans"/>
                <a:ea typeface="IBM Plex Sans"/>
                <a:cs typeface="IBM Plex Sans"/>
                <a:sym typeface="IBM Plex Sans"/>
              </a:rPr>
              <a:t>sbx secret · proxy injection · OAuth /login</a:t>
            </a:r>
            <a:endParaRPr b="0" i="0" sz="1200" u="none" cap="none" strike="noStrike">
              <a:solidFill>
                <a:schemeClr val="dk1"/>
              </a:solidFill>
              <a:latin typeface="Calibri"/>
              <a:ea typeface="Calibri"/>
              <a:cs typeface="Calibri"/>
              <a:sym typeface="Calibri"/>
            </a:endParaRPr>
          </a:p>
        </p:txBody>
      </p:sp>
      <p:sp>
        <p:nvSpPr>
          <p:cNvPr id="45" name="Google Shape;45;p2"/>
          <p:cNvSpPr/>
          <p:nvPr/>
        </p:nvSpPr>
        <p:spPr>
          <a:xfrm>
            <a:off x="15201900" y="3505646"/>
            <a:ext cx="1781175" cy="3048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8A92A0"/>
              </a:buClr>
              <a:buSzPts val="1800"/>
              <a:buFont typeface="Courier New"/>
              <a:buNone/>
            </a:pPr>
            <a:r>
              <a:rPr b="0" i="0" lang="en-US" sz="1800" u="none" cap="none" strike="noStrike">
                <a:solidFill>
                  <a:srgbClr val="8A92A0"/>
                </a:solidFill>
                <a:latin typeface="Courier New"/>
                <a:ea typeface="Courier New"/>
                <a:cs typeface="Courier New"/>
                <a:sym typeface="Courier New"/>
              </a:rPr>
              <a:t>10 min</a:t>
            </a:r>
            <a:endParaRPr b="0" i="0" sz="1800" u="none" cap="none" strike="noStrike">
              <a:solidFill>
                <a:schemeClr val="dk1"/>
              </a:solidFill>
              <a:latin typeface="Calibri"/>
              <a:ea typeface="Calibri"/>
              <a:cs typeface="Calibri"/>
              <a:sym typeface="Calibri"/>
            </a:endParaRPr>
          </a:p>
        </p:txBody>
      </p:sp>
      <p:sp>
        <p:nvSpPr>
          <p:cNvPr id="46" name="Google Shape;46;p2"/>
          <p:cNvSpPr/>
          <p:nvPr/>
        </p:nvSpPr>
        <p:spPr>
          <a:xfrm>
            <a:off x="914400" y="4341465"/>
            <a:ext cx="16459200" cy="1100138"/>
          </a:xfrm>
          <a:prstGeom prst="roundRect">
            <a:avLst>
              <a:gd fmla="val 10390"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1304925" y="4703415"/>
            <a:ext cx="1219200" cy="4143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2550"/>
              <a:buFont typeface="Courier New"/>
              <a:buNone/>
            </a:pPr>
            <a:r>
              <a:rPr b="1" i="0" lang="en-US" sz="2550" u="none" cap="none" strike="noStrike">
                <a:solidFill>
                  <a:srgbClr val="2560FF"/>
                </a:solidFill>
                <a:latin typeface="Courier New"/>
                <a:ea typeface="Courier New"/>
                <a:cs typeface="Courier New"/>
                <a:sym typeface="Courier New"/>
              </a:rPr>
              <a:t>03</a:t>
            </a:r>
            <a:endParaRPr b="0" i="0" sz="2550" u="none" cap="none" strike="noStrike">
              <a:solidFill>
                <a:schemeClr val="dk1"/>
              </a:solidFill>
              <a:latin typeface="Calibri"/>
              <a:ea typeface="Calibri"/>
              <a:cs typeface="Calibri"/>
              <a:sym typeface="Calibri"/>
            </a:endParaRPr>
          </a:p>
        </p:txBody>
      </p:sp>
      <p:sp>
        <p:nvSpPr>
          <p:cNvPr id="48" name="Google Shape;48;p2"/>
          <p:cNvSpPr/>
          <p:nvPr/>
        </p:nvSpPr>
        <p:spPr>
          <a:xfrm>
            <a:off x="2447925" y="4560540"/>
            <a:ext cx="13303377" cy="7000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75"/>
              <a:buFont typeface="IBM Plex Sans"/>
              <a:buNone/>
            </a:pPr>
            <a:r>
              <a:rPr b="1" i="0" lang="en-US" sz="2175" u="none" cap="none" strike="noStrike">
                <a:solidFill>
                  <a:srgbClr val="0B0C10"/>
                </a:solidFill>
                <a:latin typeface="IBM Plex Sans"/>
                <a:ea typeface="IBM Plex Sans"/>
                <a:cs typeface="IBM Plex Sans"/>
                <a:sym typeface="IBM Plex Sans"/>
              </a:rPr>
              <a:t>Debugging auth headers, live </a:t>
            </a:r>
            <a:r>
              <a:rPr b="0" i="0" lang="en-US" sz="1800" u="none" cap="none" strike="noStrike">
                <a:solidFill>
                  <a:srgbClr val="3D414C"/>
                </a:solidFill>
                <a:latin typeface="IBM Plex Sans"/>
                <a:ea typeface="IBM Plex Sans"/>
                <a:cs typeface="IBM Plex Sans"/>
                <a:sym typeface="IBM Plex Sans"/>
              </a:rPr>
              <a:t>interactive session against httpbin.org</a:t>
            </a:r>
            <a:endParaRPr b="0" i="0" sz="1200" u="none" cap="none" strike="noStrike">
              <a:solidFill>
                <a:schemeClr val="dk1"/>
              </a:solidFill>
              <a:latin typeface="Calibri"/>
              <a:ea typeface="Calibri"/>
              <a:cs typeface="Calibri"/>
              <a:sym typeface="Calibri"/>
            </a:endParaRPr>
          </a:p>
        </p:txBody>
      </p:sp>
      <p:sp>
        <p:nvSpPr>
          <p:cNvPr id="49" name="Google Shape;49;p2"/>
          <p:cNvSpPr/>
          <p:nvPr/>
        </p:nvSpPr>
        <p:spPr>
          <a:xfrm>
            <a:off x="15201900" y="4758184"/>
            <a:ext cx="1781175" cy="3048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8A92A0"/>
              </a:buClr>
              <a:buSzPts val="1800"/>
              <a:buFont typeface="Courier New"/>
              <a:buNone/>
            </a:pPr>
            <a:r>
              <a:rPr b="0" i="0" lang="en-US" sz="1800" u="none" cap="none" strike="noStrike">
                <a:solidFill>
                  <a:srgbClr val="8A92A0"/>
                </a:solidFill>
                <a:latin typeface="Courier New"/>
                <a:ea typeface="Courier New"/>
                <a:cs typeface="Courier New"/>
                <a:sym typeface="Courier New"/>
              </a:rPr>
              <a:t>10 min</a:t>
            </a:r>
            <a:endParaRPr b="0" i="0" sz="1800" u="none" cap="none" strike="noStrike">
              <a:solidFill>
                <a:schemeClr val="dk1"/>
              </a:solidFill>
              <a:latin typeface="Calibri"/>
              <a:ea typeface="Calibri"/>
              <a:cs typeface="Calibri"/>
              <a:sym typeface="Calibri"/>
            </a:endParaRPr>
          </a:p>
        </p:txBody>
      </p:sp>
      <p:sp>
        <p:nvSpPr>
          <p:cNvPr id="50" name="Google Shape;50;p2"/>
          <p:cNvSpPr/>
          <p:nvPr/>
        </p:nvSpPr>
        <p:spPr>
          <a:xfrm>
            <a:off x="914400" y="5594003"/>
            <a:ext cx="16459200" cy="1100138"/>
          </a:xfrm>
          <a:prstGeom prst="roundRect">
            <a:avLst>
              <a:gd fmla="val 10390"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1304925" y="5955953"/>
            <a:ext cx="1219200" cy="4143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2550"/>
              <a:buFont typeface="Courier New"/>
              <a:buNone/>
            </a:pPr>
            <a:r>
              <a:rPr b="1" i="0" lang="en-US" sz="2550" u="none" cap="none" strike="noStrike">
                <a:solidFill>
                  <a:srgbClr val="2560FF"/>
                </a:solidFill>
                <a:latin typeface="Courier New"/>
                <a:ea typeface="Courier New"/>
                <a:cs typeface="Courier New"/>
                <a:sym typeface="Courier New"/>
              </a:rPr>
              <a:t>04</a:t>
            </a:r>
            <a:endParaRPr b="0" i="0" sz="2550" u="none" cap="none" strike="noStrike">
              <a:solidFill>
                <a:schemeClr val="dk1"/>
              </a:solidFill>
              <a:latin typeface="Calibri"/>
              <a:ea typeface="Calibri"/>
              <a:cs typeface="Calibri"/>
              <a:sym typeface="Calibri"/>
            </a:endParaRPr>
          </a:p>
        </p:txBody>
      </p:sp>
      <p:sp>
        <p:nvSpPr>
          <p:cNvPr id="52" name="Google Shape;52;p2"/>
          <p:cNvSpPr/>
          <p:nvPr/>
        </p:nvSpPr>
        <p:spPr>
          <a:xfrm>
            <a:off x="2447925" y="5813078"/>
            <a:ext cx="13303377" cy="7000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75"/>
              <a:buFont typeface="IBM Plex Sans"/>
              <a:buNone/>
            </a:pPr>
            <a:r>
              <a:rPr b="1" i="0" lang="en-US" sz="2175" u="none" cap="none" strike="noStrike">
                <a:solidFill>
                  <a:srgbClr val="0B0C10"/>
                </a:solidFill>
                <a:latin typeface="IBM Plex Sans"/>
                <a:ea typeface="IBM Plex Sans"/>
                <a:cs typeface="IBM Plex Sans"/>
                <a:sym typeface="IBM Plex Sans"/>
              </a:rPr>
              <a:t>Your first mixin </a:t>
            </a:r>
            <a:r>
              <a:rPr b="0" i="0" lang="en-US" sz="1800" u="none" cap="none" strike="noStrike">
                <a:solidFill>
                  <a:srgbClr val="3D414C"/>
                </a:solidFill>
                <a:latin typeface="IBM Plex Sans"/>
                <a:ea typeface="IBM Plex Sans"/>
                <a:cs typeface="IBM Plex Sans"/>
                <a:sym typeface="IBM Plex Sans"/>
              </a:rPr>
              <a:t>a kit that ships a default prompt with every sandbox</a:t>
            </a:r>
            <a:endParaRPr b="0" i="0" sz="1200" u="none" cap="none" strike="noStrike">
              <a:solidFill>
                <a:schemeClr val="dk1"/>
              </a:solidFill>
              <a:latin typeface="Calibri"/>
              <a:ea typeface="Calibri"/>
              <a:cs typeface="Calibri"/>
              <a:sym typeface="Calibri"/>
            </a:endParaRPr>
          </a:p>
        </p:txBody>
      </p:sp>
      <p:sp>
        <p:nvSpPr>
          <p:cNvPr id="53" name="Google Shape;53;p2"/>
          <p:cNvSpPr/>
          <p:nvPr/>
        </p:nvSpPr>
        <p:spPr>
          <a:xfrm>
            <a:off x="15201900" y="6010721"/>
            <a:ext cx="1781175" cy="3048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8A92A0"/>
              </a:buClr>
              <a:buSzPts val="1800"/>
              <a:buFont typeface="Courier New"/>
              <a:buNone/>
            </a:pPr>
            <a:r>
              <a:rPr b="0" i="0" lang="en-US" sz="1800" u="none" cap="none" strike="noStrike">
                <a:solidFill>
                  <a:srgbClr val="8A92A0"/>
                </a:solidFill>
                <a:latin typeface="Courier New"/>
                <a:ea typeface="Courier New"/>
                <a:cs typeface="Courier New"/>
                <a:sym typeface="Courier New"/>
              </a:rPr>
              <a:t>10 min</a:t>
            </a:r>
            <a:endParaRPr b="0" i="0" sz="1800" u="none" cap="none" strike="noStrike">
              <a:solidFill>
                <a:schemeClr val="dk1"/>
              </a:solidFill>
              <a:latin typeface="Calibri"/>
              <a:ea typeface="Calibri"/>
              <a:cs typeface="Calibri"/>
              <a:sym typeface="Calibri"/>
            </a:endParaRPr>
          </a:p>
        </p:txBody>
      </p:sp>
      <p:sp>
        <p:nvSpPr>
          <p:cNvPr id="54" name="Google Shape;54;p2"/>
          <p:cNvSpPr/>
          <p:nvPr/>
        </p:nvSpPr>
        <p:spPr>
          <a:xfrm>
            <a:off x="914400" y="6846540"/>
            <a:ext cx="16459200" cy="1100138"/>
          </a:xfrm>
          <a:prstGeom prst="roundRect">
            <a:avLst>
              <a:gd fmla="val 10390"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1304925" y="7208490"/>
            <a:ext cx="1219200" cy="4143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2550"/>
              <a:buFont typeface="Courier New"/>
              <a:buNone/>
            </a:pPr>
            <a:r>
              <a:rPr b="1" i="0" lang="en-US" sz="2550" u="none" cap="none" strike="noStrike">
                <a:solidFill>
                  <a:srgbClr val="2560FF"/>
                </a:solidFill>
                <a:latin typeface="Courier New"/>
                <a:ea typeface="Courier New"/>
                <a:cs typeface="Courier New"/>
                <a:sym typeface="Courier New"/>
              </a:rPr>
              <a:t>05</a:t>
            </a:r>
            <a:endParaRPr b="0" i="0" sz="2550" u="none" cap="none" strike="noStrike">
              <a:solidFill>
                <a:schemeClr val="dk1"/>
              </a:solidFill>
              <a:latin typeface="Calibri"/>
              <a:ea typeface="Calibri"/>
              <a:cs typeface="Calibri"/>
              <a:sym typeface="Calibri"/>
            </a:endParaRPr>
          </a:p>
        </p:txBody>
      </p:sp>
      <p:sp>
        <p:nvSpPr>
          <p:cNvPr id="56" name="Google Shape;56;p2"/>
          <p:cNvSpPr/>
          <p:nvPr/>
        </p:nvSpPr>
        <p:spPr>
          <a:xfrm>
            <a:off x="2447925" y="7065615"/>
            <a:ext cx="13303377" cy="7000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75"/>
              <a:buFont typeface="IBM Plex Sans"/>
              <a:buNone/>
            </a:pPr>
            <a:r>
              <a:rPr b="1" lang="en-US" sz="2175">
                <a:solidFill>
                  <a:srgbClr val="0B0C10"/>
                </a:solidFill>
                <a:latin typeface="IBM Plex Sans"/>
                <a:ea typeface="IBM Plex Sans"/>
                <a:cs typeface="IBM Plex Sans"/>
                <a:sym typeface="IBM Plex Sans"/>
              </a:rPr>
              <a:t>SSH Access</a:t>
            </a:r>
            <a:r>
              <a:rPr b="1" i="0" lang="en-US" sz="2175" u="none" cap="none" strike="noStrike">
                <a:solidFill>
                  <a:srgbClr val="0B0C10"/>
                </a:solidFill>
                <a:latin typeface="IBM Plex Sans"/>
                <a:ea typeface="IBM Plex Sans"/>
                <a:cs typeface="IBM Plex Sans"/>
                <a:sym typeface="IBM Plex Sans"/>
              </a:rPr>
              <a:t> </a:t>
            </a:r>
            <a:r>
              <a:rPr b="0" i="0" lang="en-US" sz="1800" u="none" cap="none" strike="noStrike">
                <a:solidFill>
                  <a:srgbClr val="3D414C"/>
                </a:solidFill>
                <a:latin typeface="IBM Plex Sans"/>
                <a:ea typeface="IBM Plex Sans"/>
                <a:cs typeface="IBM Plex Sans"/>
                <a:sym typeface="IBM Plex Sans"/>
              </a:rPr>
              <a:t>new built-in SSH </a:t>
            </a:r>
            <a:r>
              <a:rPr lang="en-US" sz="1800">
                <a:solidFill>
                  <a:srgbClr val="3D414C"/>
                </a:solidFill>
                <a:latin typeface="IBM Plex Sans"/>
                <a:ea typeface="IBM Plex Sans"/>
                <a:cs typeface="IBM Plex Sans"/>
                <a:sym typeface="IBM Plex Sans"/>
              </a:rPr>
              <a:t>experimental feature</a:t>
            </a:r>
            <a:endParaRPr b="0" i="0" sz="1200" u="none" cap="none" strike="noStrike">
              <a:solidFill>
                <a:schemeClr val="dk1"/>
              </a:solidFill>
              <a:latin typeface="Calibri"/>
              <a:ea typeface="Calibri"/>
              <a:cs typeface="Calibri"/>
              <a:sym typeface="Calibri"/>
            </a:endParaRPr>
          </a:p>
        </p:txBody>
      </p:sp>
      <p:sp>
        <p:nvSpPr>
          <p:cNvPr id="57" name="Google Shape;57;p2"/>
          <p:cNvSpPr/>
          <p:nvPr/>
        </p:nvSpPr>
        <p:spPr>
          <a:xfrm>
            <a:off x="15201900" y="7263259"/>
            <a:ext cx="1781175" cy="3048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8A92A0"/>
              </a:buClr>
              <a:buSzPts val="1800"/>
              <a:buFont typeface="Courier New"/>
              <a:buNone/>
            </a:pPr>
            <a:r>
              <a:rPr b="0" i="0" lang="en-US" sz="1800" u="none" cap="none" strike="noStrike">
                <a:solidFill>
                  <a:srgbClr val="8A92A0"/>
                </a:solidFill>
                <a:latin typeface="Courier New"/>
                <a:ea typeface="Courier New"/>
                <a:cs typeface="Courier New"/>
                <a:sym typeface="Courier New"/>
              </a:rPr>
              <a:t>15 min</a:t>
            </a:r>
            <a:endParaRPr b="0" i="0" sz="1800" u="none" cap="none" strike="noStrike">
              <a:solidFill>
                <a:schemeClr val="dk1"/>
              </a:solidFill>
              <a:latin typeface="Calibri"/>
              <a:ea typeface="Calibri"/>
              <a:cs typeface="Calibri"/>
              <a:sym typeface="Calibri"/>
            </a:endParaRPr>
          </a:p>
        </p:txBody>
      </p:sp>
      <p:sp>
        <p:nvSpPr>
          <p:cNvPr id="58" name="Google Shape;58;p2"/>
          <p:cNvSpPr/>
          <p:nvPr/>
        </p:nvSpPr>
        <p:spPr>
          <a:xfrm>
            <a:off x="914400" y="8099078"/>
            <a:ext cx="16459200" cy="1100138"/>
          </a:xfrm>
          <a:prstGeom prst="roundRect">
            <a:avLst>
              <a:gd fmla="val 10390"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1304925" y="8461028"/>
            <a:ext cx="1219200" cy="4143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2550"/>
              <a:buFont typeface="Courier New"/>
              <a:buNone/>
            </a:pPr>
            <a:r>
              <a:rPr b="1" i="0" lang="en-US" sz="2550" u="none" cap="none" strike="noStrike">
                <a:solidFill>
                  <a:srgbClr val="2560FF"/>
                </a:solidFill>
                <a:latin typeface="Courier New"/>
                <a:ea typeface="Courier New"/>
                <a:cs typeface="Courier New"/>
                <a:sym typeface="Courier New"/>
              </a:rPr>
              <a:t>06</a:t>
            </a:r>
            <a:endParaRPr b="0" i="0" sz="2550" u="none" cap="none" strike="noStrike">
              <a:solidFill>
                <a:schemeClr val="dk1"/>
              </a:solidFill>
              <a:latin typeface="Calibri"/>
              <a:ea typeface="Calibri"/>
              <a:cs typeface="Calibri"/>
              <a:sym typeface="Calibri"/>
            </a:endParaRPr>
          </a:p>
        </p:txBody>
      </p:sp>
      <p:sp>
        <p:nvSpPr>
          <p:cNvPr id="60" name="Google Shape;60;p2"/>
          <p:cNvSpPr/>
          <p:nvPr/>
        </p:nvSpPr>
        <p:spPr>
          <a:xfrm>
            <a:off x="2447925" y="8318153"/>
            <a:ext cx="13303377" cy="7000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75"/>
              <a:buFont typeface="IBM Plex Sans"/>
              <a:buNone/>
            </a:pPr>
            <a:r>
              <a:rPr b="1" i="0" lang="en-US" sz="2175" u="none" cap="none" strike="noStrike">
                <a:solidFill>
                  <a:srgbClr val="0B0C10"/>
                </a:solidFill>
                <a:latin typeface="IBM Plex Sans"/>
                <a:ea typeface="IBM Plex Sans"/>
                <a:cs typeface="IBM Plex Sans"/>
                <a:sym typeface="IBM Plex Sans"/>
              </a:rPr>
              <a:t>Gotchas &amp; spotting what agents do </a:t>
            </a:r>
            <a:r>
              <a:rPr b="0" i="0" lang="en-US" sz="1800" u="none" cap="none" strike="noStrike">
                <a:solidFill>
                  <a:srgbClr val="3D414C"/>
                </a:solidFill>
                <a:latin typeface="IBM Plex Sans"/>
                <a:ea typeface="IBM Plex Sans"/>
                <a:cs typeface="IBM Plex Sans"/>
                <a:sym typeface="IBM Plex Sans"/>
              </a:rPr>
              <a:t>sbx policy log · diagnose · the classics</a:t>
            </a:r>
            <a:endParaRPr b="0" i="0" sz="1200" u="none" cap="none" strike="noStrike">
              <a:solidFill>
                <a:schemeClr val="dk1"/>
              </a:solidFill>
              <a:latin typeface="Calibri"/>
              <a:ea typeface="Calibri"/>
              <a:cs typeface="Calibri"/>
              <a:sym typeface="Calibri"/>
            </a:endParaRPr>
          </a:p>
        </p:txBody>
      </p:sp>
      <p:sp>
        <p:nvSpPr>
          <p:cNvPr id="61" name="Google Shape;61;p2"/>
          <p:cNvSpPr/>
          <p:nvPr/>
        </p:nvSpPr>
        <p:spPr>
          <a:xfrm>
            <a:off x="15201900" y="8515796"/>
            <a:ext cx="1781175" cy="3048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8A92A0"/>
              </a:buClr>
              <a:buSzPts val="1800"/>
              <a:buFont typeface="Courier New"/>
              <a:buNone/>
            </a:pPr>
            <a:r>
              <a:rPr b="0" i="0" lang="en-US" sz="1800" u="none" cap="none" strike="noStrike">
                <a:solidFill>
                  <a:srgbClr val="8A92A0"/>
                </a:solidFill>
                <a:latin typeface="Courier New"/>
                <a:ea typeface="Courier New"/>
                <a:cs typeface="Courier New"/>
                <a:sym typeface="Courier New"/>
              </a:rPr>
              <a:t>5 min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3"/>
          <p:cNvSpPr/>
          <p:nvPr/>
        </p:nvSpPr>
        <p:spPr>
          <a:xfrm>
            <a:off x="914400" y="762000"/>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The 60-second mental model</a:t>
            </a:r>
            <a:endParaRPr b="0" i="0" sz="4500" u="none" cap="none" strike="noStrike">
              <a:solidFill>
                <a:schemeClr val="dk1"/>
              </a:solidFill>
              <a:latin typeface="Calibri"/>
              <a:ea typeface="Calibri"/>
              <a:cs typeface="Calibri"/>
              <a:sym typeface="Calibri"/>
            </a:endParaRPr>
          </a:p>
        </p:txBody>
      </p:sp>
      <p:sp>
        <p:nvSpPr>
          <p:cNvPr id="68" name="Google Shape;68;p3"/>
          <p:cNvSpPr/>
          <p:nvPr/>
        </p:nvSpPr>
        <p:spPr>
          <a:xfrm>
            <a:off x="914400" y="1531590"/>
            <a:ext cx="18105120" cy="424755"/>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3D414C"/>
              </a:buClr>
              <a:buSzPts val="2100"/>
              <a:buFont typeface="IBM Plex Sans"/>
              <a:buNone/>
            </a:pPr>
            <a:r>
              <a:rPr b="0" i="0" lang="en-US" sz="2100" u="none" cap="none" strike="noStrike">
                <a:solidFill>
                  <a:srgbClr val="3D414C"/>
                </a:solidFill>
                <a:latin typeface="IBM Plex Sans"/>
                <a:ea typeface="IBM Plex Sans"/>
                <a:cs typeface="IBM Plex Sans"/>
                <a:sym typeface="IBM Plex Sans"/>
              </a:rPr>
              <a:t>A sandbox is a microVM, not a container. One shared surface, one door to the internet.</a:t>
            </a:r>
            <a:endParaRPr b="0" i="0" sz="2100" u="none" cap="none" strike="noStrike">
              <a:solidFill>
                <a:schemeClr val="dk1"/>
              </a:solidFill>
              <a:latin typeface="Calibri"/>
              <a:ea typeface="Calibri"/>
              <a:cs typeface="Calibri"/>
              <a:sym typeface="Calibri"/>
            </a:endParaRPr>
          </a:p>
        </p:txBody>
      </p:sp>
      <p:sp>
        <p:nvSpPr>
          <p:cNvPr id="69" name="Google Shape;69;p3"/>
          <p:cNvSpPr/>
          <p:nvPr/>
        </p:nvSpPr>
        <p:spPr>
          <a:xfrm>
            <a:off x="914400" y="2375446"/>
            <a:ext cx="7810500" cy="3081263"/>
          </a:xfrm>
          <a:prstGeom prst="roundRect">
            <a:avLst>
              <a:gd fmla="val 4328"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1304925" y="2689771"/>
            <a:ext cx="784696"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800"/>
              <a:buFont typeface="IBM Plex Sans"/>
              <a:buNone/>
            </a:pPr>
            <a:r>
              <a:rPr b="1" i="0" lang="en-US" sz="1800" u="none" cap="none" strike="noStrike">
                <a:solidFill>
                  <a:srgbClr val="2560FF"/>
                </a:solidFill>
                <a:latin typeface="IBM Plex Sans"/>
                <a:ea typeface="IBM Plex Sans"/>
                <a:cs typeface="IBM Plex Sans"/>
                <a:sym typeface="IBM Plex Sans"/>
              </a:rPr>
              <a:t>HOST</a:t>
            </a:r>
            <a:endParaRPr b="0" i="0" sz="1800" u="none" cap="none" strike="noStrike">
              <a:solidFill>
                <a:schemeClr val="dk1"/>
              </a:solidFill>
              <a:latin typeface="Calibri"/>
              <a:ea typeface="Calibri"/>
              <a:cs typeface="Calibri"/>
              <a:sym typeface="Calibri"/>
            </a:endParaRPr>
          </a:p>
        </p:txBody>
      </p:sp>
      <p:sp>
        <p:nvSpPr>
          <p:cNvPr id="71" name="Google Shape;71;p3"/>
          <p:cNvSpPr/>
          <p:nvPr/>
        </p:nvSpPr>
        <p:spPr>
          <a:xfrm>
            <a:off x="1304925" y="3175546"/>
            <a:ext cx="7732395"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your files, processes, localhost</a:t>
            </a:r>
            <a:endParaRPr b="0" i="0" sz="1950" u="none" cap="none" strike="noStrike">
              <a:solidFill>
                <a:schemeClr val="dk1"/>
              </a:solidFill>
              <a:latin typeface="Calibri"/>
              <a:ea typeface="Calibri"/>
              <a:cs typeface="Calibri"/>
              <a:sym typeface="Calibri"/>
            </a:endParaRPr>
          </a:p>
        </p:txBody>
      </p:sp>
      <p:sp>
        <p:nvSpPr>
          <p:cNvPr id="72" name="Google Shape;72;p3"/>
          <p:cNvSpPr/>
          <p:nvPr/>
        </p:nvSpPr>
        <p:spPr>
          <a:xfrm>
            <a:off x="1304925" y="3608933"/>
            <a:ext cx="7732395"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your secrets (OS keychain)</a:t>
            </a:r>
            <a:endParaRPr b="0" i="0" sz="1950" u="none" cap="none" strike="noStrike">
              <a:solidFill>
                <a:schemeClr val="dk1"/>
              </a:solidFill>
              <a:latin typeface="Calibri"/>
              <a:ea typeface="Calibri"/>
              <a:cs typeface="Calibri"/>
              <a:sym typeface="Calibri"/>
            </a:endParaRPr>
          </a:p>
        </p:txBody>
      </p:sp>
      <p:sp>
        <p:nvSpPr>
          <p:cNvPr id="73" name="Google Shape;73;p3"/>
          <p:cNvSpPr/>
          <p:nvPr/>
        </p:nvSpPr>
        <p:spPr>
          <a:xfrm>
            <a:off x="1304925" y="4042321"/>
            <a:ext cx="7732395"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the sbx proxy lives here</a:t>
            </a:r>
            <a:endParaRPr b="0" i="0" sz="1950" u="none" cap="none" strike="noStrike">
              <a:solidFill>
                <a:schemeClr val="dk1"/>
              </a:solidFill>
              <a:latin typeface="Calibri"/>
              <a:ea typeface="Calibri"/>
              <a:cs typeface="Calibri"/>
              <a:sym typeface="Calibri"/>
            </a:endParaRPr>
          </a:p>
        </p:txBody>
      </p:sp>
      <p:sp>
        <p:nvSpPr>
          <p:cNvPr id="74" name="Google Shape;74;p3"/>
          <p:cNvSpPr/>
          <p:nvPr/>
        </p:nvSpPr>
        <p:spPr>
          <a:xfrm>
            <a:off x="990600" y="5761509"/>
            <a:ext cx="2539529" cy="28575"/>
          </a:xfrm>
          <a:prstGeom prst="rect">
            <a:avLst/>
          </a:prstGeom>
          <a:solidFill>
            <a:srgbClr val="F5A5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3720629" y="5628159"/>
            <a:ext cx="2417847"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86A00"/>
              </a:buClr>
              <a:buSzPts val="1800"/>
              <a:buFont typeface="IBM Plex Sans"/>
              <a:buNone/>
            </a:pPr>
            <a:r>
              <a:rPr b="1" i="0" lang="en-US" sz="1800" u="none" cap="none" strike="noStrike">
                <a:solidFill>
                  <a:srgbClr val="A86A00"/>
                </a:solidFill>
                <a:latin typeface="IBM Plex Sans"/>
                <a:ea typeface="IBM Plex Sans"/>
                <a:cs typeface="IBM Plex Sans"/>
                <a:sym typeface="IBM Plex Sans"/>
              </a:rPr>
              <a:t>hypervisor boundary</a:t>
            </a:r>
            <a:endParaRPr b="0" i="0" sz="1800" u="none" cap="none" strike="noStrike">
              <a:solidFill>
                <a:schemeClr val="dk1"/>
              </a:solidFill>
              <a:latin typeface="Calibri"/>
              <a:ea typeface="Calibri"/>
              <a:cs typeface="Calibri"/>
              <a:sym typeface="Calibri"/>
            </a:endParaRPr>
          </a:p>
        </p:txBody>
      </p:sp>
      <p:sp>
        <p:nvSpPr>
          <p:cNvPr id="76" name="Google Shape;76;p3"/>
          <p:cNvSpPr/>
          <p:nvPr/>
        </p:nvSpPr>
        <p:spPr>
          <a:xfrm>
            <a:off x="6109171" y="5761509"/>
            <a:ext cx="2539529" cy="28575"/>
          </a:xfrm>
          <a:prstGeom prst="rect">
            <a:avLst/>
          </a:prstGeom>
          <a:solidFill>
            <a:srgbClr val="F5A5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914400" y="6094884"/>
            <a:ext cx="7810500" cy="3430116"/>
          </a:xfrm>
          <a:prstGeom prst="roundRect">
            <a:avLst>
              <a:gd fmla="val 3888" name="adj"/>
            </a:avLst>
          </a:prstGeom>
          <a:solidFill>
            <a:srgbClr val="0015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1295400" y="6399684"/>
            <a:ext cx="1925977"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3C993"/>
              </a:buClr>
              <a:buSzPts val="1800"/>
              <a:buFont typeface="IBM Plex Sans"/>
              <a:buNone/>
            </a:pPr>
            <a:r>
              <a:rPr b="1" i="0" lang="en-US" sz="1800" u="none" cap="none" strike="noStrike">
                <a:solidFill>
                  <a:srgbClr val="63C993"/>
                </a:solidFill>
                <a:latin typeface="IBM Plex Sans"/>
                <a:ea typeface="IBM Plex Sans"/>
                <a:cs typeface="IBM Plex Sans"/>
                <a:sym typeface="IBM Plex Sans"/>
              </a:rPr>
              <a:t>SANDBOX VM</a:t>
            </a:r>
            <a:endParaRPr b="0" i="0" sz="1800" u="none" cap="none" strike="noStrike">
              <a:solidFill>
                <a:schemeClr val="dk1"/>
              </a:solidFill>
              <a:latin typeface="Calibri"/>
              <a:ea typeface="Calibri"/>
              <a:cs typeface="Calibri"/>
              <a:sym typeface="Calibri"/>
            </a:endParaRPr>
          </a:p>
        </p:txBody>
      </p:sp>
      <p:sp>
        <p:nvSpPr>
          <p:cNvPr id="79" name="Google Shape;79;p3"/>
          <p:cNvSpPr/>
          <p:nvPr/>
        </p:nvSpPr>
        <p:spPr>
          <a:xfrm>
            <a:off x="1295400" y="6885459"/>
            <a:ext cx="7753350"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IBM Plex Sans"/>
              <a:buNone/>
            </a:pPr>
            <a:r>
              <a:rPr b="0" i="0" lang="en-US" sz="1950" u="none" cap="none" strike="noStrike">
                <a:solidFill>
                  <a:srgbClr val="FFFFFF"/>
                </a:solidFill>
                <a:latin typeface="IBM Plex Sans"/>
                <a:ea typeface="IBM Plex Sans"/>
                <a:cs typeface="IBM Plex Sans"/>
                <a:sym typeface="IBM Plex Sans"/>
              </a:rPr>
              <a:t>· agent process, own kernel</a:t>
            </a:r>
            <a:endParaRPr b="0" i="0" sz="1950" u="none" cap="none" strike="noStrike">
              <a:solidFill>
                <a:schemeClr val="dk1"/>
              </a:solidFill>
              <a:latin typeface="Calibri"/>
              <a:ea typeface="Calibri"/>
              <a:cs typeface="Calibri"/>
              <a:sym typeface="Calibri"/>
            </a:endParaRPr>
          </a:p>
        </p:txBody>
      </p:sp>
      <p:sp>
        <p:nvSpPr>
          <p:cNvPr id="80" name="Google Shape;80;p3"/>
          <p:cNvSpPr/>
          <p:nvPr/>
        </p:nvSpPr>
        <p:spPr>
          <a:xfrm>
            <a:off x="1295400" y="7318846"/>
            <a:ext cx="7753350"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IBM Plex Sans"/>
              <a:buNone/>
            </a:pPr>
            <a:r>
              <a:rPr b="0" i="0" lang="en-US" sz="1950" u="none" cap="none" strike="noStrike">
                <a:solidFill>
                  <a:srgbClr val="FFFFFF"/>
                </a:solidFill>
                <a:latin typeface="IBM Plex Sans"/>
                <a:ea typeface="IBM Plex Sans"/>
                <a:cs typeface="IBM Plex Sans"/>
                <a:sym typeface="IBM Plex Sans"/>
              </a:rPr>
              <a:t>· private Docker engine</a:t>
            </a:r>
            <a:endParaRPr b="0" i="0" sz="1950" u="none" cap="none" strike="noStrike">
              <a:solidFill>
                <a:schemeClr val="dk1"/>
              </a:solidFill>
              <a:latin typeface="Calibri"/>
              <a:ea typeface="Calibri"/>
              <a:cs typeface="Calibri"/>
              <a:sym typeface="Calibri"/>
            </a:endParaRPr>
          </a:p>
        </p:txBody>
      </p:sp>
      <p:sp>
        <p:nvSpPr>
          <p:cNvPr id="81" name="Google Shape;81;p3"/>
          <p:cNvSpPr/>
          <p:nvPr/>
        </p:nvSpPr>
        <p:spPr>
          <a:xfrm>
            <a:off x="1295400" y="7752234"/>
            <a:ext cx="7753350"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IBM Plex Sans"/>
              <a:buNone/>
            </a:pPr>
            <a:r>
              <a:rPr b="0" i="0" lang="en-US" sz="1950" u="none" cap="none" strike="noStrike">
                <a:solidFill>
                  <a:srgbClr val="FFFFFF"/>
                </a:solidFill>
                <a:latin typeface="IBM Plex Sans"/>
                <a:ea typeface="IBM Plex Sans"/>
                <a:cs typeface="IBM Plex Sans"/>
                <a:sym typeface="IBM Plex Sans"/>
              </a:rPr>
              <a:t>· full root, YOLO mode — contained</a:t>
            </a:r>
            <a:endParaRPr b="0" i="0" sz="1950" u="none" cap="none" strike="noStrike">
              <a:solidFill>
                <a:schemeClr val="dk1"/>
              </a:solidFill>
              <a:latin typeface="Calibri"/>
              <a:ea typeface="Calibri"/>
              <a:cs typeface="Calibri"/>
              <a:sym typeface="Calibri"/>
            </a:endParaRPr>
          </a:p>
        </p:txBody>
      </p:sp>
      <p:sp>
        <p:nvSpPr>
          <p:cNvPr id="82" name="Google Shape;82;p3"/>
          <p:cNvSpPr/>
          <p:nvPr/>
        </p:nvSpPr>
        <p:spPr>
          <a:xfrm>
            <a:off x="9182100" y="2604046"/>
            <a:ext cx="3810000" cy="1204913"/>
          </a:xfrm>
          <a:prstGeom prst="roundRect">
            <a:avLst>
              <a:gd fmla="val 11067" name="adj"/>
            </a:avLst>
          </a:prstGeom>
          <a:solidFill>
            <a:srgbClr val="EBF9EE"/>
          </a:solidFill>
          <a:ln cap="flat" cmpd="sng" w="9525">
            <a:solidFill>
              <a:srgbClr val="2D956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9337358" y="2861221"/>
            <a:ext cx="3499485" cy="376238"/>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2D9568"/>
              </a:buClr>
              <a:buSzPts val="2025"/>
              <a:buFont typeface="Arial"/>
              <a:buNone/>
            </a:pPr>
            <a:r>
              <a:rPr b="1" i="0" lang="en-US" sz="2025" u="none" cap="none" strike="noStrike">
                <a:solidFill>
                  <a:srgbClr val="2D9568"/>
                </a:solidFill>
                <a:latin typeface="Arial"/>
                <a:ea typeface="Arial"/>
                <a:cs typeface="Arial"/>
                <a:sym typeface="Arial"/>
              </a:rPr>
              <a:t>workspace dir</a:t>
            </a:r>
            <a:endParaRPr b="0" i="0" sz="2025" u="none" cap="none" strike="noStrike">
              <a:solidFill>
                <a:schemeClr val="dk1"/>
              </a:solidFill>
              <a:latin typeface="Calibri"/>
              <a:ea typeface="Calibri"/>
              <a:cs typeface="Calibri"/>
              <a:sym typeface="Calibri"/>
            </a:endParaRPr>
          </a:p>
        </p:txBody>
      </p:sp>
      <p:sp>
        <p:nvSpPr>
          <p:cNvPr id="84" name="Google Shape;84;p3"/>
          <p:cNvSpPr/>
          <p:nvPr/>
        </p:nvSpPr>
        <p:spPr>
          <a:xfrm>
            <a:off x="9337358" y="3256508"/>
            <a:ext cx="3499485" cy="333375"/>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3D414C"/>
              </a:buClr>
              <a:buSzPts val="1800"/>
              <a:buFont typeface="IBM Plex Sans"/>
              <a:buNone/>
            </a:pPr>
            <a:r>
              <a:rPr b="0" i="0" lang="en-US" sz="1800" u="none" cap="none" strike="noStrike">
                <a:solidFill>
                  <a:srgbClr val="3D414C"/>
                </a:solidFill>
                <a:latin typeface="IBM Plex Sans"/>
                <a:ea typeface="IBM Plex Sans"/>
                <a:cs typeface="IBM Plex Sans"/>
                <a:sym typeface="IBM Plex Sans"/>
              </a:rPr>
              <a:t>the only shared files</a:t>
            </a:r>
            <a:endParaRPr b="0" i="0" sz="1800" u="none" cap="none" strike="noStrike">
              <a:solidFill>
                <a:schemeClr val="dk1"/>
              </a:solidFill>
              <a:latin typeface="Calibri"/>
              <a:ea typeface="Calibri"/>
              <a:cs typeface="Calibri"/>
              <a:sym typeface="Calibri"/>
            </a:endParaRPr>
          </a:p>
        </p:txBody>
      </p:sp>
      <p:sp>
        <p:nvSpPr>
          <p:cNvPr id="85" name="Google Shape;85;p3"/>
          <p:cNvSpPr/>
          <p:nvPr/>
        </p:nvSpPr>
        <p:spPr>
          <a:xfrm>
            <a:off x="9182100" y="7815263"/>
            <a:ext cx="3810000" cy="1481138"/>
          </a:xfrm>
          <a:prstGeom prst="roundRect">
            <a:avLst>
              <a:gd fmla="val 9003" name="adj"/>
            </a:avLst>
          </a:prstGeom>
          <a:solidFill>
            <a:srgbClr val="256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9326880" y="8062913"/>
            <a:ext cx="3520440" cy="376238"/>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2025"/>
              <a:buFont typeface="Arial"/>
              <a:buNone/>
            </a:pPr>
            <a:r>
              <a:rPr b="1" i="0" lang="en-US" sz="2025" u="none" cap="none" strike="noStrike">
                <a:solidFill>
                  <a:srgbClr val="FFFFFF"/>
                </a:solidFill>
                <a:latin typeface="Arial"/>
                <a:ea typeface="Arial"/>
                <a:cs typeface="Arial"/>
                <a:sym typeface="Arial"/>
              </a:rPr>
              <a:t>proxy</a:t>
            </a:r>
            <a:endParaRPr b="0" i="0" sz="2025" u="none" cap="none" strike="noStrike">
              <a:solidFill>
                <a:schemeClr val="dk1"/>
              </a:solidFill>
              <a:latin typeface="Calibri"/>
              <a:ea typeface="Calibri"/>
              <a:cs typeface="Calibri"/>
              <a:sym typeface="Calibri"/>
            </a:endParaRPr>
          </a:p>
        </p:txBody>
      </p:sp>
      <p:sp>
        <p:nvSpPr>
          <p:cNvPr id="87" name="Google Shape;87;p3"/>
          <p:cNvSpPr/>
          <p:nvPr/>
        </p:nvSpPr>
        <p:spPr>
          <a:xfrm>
            <a:off x="9326880" y="8458200"/>
            <a:ext cx="3520440" cy="333375"/>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1800"/>
              <a:buFont typeface="IBM Plex Sans"/>
              <a:buNone/>
            </a:pPr>
            <a:r>
              <a:rPr b="0" i="0" lang="en-US" sz="1800" u="none" cap="none" strike="noStrike">
                <a:solidFill>
                  <a:srgbClr val="FFFFFF"/>
                </a:solidFill>
                <a:latin typeface="IBM Plex Sans"/>
                <a:ea typeface="IBM Plex Sans"/>
                <a:cs typeface="IBM Plex Sans"/>
                <a:sym typeface="IBM Plex Sans"/>
              </a:rPr>
              <a:t>allow / deny rules</a:t>
            </a:r>
            <a:endParaRPr b="0" i="0" sz="1800" u="none" cap="none" strike="noStrike">
              <a:solidFill>
                <a:schemeClr val="dk1"/>
              </a:solidFill>
              <a:latin typeface="Calibri"/>
              <a:ea typeface="Calibri"/>
              <a:cs typeface="Calibri"/>
              <a:sym typeface="Calibri"/>
            </a:endParaRPr>
          </a:p>
        </p:txBody>
      </p:sp>
      <p:sp>
        <p:nvSpPr>
          <p:cNvPr id="88" name="Google Shape;88;p3"/>
          <p:cNvSpPr/>
          <p:nvPr/>
        </p:nvSpPr>
        <p:spPr>
          <a:xfrm>
            <a:off x="9326880" y="8753475"/>
            <a:ext cx="3520440" cy="333375"/>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1800"/>
              <a:buFont typeface="IBM Plex Sans"/>
              <a:buNone/>
            </a:pPr>
            <a:r>
              <a:rPr b="0" i="0" lang="en-US" sz="1800" u="none" cap="none" strike="noStrike">
                <a:solidFill>
                  <a:srgbClr val="FFFFFF"/>
                </a:solidFill>
                <a:latin typeface="IBM Plex Sans"/>
                <a:ea typeface="IBM Plex Sans"/>
                <a:cs typeface="IBM Plex Sans"/>
                <a:sym typeface="IBM Plex Sans"/>
              </a:rPr>
              <a:t>credential injection</a:t>
            </a:r>
            <a:endParaRPr b="0" i="0" sz="1800" u="none" cap="none" strike="noStrike">
              <a:solidFill>
                <a:schemeClr val="dk1"/>
              </a:solidFill>
              <a:latin typeface="Calibri"/>
              <a:ea typeface="Calibri"/>
              <a:cs typeface="Calibri"/>
              <a:sym typeface="Calibri"/>
            </a:endParaRPr>
          </a:p>
        </p:txBody>
      </p:sp>
      <p:sp>
        <p:nvSpPr>
          <p:cNvPr id="89" name="Google Shape;89;p3"/>
          <p:cNvSpPr/>
          <p:nvPr/>
        </p:nvSpPr>
        <p:spPr>
          <a:xfrm>
            <a:off x="13449300" y="2604046"/>
            <a:ext cx="3728085" cy="676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1" i="0" lang="en-US" sz="1950" u="none" cap="none" strike="noStrike">
                <a:solidFill>
                  <a:srgbClr val="0B0C10"/>
                </a:solidFill>
                <a:latin typeface="IBM Plex Sans"/>
                <a:ea typeface="IBM Plex Sans"/>
                <a:cs typeface="IBM Plex Sans"/>
                <a:sym typeface="IBM Plex Sans"/>
              </a:rPr>
              <a:t>No Docker Desktop needed to run sbx.</a:t>
            </a:r>
            <a:endParaRPr b="0" i="0" sz="1950" u="none" cap="none" strike="noStrike">
              <a:solidFill>
                <a:schemeClr val="dk1"/>
              </a:solidFill>
              <a:latin typeface="Calibri"/>
              <a:ea typeface="Calibri"/>
              <a:cs typeface="Calibri"/>
              <a:sym typeface="Calibri"/>
            </a:endParaRPr>
          </a:p>
        </p:txBody>
      </p:sp>
      <p:sp>
        <p:nvSpPr>
          <p:cNvPr id="90" name="Google Shape;90;p3"/>
          <p:cNvSpPr/>
          <p:nvPr/>
        </p:nvSpPr>
        <p:spPr>
          <a:xfrm>
            <a:off x="13449300" y="3318421"/>
            <a:ext cx="3728085" cy="9953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950"/>
              <a:buFont typeface="IBM Plex Sans"/>
              <a:buNone/>
            </a:pPr>
            <a:r>
              <a:rPr b="0" i="0" lang="en-US" sz="1950" u="none" cap="none" strike="noStrike">
                <a:solidFill>
                  <a:srgbClr val="3D414C"/>
                </a:solidFill>
                <a:latin typeface="IBM Plex Sans"/>
                <a:ea typeface="IBM Plex Sans"/>
                <a:cs typeface="IBM Plex Sans"/>
                <a:sym typeface="IBM Plex Sans"/>
              </a:rPr>
              <a:t>Agents run with no permission prompts — the VM is the guardrail.</a:t>
            </a:r>
            <a:endParaRPr b="0" i="0" sz="1950" u="none" cap="none" strike="noStrike">
              <a:solidFill>
                <a:schemeClr val="dk1"/>
              </a:solidFill>
              <a:latin typeface="Calibri"/>
              <a:ea typeface="Calibri"/>
              <a:cs typeface="Calibri"/>
              <a:sym typeface="Calibri"/>
            </a:endParaRPr>
          </a:p>
        </p:txBody>
      </p:sp>
      <p:sp>
        <p:nvSpPr>
          <p:cNvPr id="91" name="Google Shape;91;p3"/>
          <p:cNvSpPr/>
          <p:nvPr/>
        </p:nvSpPr>
        <p:spPr>
          <a:xfrm>
            <a:off x="13449300" y="8782050"/>
            <a:ext cx="419100" cy="19050"/>
          </a:xfrm>
          <a:prstGeom prst="rect">
            <a:avLst/>
          </a:prstGeom>
          <a:solidFill>
            <a:srgbClr val="B6BC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13868400" y="8715375"/>
            <a:ext cx="104775" cy="152400"/>
          </a:xfrm>
          <a:prstGeom prst="rect">
            <a:avLst/>
          </a:prstGeom>
          <a:solidFill>
            <a:srgbClr val="B6BC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14125575" y="8286750"/>
            <a:ext cx="2943225" cy="1009650"/>
          </a:xfrm>
          <a:prstGeom prst="roundRect">
            <a:avLst>
              <a:gd fmla="val 13208"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14282261" y="8524875"/>
            <a:ext cx="2629853" cy="3048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2D9568"/>
              </a:buClr>
              <a:buSzPts val="1800"/>
              <a:buFont typeface="Courier New"/>
              <a:buNone/>
            </a:pPr>
            <a:r>
              <a:rPr b="0" i="0" lang="en-US" sz="1800" u="none" cap="none" strike="noStrike">
                <a:solidFill>
                  <a:srgbClr val="2D9568"/>
                </a:solidFill>
                <a:latin typeface="Courier New"/>
                <a:ea typeface="Courier New"/>
                <a:cs typeface="Courier New"/>
                <a:sym typeface="Courier New"/>
              </a:rPr>
              <a:t>api.anthropic.com</a:t>
            </a:r>
            <a:endParaRPr b="0" i="0" sz="1800" u="none" cap="none" strike="noStrike">
              <a:solidFill>
                <a:schemeClr val="dk1"/>
              </a:solidFill>
              <a:latin typeface="Calibri"/>
              <a:ea typeface="Calibri"/>
              <a:cs typeface="Calibri"/>
              <a:sym typeface="Calibri"/>
            </a:endParaRPr>
          </a:p>
        </p:txBody>
      </p:sp>
      <p:sp>
        <p:nvSpPr>
          <p:cNvPr id="95" name="Google Shape;95;p3"/>
          <p:cNvSpPr/>
          <p:nvPr/>
        </p:nvSpPr>
        <p:spPr>
          <a:xfrm>
            <a:off x="14282261" y="8791575"/>
            <a:ext cx="2629853" cy="3048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2D9568"/>
              </a:buClr>
              <a:buSzPts val="1800"/>
              <a:buFont typeface="Courier New"/>
              <a:buNone/>
            </a:pPr>
            <a:r>
              <a:rPr b="0" i="0" lang="en-US" sz="1800" u="none" cap="none" strike="noStrike">
                <a:solidFill>
                  <a:srgbClr val="2D9568"/>
                </a:solidFill>
                <a:latin typeface="Courier New"/>
                <a:ea typeface="Courier New"/>
                <a:cs typeface="Courier New"/>
                <a:sym typeface="Courier New"/>
              </a:rPr>
              <a:t>api.github.com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4"/>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01</a:t>
            </a:r>
            <a:endParaRPr b="0" i="0" sz="1950" u="none" cap="none" strike="noStrike">
              <a:solidFill>
                <a:schemeClr val="dk1"/>
              </a:solidFill>
              <a:latin typeface="Calibri"/>
              <a:ea typeface="Calibri"/>
              <a:cs typeface="Calibri"/>
              <a:sym typeface="Calibri"/>
            </a:endParaRPr>
          </a:p>
        </p:txBody>
      </p:sp>
      <p:sp>
        <p:nvSpPr>
          <p:cNvPr id="102" name="Google Shape;102;p4"/>
          <p:cNvSpPr/>
          <p:nvPr/>
        </p:nvSpPr>
        <p:spPr>
          <a:xfrm>
            <a:off x="1384102" y="762000"/>
            <a:ext cx="1923194"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INSTALL SBX</a:t>
            </a:r>
            <a:endParaRPr b="0" i="0" sz="1800" u="none" cap="none" strike="noStrike">
              <a:solidFill>
                <a:schemeClr val="dk1"/>
              </a:solidFill>
              <a:latin typeface="Calibri"/>
              <a:ea typeface="Calibri"/>
              <a:cs typeface="Calibri"/>
              <a:sym typeface="Calibri"/>
            </a:endParaRPr>
          </a:p>
        </p:txBody>
      </p:sp>
      <p:sp>
        <p:nvSpPr>
          <p:cNvPr id="103" name="Google Shape;103;p4"/>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One package manager away</a:t>
            </a:r>
            <a:endParaRPr b="0" i="0" sz="4500" u="none" cap="none" strike="noStrike">
              <a:solidFill>
                <a:schemeClr val="dk1"/>
              </a:solidFill>
              <a:latin typeface="Calibri"/>
              <a:ea typeface="Calibri"/>
              <a:cs typeface="Calibri"/>
              <a:sym typeface="Calibri"/>
            </a:endParaRPr>
          </a:p>
        </p:txBody>
      </p:sp>
      <p:sp>
        <p:nvSpPr>
          <p:cNvPr id="104" name="Google Shape;104;p4"/>
          <p:cNvSpPr/>
          <p:nvPr/>
        </p:nvSpPr>
        <p:spPr>
          <a:xfrm>
            <a:off x="914400" y="2169765"/>
            <a:ext cx="16459200" cy="3929063"/>
          </a:xfrm>
          <a:prstGeom prst="roundRect">
            <a:avLst>
              <a:gd fmla="val 3879"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2573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4859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17145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1257300" y="2760315"/>
            <a:ext cx="16246602"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75"/>
              <a:buFont typeface="Courier New"/>
              <a:buNone/>
            </a:pPr>
            <a:r>
              <a:rPr b="0" i="1" lang="en-US" sz="1875" u="none" cap="none" strike="noStrike">
                <a:solidFill>
                  <a:srgbClr val="FFFFFF"/>
                </a:solidFill>
                <a:latin typeface="Courier New"/>
                <a:ea typeface="Courier New"/>
                <a:cs typeface="Courier New"/>
                <a:sym typeface="Courier New"/>
              </a:rPr>
              <a:t># macOS — Sonoma 14+, Apple silicon</a:t>
            </a:r>
            <a:endParaRPr b="0" i="0" sz="1875" u="none" cap="none" strike="noStrike">
              <a:solidFill>
                <a:schemeClr val="dk1"/>
              </a:solidFill>
              <a:latin typeface="Calibri"/>
              <a:ea typeface="Calibri"/>
              <a:cs typeface="Calibri"/>
              <a:sym typeface="Calibri"/>
            </a:endParaRPr>
          </a:p>
        </p:txBody>
      </p:sp>
      <p:sp>
        <p:nvSpPr>
          <p:cNvPr id="109" name="Google Shape;109;p4"/>
          <p:cNvSpPr/>
          <p:nvPr/>
        </p:nvSpPr>
        <p:spPr>
          <a:xfrm>
            <a:off x="1257300" y="3203228"/>
            <a:ext cx="16246602"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75"/>
              <a:buFont typeface="Courier New"/>
              <a:buNone/>
            </a:pPr>
            <a:r>
              <a:rPr b="1" i="0" lang="en-US" sz="1875" u="none" cap="none" strike="noStrike">
                <a:solidFill>
                  <a:srgbClr val="63C993"/>
                </a:solidFill>
                <a:latin typeface="Courier New"/>
                <a:ea typeface="Courier New"/>
                <a:cs typeface="Courier New"/>
                <a:sym typeface="Courier New"/>
              </a:rPr>
              <a:t>$ </a:t>
            </a:r>
            <a:r>
              <a:rPr b="0" i="0" lang="en-US" sz="1875" u="none" cap="none" strike="noStrike">
                <a:solidFill>
                  <a:srgbClr val="EEF2F8"/>
                </a:solidFill>
                <a:latin typeface="Courier New"/>
                <a:ea typeface="Courier New"/>
                <a:cs typeface="Courier New"/>
                <a:sym typeface="Courier New"/>
              </a:rPr>
              <a:t>brew install </a:t>
            </a:r>
            <a:r>
              <a:rPr b="0" i="0" lang="en-US" sz="1875" u="none" cap="none" strike="noStrike">
                <a:solidFill>
                  <a:srgbClr val="F5A524"/>
                </a:solidFill>
                <a:latin typeface="Courier New"/>
                <a:ea typeface="Courier New"/>
                <a:cs typeface="Courier New"/>
                <a:sym typeface="Courier New"/>
              </a:rPr>
              <a:t>docker/tap/sbx</a:t>
            </a:r>
            <a:endParaRPr b="0" i="0" sz="1875" u="none" cap="none" strike="noStrike">
              <a:solidFill>
                <a:schemeClr val="dk1"/>
              </a:solidFill>
              <a:latin typeface="Calibri"/>
              <a:ea typeface="Calibri"/>
              <a:cs typeface="Calibri"/>
              <a:sym typeface="Calibri"/>
            </a:endParaRPr>
          </a:p>
        </p:txBody>
      </p:sp>
      <p:sp>
        <p:nvSpPr>
          <p:cNvPr id="110" name="Google Shape;110;p4"/>
          <p:cNvSpPr/>
          <p:nvPr/>
        </p:nvSpPr>
        <p:spPr>
          <a:xfrm>
            <a:off x="1257300" y="3646140"/>
            <a:ext cx="16246602"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75"/>
              <a:buFont typeface="Courier New"/>
              <a:buNone/>
            </a:pPr>
            <a:r>
              <a:rPr b="0" i="1" lang="en-US" sz="1875" u="none" cap="none" strike="noStrike">
                <a:solidFill>
                  <a:srgbClr val="FFFFFF"/>
                </a:solidFill>
                <a:latin typeface="Courier New"/>
                <a:ea typeface="Courier New"/>
                <a:cs typeface="Courier New"/>
                <a:sym typeface="Courier New"/>
              </a:rPr>
              <a:t># Windows — Win 11 x86_64, Hypervisor Platform enabled</a:t>
            </a:r>
            <a:endParaRPr b="0" i="0" sz="1875" u="none" cap="none" strike="noStrike">
              <a:solidFill>
                <a:schemeClr val="dk1"/>
              </a:solidFill>
              <a:latin typeface="Calibri"/>
              <a:ea typeface="Calibri"/>
              <a:cs typeface="Calibri"/>
              <a:sym typeface="Calibri"/>
            </a:endParaRPr>
          </a:p>
        </p:txBody>
      </p:sp>
      <p:sp>
        <p:nvSpPr>
          <p:cNvPr id="111" name="Google Shape;111;p4"/>
          <p:cNvSpPr/>
          <p:nvPr/>
        </p:nvSpPr>
        <p:spPr>
          <a:xfrm>
            <a:off x="1257300" y="4089053"/>
            <a:ext cx="16246602"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75"/>
              <a:buFont typeface="Courier New"/>
              <a:buNone/>
            </a:pPr>
            <a:r>
              <a:rPr b="1" i="0" lang="en-US" sz="1875" u="none" cap="none" strike="noStrike">
                <a:solidFill>
                  <a:srgbClr val="63C993"/>
                </a:solidFill>
                <a:latin typeface="Courier New"/>
                <a:ea typeface="Courier New"/>
                <a:cs typeface="Courier New"/>
                <a:sym typeface="Courier New"/>
              </a:rPr>
              <a:t>&gt; </a:t>
            </a:r>
            <a:r>
              <a:rPr b="0" i="0" lang="en-US" sz="1875" u="none" cap="none" strike="noStrike">
                <a:solidFill>
                  <a:srgbClr val="EEF2F8"/>
                </a:solidFill>
                <a:latin typeface="Courier New"/>
                <a:ea typeface="Courier New"/>
                <a:cs typeface="Courier New"/>
                <a:sym typeface="Courier New"/>
              </a:rPr>
              <a:t>winget install -h </a:t>
            </a:r>
            <a:r>
              <a:rPr b="0" i="0" lang="en-US" sz="1875" u="none" cap="none" strike="noStrike">
                <a:solidFill>
                  <a:srgbClr val="F5A524"/>
                </a:solidFill>
                <a:latin typeface="Courier New"/>
                <a:ea typeface="Courier New"/>
                <a:cs typeface="Courier New"/>
                <a:sym typeface="Courier New"/>
              </a:rPr>
              <a:t>Docker.sbx</a:t>
            </a:r>
            <a:endParaRPr b="0" i="0" sz="1875" u="none" cap="none" strike="noStrike">
              <a:solidFill>
                <a:schemeClr val="dk1"/>
              </a:solidFill>
              <a:latin typeface="Calibri"/>
              <a:ea typeface="Calibri"/>
              <a:cs typeface="Calibri"/>
              <a:sym typeface="Calibri"/>
            </a:endParaRPr>
          </a:p>
        </p:txBody>
      </p:sp>
      <p:sp>
        <p:nvSpPr>
          <p:cNvPr id="112" name="Google Shape;112;p4"/>
          <p:cNvSpPr/>
          <p:nvPr/>
        </p:nvSpPr>
        <p:spPr>
          <a:xfrm>
            <a:off x="1257300" y="4531965"/>
            <a:ext cx="16246602"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75"/>
              <a:buFont typeface="Courier New"/>
              <a:buNone/>
            </a:pPr>
            <a:r>
              <a:rPr b="0" i="1" lang="en-US" sz="1875" u="none" cap="none" strike="noStrike">
                <a:solidFill>
                  <a:srgbClr val="FFFFFF"/>
                </a:solidFill>
                <a:latin typeface="Courier New"/>
                <a:ea typeface="Courier New"/>
                <a:cs typeface="Courier New"/>
                <a:sym typeface="Courier New"/>
              </a:rPr>
              <a:t># Linux — Ubuntu 24.04+, KVM enabled, user in kvm group</a:t>
            </a:r>
            <a:endParaRPr b="0" i="0" sz="1875" u="none" cap="none" strike="noStrike">
              <a:solidFill>
                <a:schemeClr val="dk1"/>
              </a:solidFill>
              <a:latin typeface="Calibri"/>
              <a:ea typeface="Calibri"/>
              <a:cs typeface="Calibri"/>
              <a:sym typeface="Calibri"/>
            </a:endParaRPr>
          </a:p>
        </p:txBody>
      </p:sp>
      <p:sp>
        <p:nvSpPr>
          <p:cNvPr id="113" name="Google Shape;113;p4"/>
          <p:cNvSpPr/>
          <p:nvPr/>
        </p:nvSpPr>
        <p:spPr>
          <a:xfrm>
            <a:off x="1257300" y="4974878"/>
            <a:ext cx="16246602"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75"/>
              <a:buFont typeface="Courier New"/>
              <a:buNone/>
            </a:pPr>
            <a:r>
              <a:rPr b="1" i="0" lang="en-US" sz="1875" u="none" cap="none" strike="noStrike">
                <a:solidFill>
                  <a:srgbClr val="63C993"/>
                </a:solidFill>
                <a:latin typeface="Courier New"/>
                <a:ea typeface="Courier New"/>
                <a:cs typeface="Courier New"/>
                <a:sym typeface="Courier New"/>
              </a:rPr>
              <a:t>$ </a:t>
            </a:r>
            <a:r>
              <a:rPr b="0" i="0" lang="en-US" sz="1875" u="none" cap="none" strike="noStrike">
                <a:solidFill>
                  <a:srgbClr val="EEF2F8"/>
                </a:solidFill>
                <a:latin typeface="Courier New"/>
                <a:ea typeface="Courier New"/>
                <a:cs typeface="Courier New"/>
                <a:sym typeface="Courier New"/>
              </a:rPr>
              <a:t>curl -fsSL https://get.docker.com | sudo REPO_ONLY=1 sh</a:t>
            </a:r>
            <a:endParaRPr b="0" i="0" sz="1875" u="none" cap="none" strike="noStrike">
              <a:solidFill>
                <a:schemeClr val="dk1"/>
              </a:solidFill>
              <a:latin typeface="Calibri"/>
              <a:ea typeface="Calibri"/>
              <a:cs typeface="Calibri"/>
              <a:sym typeface="Calibri"/>
            </a:endParaRPr>
          </a:p>
        </p:txBody>
      </p:sp>
      <p:sp>
        <p:nvSpPr>
          <p:cNvPr id="114" name="Google Shape;114;p4"/>
          <p:cNvSpPr/>
          <p:nvPr/>
        </p:nvSpPr>
        <p:spPr>
          <a:xfrm>
            <a:off x="1257300" y="5417790"/>
            <a:ext cx="16246602"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75"/>
              <a:buFont typeface="Courier New"/>
              <a:buNone/>
            </a:pPr>
            <a:r>
              <a:rPr b="1" i="0" lang="en-US" sz="1875" u="none" cap="none" strike="noStrike">
                <a:solidFill>
                  <a:srgbClr val="63C993"/>
                </a:solidFill>
                <a:latin typeface="Courier New"/>
                <a:ea typeface="Courier New"/>
                <a:cs typeface="Courier New"/>
                <a:sym typeface="Courier New"/>
              </a:rPr>
              <a:t>$ </a:t>
            </a:r>
            <a:r>
              <a:rPr b="0" i="0" lang="en-US" sz="1875" u="none" cap="none" strike="noStrike">
                <a:solidFill>
                  <a:srgbClr val="EEF2F8"/>
                </a:solidFill>
                <a:latin typeface="Courier New"/>
                <a:ea typeface="Courier New"/>
                <a:cs typeface="Courier New"/>
                <a:sym typeface="Courier New"/>
              </a:rPr>
              <a:t>sudo apt-get install </a:t>
            </a:r>
            <a:r>
              <a:rPr b="0" i="0" lang="en-US" sz="1875" u="none" cap="none" strike="noStrike">
                <a:solidFill>
                  <a:srgbClr val="F5A524"/>
                </a:solidFill>
                <a:latin typeface="Courier New"/>
                <a:ea typeface="Courier New"/>
                <a:cs typeface="Courier New"/>
                <a:sym typeface="Courier New"/>
              </a:rPr>
              <a:t>docker-sbx</a:t>
            </a:r>
            <a:endParaRPr b="0" i="0" sz="1875" u="none" cap="none" strike="noStrike">
              <a:solidFill>
                <a:schemeClr val="dk1"/>
              </a:solidFill>
              <a:latin typeface="Calibri"/>
              <a:ea typeface="Calibri"/>
              <a:cs typeface="Calibri"/>
              <a:sym typeface="Calibri"/>
            </a:endParaRPr>
          </a:p>
        </p:txBody>
      </p:sp>
      <p:sp>
        <p:nvSpPr>
          <p:cNvPr id="115" name="Google Shape;115;p4"/>
          <p:cNvSpPr/>
          <p:nvPr/>
        </p:nvSpPr>
        <p:spPr>
          <a:xfrm>
            <a:off x="914400" y="6403628"/>
            <a:ext cx="10111160" cy="1333500"/>
          </a:xfrm>
          <a:prstGeom prst="roundRect">
            <a:avLst>
              <a:gd fmla="val 11429"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1257300" y="6651278"/>
            <a:ext cx="9708120"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75"/>
              <a:buFont typeface="Courier New"/>
              <a:buNone/>
            </a:pPr>
            <a:r>
              <a:rPr b="1" i="0" lang="en-US" sz="1875" u="none" cap="none" strike="noStrike">
                <a:solidFill>
                  <a:srgbClr val="63C993"/>
                </a:solidFill>
                <a:latin typeface="Courier New"/>
                <a:ea typeface="Courier New"/>
                <a:cs typeface="Courier New"/>
                <a:sym typeface="Courier New"/>
              </a:rPr>
              <a:t>$ </a:t>
            </a:r>
            <a:r>
              <a:rPr b="0" i="0" lang="en-US" sz="1875" u="none" cap="none" strike="noStrike">
                <a:solidFill>
                  <a:srgbClr val="EEF2F8"/>
                </a:solidFill>
                <a:latin typeface="Courier New"/>
                <a:ea typeface="Courier New"/>
                <a:cs typeface="Courier New"/>
                <a:sym typeface="Courier New"/>
              </a:rPr>
              <a:t>sbx login</a:t>
            </a:r>
            <a:endParaRPr b="0" i="0" sz="1875" u="none" cap="none" strike="noStrike">
              <a:solidFill>
                <a:schemeClr val="dk1"/>
              </a:solidFill>
              <a:latin typeface="Calibri"/>
              <a:ea typeface="Calibri"/>
              <a:cs typeface="Calibri"/>
              <a:sym typeface="Calibri"/>
            </a:endParaRPr>
          </a:p>
        </p:txBody>
      </p:sp>
      <p:sp>
        <p:nvSpPr>
          <p:cNvPr id="117" name="Google Shape;117;p4"/>
          <p:cNvSpPr/>
          <p:nvPr/>
        </p:nvSpPr>
        <p:spPr>
          <a:xfrm>
            <a:off x="1257300" y="7094190"/>
            <a:ext cx="9708120"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75"/>
              <a:buFont typeface="Courier New"/>
              <a:buNone/>
            </a:pPr>
            <a:r>
              <a:rPr b="0" i="0" lang="en-US" sz="1875" u="none" cap="none" strike="noStrike">
                <a:solidFill>
                  <a:srgbClr val="FFFFFF"/>
                </a:solidFill>
                <a:latin typeface="Courier New"/>
                <a:ea typeface="Courier New"/>
                <a:cs typeface="Courier New"/>
                <a:sym typeface="Courier New"/>
              </a:rPr>
              <a:t>Opens your browser — sign in with your (free) Docker account.</a:t>
            </a:r>
            <a:endParaRPr b="0" i="0" sz="1875" u="none" cap="none" strike="noStrike">
              <a:solidFill>
                <a:schemeClr val="dk1"/>
              </a:solidFill>
              <a:latin typeface="Calibri"/>
              <a:ea typeface="Calibri"/>
              <a:cs typeface="Calibri"/>
              <a:sym typeface="Calibri"/>
            </a:endParaRPr>
          </a:p>
        </p:txBody>
      </p:sp>
      <p:sp>
        <p:nvSpPr>
          <p:cNvPr id="118" name="Google Shape;118;p4"/>
          <p:cNvSpPr/>
          <p:nvPr/>
        </p:nvSpPr>
        <p:spPr>
          <a:xfrm>
            <a:off x="11482760" y="6553646"/>
            <a:ext cx="6479924"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1" i="0" lang="en-US" sz="1950" u="none" cap="none" strike="noStrike">
                <a:solidFill>
                  <a:srgbClr val="0B0C10"/>
                </a:solidFill>
                <a:latin typeface="IBM Plex Sans"/>
                <a:ea typeface="IBM Plex Sans"/>
                <a:cs typeface="IBM Plex Sans"/>
                <a:sym typeface="IBM Plex Sans"/>
              </a:rPr>
              <a:t>Docker Desktop is not required to run sbx.</a:t>
            </a:r>
            <a:endParaRPr b="0" i="0" sz="1950" u="none" cap="none" strike="noStrike">
              <a:solidFill>
                <a:schemeClr val="dk1"/>
              </a:solidFill>
              <a:latin typeface="Calibri"/>
              <a:ea typeface="Calibri"/>
              <a:cs typeface="Calibri"/>
              <a:sym typeface="Calibri"/>
            </a:endParaRPr>
          </a:p>
        </p:txBody>
      </p:sp>
      <p:sp>
        <p:nvSpPr>
          <p:cNvPr id="119" name="Google Shape;119;p4"/>
          <p:cNvSpPr/>
          <p:nvPr/>
        </p:nvSpPr>
        <p:spPr>
          <a:xfrm>
            <a:off x="11482760" y="6948934"/>
            <a:ext cx="6479924"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00"/>
              <a:buFont typeface="IBM Plex Sans"/>
              <a:buNone/>
            </a:pPr>
            <a:r>
              <a:rPr b="0" i="0" lang="en-US" sz="1800" u="none" cap="none" strike="noStrike">
                <a:solidFill>
                  <a:srgbClr val="3D414C"/>
                </a:solidFill>
                <a:latin typeface="IBM Plex Sans"/>
                <a:ea typeface="IBM Plex Sans"/>
                <a:cs typeface="IBM Plex Sans"/>
                <a:sym typeface="IBM Plex Sans"/>
              </a:rPr>
              <a:t>You only need it later if you build custom templates.</a:t>
            </a:r>
            <a:endParaRPr b="0" i="0" sz="1800" u="none" cap="none" strike="noStrike">
              <a:solidFill>
                <a:schemeClr val="dk1"/>
              </a:solidFill>
              <a:latin typeface="Calibri"/>
              <a:ea typeface="Calibri"/>
              <a:cs typeface="Calibri"/>
              <a:sym typeface="Calibri"/>
            </a:endParaRPr>
          </a:p>
        </p:txBody>
      </p:sp>
      <p:sp>
        <p:nvSpPr>
          <p:cNvPr id="120" name="Google Shape;120;p4"/>
          <p:cNvSpPr/>
          <p:nvPr/>
        </p:nvSpPr>
        <p:spPr>
          <a:xfrm>
            <a:off x="11482760" y="7320409"/>
            <a:ext cx="6479924"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Courier New"/>
              <a:buNone/>
            </a:pPr>
            <a:r>
              <a:rPr b="0" i="0" lang="en-US" sz="1800" u="none" cap="none" strike="noStrike">
                <a:solidFill>
                  <a:srgbClr val="8A92A0"/>
                </a:solidFill>
                <a:latin typeface="Courier New"/>
                <a:ea typeface="Courier New"/>
                <a:cs typeface="Courier New"/>
                <a:sym typeface="Courier New"/>
              </a:rPr>
              <a:t>github.com/docker/sbx-releases</a:t>
            </a:r>
            <a:endParaRPr b="0" i="0" sz="1800" u="none" cap="none" strike="noStrike">
              <a:solidFill>
                <a:schemeClr val="dk1"/>
              </a:solidFill>
              <a:latin typeface="Calibri"/>
              <a:ea typeface="Calibri"/>
              <a:cs typeface="Calibri"/>
              <a:sym typeface="Calibri"/>
            </a:endParaRPr>
          </a:p>
        </p:txBody>
      </p:sp>
      <p:sp>
        <p:nvSpPr>
          <p:cNvPr id="121" name="Google Shape;121;p4"/>
          <p:cNvSpPr/>
          <p:nvPr/>
        </p:nvSpPr>
        <p:spPr>
          <a:xfrm>
            <a:off x="914400" y="9186863"/>
            <a:ext cx="1664285" cy="3762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D9568"/>
              </a:buClr>
              <a:buSzPts val="2025"/>
              <a:buFont typeface="Arial"/>
              <a:buNone/>
            </a:pPr>
            <a:r>
              <a:rPr b="1" i="0" lang="en-US" sz="2025" u="none" cap="none" strike="noStrike">
                <a:solidFill>
                  <a:srgbClr val="2D9568"/>
                </a:solidFill>
                <a:latin typeface="Arial"/>
                <a:ea typeface="Arial"/>
                <a:cs typeface="Arial"/>
                <a:sym typeface="Arial"/>
              </a:rPr>
              <a:t>Checkpoint</a:t>
            </a:r>
            <a:endParaRPr b="0" i="0" sz="2025" u="none" cap="none" strike="noStrike">
              <a:solidFill>
                <a:schemeClr val="dk1"/>
              </a:solidFill>
              <a:latin typeface="Calibri"/>
              <a:ea typeface="Calibri"/>
              <a:cs typeface="Calibri"/>
              <a:sym typeface="Calibri"/>
            </a:endParaRPr>
          </a:p>
        </p:txBody>
      </p:sp>
      <p:sp>
        <p:nvSpPr>
          <p:cNvPr id="122" name="Google Shape;122;p4"/>
          <p:cNvSpPr/>
          <p:nvPr/>
        </p:nvSpPr>
        <p:spPr>
          <a:xfrm>
            <a:off x="2579787" y="9191625"/>
            <a:ext cx="8861673" cy="3714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025"/>
              <a:buFont typeface="IBM Plex Sans"/>
              <a:buNone/>
            </a:pPr>
            <a:r>
              <a:rPr b="0" i="0" lang="en-US" sz="2025" u="none" cap="none" strike="noStrike">
                <a:solidFill>
                  <a:srgbClr val="0B0C10"/>
                </a:solidFill>
                <a:latin typeface="IBM Plex Sans"/>
                <a:ea typeface="IBM Plex Sans"/>
                <a:cs typeface="IBM Plex Sans"/>
                <a:sym typeface="IBM Plex Sans"/>
              </a:rPr>
              <a:t>sbx --version prints a version and sbx login says you're authenticated.</a:t>
            </a:r>
            <a:endParaRPr b="0" i="0" sz="2025"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5"/>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01</a:t>
            </a:r>
            <a:endParaRPr b="0" i="0" sz="1950" u="none" cap="none" strike="noStrike">
              <a:solidFill>
                <a:schemeClr val="dk1"/>
              </a:solidFill>
              <a:latin typeface="Calibri"/>
              <a:ea typeface="Calibri"/>
              <a:cs typeface="Calibri"/>
              <a:sym typeface="Calibri"/>
            </a:endParaRPr>
          </a:p>
        </p:txBody>
      </p:sp>
      <p:sp>
        <p:nvSpPr>
          <p:cNvPr id="129" name="Google Shape;129;p5"/>
          <p:cNvSpPr/>
          <p:nvPr/>
        </p:nvSpPr>
        <p:spPr>
          <a:xfrm>
            <a:off x="1384102" y="762000"/>
            <a:ext cx="1923194"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INSTALL SBX</a:t>
            </a:r>
            <a:endParaRPr b="0" i="0" sz="1800" u="none" cap="none" strike="noStrike">
              <a:solidFill>
                <a:schemeClr val="dk1"/>
              </a:solidFill>
              <a:latin typeface="Calibri"/>
              <a:ea typeface="Calibri"/>
              <a:cs typeface="Calibri"/>
              <a:sym typeface="Calibri"/>
            </a:endParaRPr>
          </a:p>
        </p:txBody>
      </p:sp>
      <p:sp>
        <p:nvSpPr>
          <p:cNvPr id="130" name="Google Shape;130;p5"/>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First login: pick a network preset</a:t>
            </a:r>
            <a:endParaRPr b="0" i="0" sz="4500" u="none" cap="none" strike="noStrike">
              <a:solidFill>
                <a:schemeClr val="dk1"/>
              </a:solidFill>
              <a:latin typeface="Calibri"/>
              <a:ea typeface="Calibri"/>
              <a:cs typeface="Calibri"/>
              <a:sym typeface="Calibri"/>
            </a:endParaRPr>
          </a:p>
        </p:txBody>
      </p:sp>
      <p:sp>
        <p:nvSpPr>
          <p:cNvPr id="131" name="Google Shape;131;p5"/>
          <p:cNvSpPr/>
          <p:nvPr/>
        </p:nvSpPr>
        <p:spPr>
          <a:xfrm>
            <a:off x="914400" y="2207865"/>
            <a:ext cx="9474547" cy="6102697"/>
          </a:xfrm>
          <a:prstGeom prst="roundRect">
            <a:avLst>
              <a:gd fmla="val 2497"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1257300" y="24745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1485900" y="24745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1714500" y="24745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1257300" y="2798415"/>
            <a:ext cx="9052410"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75"/>
              <a:buFont typeface="Courier New"/>
              <a:buNone/>
            </a:pPr>
            <a:r>
              <a:rPr b="0" i="0" lang="en-US" sz="1875" u="none" cap="none" strike="noStrike">
                <a:solidFill>
                  <a:srgbClr val="FFFFFF"/>
                </a:solidFill>
                <a:latin typeface="Courier New"/>
                <a:ea typeface="Courier New"/>
                <a:cs typeface="Courier New"/>
                <a:sym typeface="Courier New"/>
              </a:rPr>
              <a:t>Choose a default network policy:</a:t>
            </a:r>
            <a:endParaRPr b="0" i="0" sz="1875" u="none" cap="none" strike="noStrike">
              <a:solidFill>
                <a:schemeClr val="dk1"/>
              </a:solidFill>
              <a:latin typeface="Calibri"/>
              <a:ea typeface="Calibri"/>
              <a:cs typeface="Calibri"/>
              <a:sym typeface="Calibri"/>
            </a:endParaRPr>
          </a:p>
        </p:txBody>
      </p:sp>
      <p:sp>
        <p:nvSpPr>
          <p:cNvPr id="136" name="Google Shape;136;p5"/>
          <p:cNvSpPr/>
          <p:nvPr/>
        </p:nvSpPr>
        <p:spPr>
          <a:xfrm>
            <a:off x="1257300" y="3288953"/>
            <a:ext cx="9052410"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EF2F8"/>
              </a:buClr>
              <a:buSzPts val="1875"/>
              <a:buFont typeface="Courier New"/>
              <a:buNone/>
            </a:pPr>
            <a:r>
              <a:rPr b="0" i="0" lang="en-US" sz="1875" u="none" cap="none" strike="noStrike">
                <a:solidFill>
                  <a:srgbClr val="EEF2F8"/>
                </a:solidFill>
                <a:latin typeface="Courier New"/>
                <a:ea typeface="Courier New"/>
                <a:cs typeface="Courier New"/>
                <a:sym typeface="Courier New"/>
              </a:rPr>
              <a:t>  1. Open        </a:t>
            </a:r>
            <a:r>
              <a:rPr b="0" i="1" lang="en-US" sz="1875" u="none" cap="none" strike="noStrike">
                <a:solidFill>
                  <a:srgbClr val="FFFFFF"/>
                </a:solidFill>
                <a:latin typeface="Courier New"/>
                <a:ea typeface="Courier New"/>
                <a:cs typeface="Courier New"/>
                <a:sym typeface="Courier New"/>
              </a:rPr>
              <a:t>— all traffic allowed, no restrictions</a:t>
            </a:r>
            <a:endParaRPr b="0" i="0" sz="1875" u="none" cap="none" strike="noStrike">
              <a:solidFill>
                <a:schemeClr val="dk1"/>
              </a:solidFill>
              <a:latin typeface="Calibri"/>
              <a:ea typeface="Calibri"/>
              <a:cs typeface="Calibri"/>
              <a:sym typeface="Calibri"/>
            </a:endParaRPr>
          </a:p>
        </p:txBody>
      </p:sp>
      <p:sp>
        <p:nvSpPr>
          <p:cNvPr id="137" name="Google Shape;137;p5"/>
          <p:cNvSpPr/>
          <p:nvPr/>
        </p:nvSpPr>
        <p:spPr>
          <a:xfrm>
            <a:off x="1257300" y="3779490"/>
            <a:ext cx="9052410"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75"/>
              <a:buFont typeface="Courier New"/>
              <a:buNone/>
            </a:pPr>
            <a:r>
              <a:rPr b="1" i="0" lang="en-US" sz="1875" u="none" cap="none" strike="noStrike">
                <a:solidFill>
                  <a:srgbClr val="63C993"/>
                </a:solidFill>
                <a:latin typeface="Courier New"/>
                <a:ea typeface="Courier New"/>
                <a:cs typeface="Courier New"/>
                <a:sym typeface="Courier New"/>
              </a:rPr>
              <a:t>  2. Balanced    </a:t>
            </a:r>
            <a:r>
              <a:rPr b="0" i="1" lang="en-US" sz="1875" u="none" cap="none" strike="noStrike">
                <a:solidFill>
                  <a:srgbClr val="FFFFFF"/>
                </a:solidFill>
                <a:latin typeface="Courier New"/>
                <a:ea typeface="Courier New"/>
                <a:cs typeface="Courier New"/>
                <a:sym typeface="Courier New"/>
              </a:rPr>
              <a:t>— default deny, common dev sites allowed</a:t>
            </a:r>
            <a:endParaRPr b="0" i="0" sz="1875" u="none" cap="none" strike="noStrike">
              <a:solidFill>
                <a:schemeClr val="dk1"/>
              </a:solidFill>
              <a:latin typeface="Calibri"/>
              <a:ea typeface="Calibri"/>
              <a:cs typeface="Calibri"/>
              <a:sym typeface="Calibri"/>
            </a:endParaRPr>
          </a:p>
        </p:txBody>
      </p:sp>
      <p:sp>
        <p:nvSpPr>
          <p:cNvPr id="138" name="Google Shape;138;p5"/>
          <p:cNvSpPr/>
          <p:nvPr/>
        </p:nvSpPr>
        <p:spPr>
          <a:xfrm>
            <a:off x="1257300" y="4270028"/>
            <a:ext cx="9052410"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EF2F8"/>
              </a:buClr>
              <a:buSzPts val="1875"/>
              <a:buFont typeface="Courier New"/>
              <a:buNone/>
            </a:pPr>
            <a:r>
              <a:rPr b="0" i="0" lang="en-US" sz="1875" u="none" cap="none" strike="noStrike">
                <a:solidFill>
                  <a:srgbClr val="EEF2F8"/>
                </a:solidFill>
                <a:latin typeface="Courier New"/>
                <a:ea typeface="Courier New"/>
                <a:cs typeface="Courier New"/>
                <a:sym typeface="Courier New"/>
              </a:rPr>
              <a:t>  3. Locked Down </a:t>
            </a:r>
            <a:r>
              <a:rPr b="0" i="1" lang="en-US" sz="1875" u="none" cap="none" strike="noStrike">
                <a:solidFill>
                  <a:srgbClr val="FFFFFF"/>
                </a:solidFill>
                <a:latin typeface="Courier New"/>
                <a:ea typeface="Courier New"/>
                <a:cs typeface="Courier New"/>
                <a:sym typeface="Courier New"/>
              </a:rPr>
              <a:t>— everything blocked unless you allow it</a:t>
            </a:r>
            <a:endParaRPr b="0" i="0" sz="1875" u="none" cap="none" strike="noStrike">
              <a:solidFill>
                <a:schemeClr val="dk1"/>
              </a:solidFill>
              <a:latin typeface="Calibri"/>
              <a:ea typeface="Calibri"/>
              <a:cs typeface="Calibri"/>
              <a:sym typeface="Calibri"/>
            </a:endParaRPr>
          </a:p>
        </p:txBody>
      </p:sp>
      <p:sp>
        <p:nvSpPr>
          <p:cNvPr id="139" name="Google Shape;139;p5"/>
          <p:cNvSpPr/>
          <p:nvPr/>
        </p:nvSpPr>
        <p:spPr>
          <a:xfrm>
            <a:off x="1257300" y="4760565"/>
            <a:ext cx="9052410"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1875"/>
              <a:buFont typeface="Courier New"/>
              <a:buNone/>
            </a:pPr>
            <a:r>
              <a:rPr b="0" i="0" lang="en-US" sz="1875" u="none" cap="none" strike="noStrike">
                <a:solidFill>
                  <a:srgbClr val="0B0C10"/>
                </a:solidFill>
                <a:latin typeface="Courier New"/>
                <a:ea typeface="Courier New"/>
                <a:cs typeface="Courier New"/>
                <a:sym typeface="Courier New"/>
              </a:rPr>
              <a:t> </a:t>
            </a:r>
            <a:endParaRPr b="0" i="0" sz="1875" u="none" cap="none" strike="noStrike">
              <a:solidFill>
                <a:schemeClr val="dk1"/>
              </a:solidFill>
              <a:latin typeface="Calibri"/>
              <a:ea typeface="Calibri"/>
              <a:cs typeface="Calibri"/>
              <a:sym typeface="Calibri"/>
            </a:endParaRPr>
          </a:p>
        </p:txBody>
      </p:sp>
      <p:sp>
        <p:nvSpPr>
          <p:cNvPr id="140" name="Google Shape;140;p5"/>
          <p:cNvSpPr/>
          <p:nvPr/>
        </p:nvSpPr>
        <p:spPr>
          <a:xfrm>
            <a:off x="1257300" y="5251103"/>
            <a:ext cx="9052410" cy="395288"/>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75"/>
              <a:buFont typeface="Courier New"/>
              <a:buNone/>
            </a:pPr>
            <a:r>
              <a:rPr b="1" i="0" lang="en-US" sz="1875" u="none" cap="none" strike="noStrike">
                <a:solidFill>
                  <a:srgbClr val="63C993"/>
                </a:solidFill>
                <a:latin typeface="Courier New"/>
                <a:ea typeface="Courier New"/>
                <a:cs typeface="Courier New"/>
                <a:sym typeface="Courier New"/>
              </a:rPr>
              <a:t>$ </a:t>
            </a:r>
            <a:r>
              <a:rPr b="0" i="0" lang="en-US" sz="1875" u="none" cap="none" strike="noStrike">
                <a:solidFill>
                  <a:srgbClr val="EEF2F8"/>
                </a:solidFill>
                <a:latin typeface="Courier New"/>
                <a:ea typeface="Courier New"/>
                <a:cs typeface="Courier New"/>
                <a:sym typeface="Courier New"/>
              </a:rPr>
              <a:t>sbx policy init balanced   </a:t>
            </a:r>
            <a:r>
              <a:rPr b="0" i="1" lang="en-US" sz="1875" u="none" cap="none" strike="noStrike">
                <a:solidFill>
                  <a:srgbClr val="FFFFFF"/>
                </a:solidFill>
                <a:latin typeface="Courier New"/>
                <a:ea typeface="Courier New"/>
                <a:cs typeface="Courier New"/>
                <a:sym typeface="Courier New"/>
              </a:rPr>
              <a:t># non-interactive / CI</a:t>
            </a:r>
            <a:endParaRPr b="0" i="0" sz="1875" u="none" cap="none" strike="noStrike">
              <a:solidFill>
                <a:schemeClr val="dk1"/>
              </a:solidFill>
              <a:latin typeface="Calibri"/>
              <a:ea typeface="Calibri"/>
              <a:cs typeface="Calibri"/>
              <a:sym typeface="Calibri"/>
            </a:endParaRPr>
          </a:p>
        </p:txBody>
      </p:sp>
      <p:sp>
        <p:nvSpPr>
          <p:cNvPr id="141" name="Google Shape;141;p5"/>
          <p:cNvSpPr/>
          <p:nvPr/>
        </p:nvSpPr>
        <p:spPr>
          <a:xfrm>
            <a:off x="10846147" y="2207865"/>
            <a:ext cx="6527453" cy="6102697"/>
          </a:xfrm>
          <a:prstGeom prst="roundRect">
            <a:avLst>
              <a:gd fmla="val 2497" name="adj"/>
            </a:avLst>
          </a:prstGeom>
          <a:solidFill>
            <a:srgbClr val="EBF9EE"/>
          </a:solidFill>
          <a:ln cap="flat" cmpd="sng" w="9525">
            <a:solidFill>
              <a:srgbClr val="2D956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11274772" y="3984799"/>
            <a:ext cx="6237223" cy="4381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D9568"/>
              </a:buClr>
              <a:buSzPts val="2400"/>
              <a:buFont typeface="Arial"/>
              <a:buNone/>
            </a:pPr>
            <a:r>
              <a:rPr b="1" i="0" lang="en-US" sz="2400" u="none" cap="none" strike="noStrike">
                <a:solidFill>
                  <a:srgbClr val="2D9568"/>
                </a:solidFill>
                <a:latin typeface="Arial"/>
                <a:ea typeface="Arial"/>
                <a:cs typeface="Arial"/>
                <a:sym typeface="Arial"/>
              </a:rPr>
              <a:t>Pick Balanced today.</a:t>
            </a:r>
            <a:endParaRPr b="0" i="0" sz="2400" u="none" cap="none" strike="noStrike">
              <a:solidFill>
                <a:schemeClr val="dk1"/>
              </a:solidFill>
              <a:latin typeface="Calibri"/>
              <a:ea typeface="Calibri"/>
              <a:cs typeface="Calibri"/>
              <a:sym typeface="Calibri"/>
            </a:endParaRPr>
          </a:p>
        </p:txBody>
      </p:sp>
      <p:sp>
        <p:nvSpPr>
          <p:cNvPr id="143" name="Google Shape;143;p5"/>
          <p:cNvSpPr/>
          <p:nvPr/>
        </p:nvSpPr>
        <p:spPr>
          <a:xfrm>
            <a:off x="11274772" y="4575349"/>
            <a:ext cx="5840309" cy="1115244"/>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Locked Down blocks everything — including api.anthropic.com, so your agent can't even phone its own model.</a:t>
            </a:r>
            <a:endParaRPr b="0" i="0" sz="1950" u="none" cap="none" strike="noStrike">
              <a:solidFill>
                <a:schemeClr val="dk1"/>
              </a:solidFill>
              <a:latin typeface="Calibri"/>
              <a:ea typeface="Calibri"/>
              <a:cs typeface="Calibri"/>
              <a:sym typeface="Calibri"/>
            </a:endParaRPr>
          </a:p>
        </p:txBody>
      </p:sp>
      <p:sp>
        <p:nvSpPr>
          <p:cNvPr id="144" name="Google Shape;144;p5"/>
          <p:cNvSpPr/>
          <p:nvPr/>
        </p:nvSpPr>
        <p:spPr>
          <a:xfrm>
            <a:off x="11274772" y="5842992"/>
            <a:ext cx="5840309" cy="728663"/>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You can tighten or loosen any time: sbx policy allow / deny.</a:t>
            </a:r>
            <a:endParaRPr b="0" i="0" sz="1875" u="none" cap="none" strike="noStrike">
              <a:solidFill>
                <a:schemeClr val="dk1"/>
              </a:solidFill>
              <a:latin typeface="Calibri"/>
              <a:ea typeface="Calibri"/>
              <a:cs typeface="Calibri"/>
              <a:sym typeface="Calibri"/>
            </a:endParaRPr>
          </a:p>
        </p:txBody>
      </p:sp>
      <p:sp>
        <p:nvSpPr>
          <p:cNvPr id="145" name="Google Shape;145;p5"/>
          <p:cNvSpPr/>
          <p:nvPr/>
        </p:nvSpPr>
        <p:spPr>
          <a:xfrm>
            <a:off x="914400" y="8691563"/>
            <a:ext cx="16459200" cy="833438"/>
          </a:xfrm>
          <a:prstGeom prst="roundRect">
            <a:avLst>
              <a:gd fmla="val 13714"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1304925" y="8948738"/>
            <a:ext cx="16171926"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950"/>
              <a:buFont typeface="IBM Plex Sans"/>
              <a:buNone/>
            </a:pPr>
            <a:r>
              <a:rPr b="0" i="0" lang="en-US" sz="1950" u="none" cap="none" strike="noStrike">
                <a:solidFill>
                  <a:srgbClr val="3D414C"/>
                </a:solidFill>
                <a:latin typeface="IBM Plex Sans"/>
                <a:ea typeface="IBM Plex Sans"/>
                <a:cs typeface="IBM Plex Sans"/>
                <a:sym typeface="IBM Plex Sans"/>
              </a:rPr>
              <a:t>Presets are per-user defaults, not a cage —</a:t>
            </a:r>
            <a:r>
              <a:rPr b="1" i="0" lang="en-US" sz="1875" u="none" cap="none" strike="noStrike">
                <a:solidFill>
                  <a:srgbClr val="2560FF"/>
                </a:solidFill>
                <a:latin typeface="Courier New"/>
                <a:ea typeface="Courier New"/>
                <a:cs typeface="Courier New"/>
                <a:sym typeface="Courier New"/>
              </a:rPr>
              <a:t>sbx policy ls </a:t>
            </a:r>
            <a:r>
              <a:rPr b="0" i="0" lang="en-US" sz="1950" u="none" cap="none" strike="noStrike">
                <a:solidFill>
                  <a:srgbClr val="3D414C"/>
                </a:solidFill>
                <a:latin typeface="IBM Plex Sans"/>
                <a:ea typeface="IBM Plex Sans"/>
                <a:cs typeface="IBM Plex Sans"/>
                <a:sym typeface="IBM Plex Sans"/>
              </a:rPr>
              <a:t>shows exactly what's active, and section 06 shows the live traffic log.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6"/>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01</a:t>
            </a:r>
            <a:endParaRPr b="0" i="0" sz="1950" u="none" cap="none" strike="noStrike">
              <a:solidFill>
                <a:schemeClr val="dk1"/>
              </a:solidFill>
              <a:latin typeface="Calibri"/>
              <a:ea typeface="Calibri"/>
              <a:cs typeface="Calibri"/>
              <a:sym typeface="Calibri"/>
            </a:endParaRPr>
          </a:p>
        </p:txBody>
      </p:sp>
      <p:sp>
        <p:nvSpPr>
          <p:cNvPr id="153" name="Google Shape;153;p6"/>
          <p:cNvSpPr/>
          <p:nvPr/>
        </p:nvSpPr>
        <p:spPr>
          <a:xfrm>
            <a:off x="1384102" y="762000"/>
            <a:ext cx="1923194"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INSTALL SBX</a:t>
            </a:r>
            <a:endParaRPr b="0" i="0" sz="1800" u="none" cap="none" strike="noStrike">
              <a:solidFill>
                <a:schemeClr val="dk1"/>
              </a:solidFill>
              <a:latin typeface="Calibri"/>
              <a:ea typeface="Calibri"/>
              <a:cs typeface="Calibri"/>
              <a:sym typeface="Calibri"/>
            </a:endParaRPr>
          </a:p>
        </p:txBody>
      </p:sp>
      <p:sp>
        <p:nvSpPr>
          <p:cNvPr id="154" name="Google Shape;154;p6"/>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Your first sandboxed agent</a:t>
            </a:r>
            <a:endParaRPr b="0" i="0" sz="4500" u="none" cap="none" strike="noStrike">
              <a:solidFill>
                <a:schemeClr val="dk1"/>
              </a:solidFill>
              <a:latin typeface="Calibri"/>
              <a:ea typeface="Calibri"/>
              <a:cs typeface="Calibri"/>
              <a:sym typeface="Calibri"/>
            </a:endParaRPr>
          </a:p>
        </p:txBody>
      </p:sp>
      <p:sp>
        <p:nvSpPr>
          <p:cNvPr id="155" name="Google Shape;155;p6"/>
          <p:cNvSpPr/>
          <p:nvPr/>
        </p:nvSpPr>
        <p:spPr>
          <a:xfrm>
            <a:off x="914400" y="2169765"/>
            <a:ext cx="9583638" cy="6636097"/>
          </a:xfrm>
          <a:prstGeom prst="roundRect">
            <a:avLst>
              <a:gd fmla="val 2297"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12573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14859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17145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1257300" y="2760315"/>
            <a:ext cx="9164773"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cd ~/my-project</a:t>
            </a:r>
            <a:endParaRPr b="0" i="0" sz="1800" u="none" cap="none" strike="noStrike">
              <a:solidFill>
                <a:schemeClr val="dk1"/>
              </a:solidFill>
              <a:latin typeface="Calibri"/>
              <a:ea typeface="Calibri"/>
              <a:cs typeface="Calibri"/>
              <a:sym typeface="Calibri"/>
            </a:endParaRPr>
          </a:p>
        </p:txBody>
      </p:sp>
      <p:sp>
        <p:nvSpPr>
          <p:cNvPr id="160" name="Google Shape;160;p6"/>
          <p:cNvSpPr/>
          <p:nvPr/>
        </p:nvSpPr>
        <p:spPr>
          <a:xfrm>
            <a:off x="1257300" y="3188940"/>
            <a:ext cx="9164773"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run --name </a:t>
            </a:r>
            <a:r>
              <a:rPr b="0" i="0" lang="en-US" sz="1800" u="none" cap="none" strike="noStrike">
                <a:solidFill>
                  <a:srgbClr val="F5A524"/>
                </a:solidFill>
                <a:latin typeface="Courier New"/>
                <a:ea typeface="Courier New"/>
                <a:cs typeface="Courier New"/>
                <a:sym typeface="Courier New"/>
              </a:rPr>
              <a:t>my-sandbox</a:t>
            </a:r>
            <a:r>
              <a:rPr b="0" i="0" lang="en-US" sz="1800" u="none" cap="none" strike="noStrike">
                <a:solidFill>
                  <a:srgbClr val="EEF2F8"/>
                </a:solidFill>
                <a:latin typeface="Courier New"/>
                <a:ea typeface="Courier New"/>
                <a:cs typeface="Courier New"/>
                <a:sym typeface="Courier New"/>
              </a:rPr>
              <a:t> claude</a:t>
            </a:r>
            <a:endParaRPr b="0" i="0" sz="1800" u="none" cap="none" strike="noStrike">
              <a:solidFill>
                <a:schemeClr val="dk1"/>
              </a:solidFill>
              <a:latin typeface="Calibri"/>
              <a:ea typeface="Calibri"/>
              <a:cs typeface="Calibri"/>
              <a:sym typeface="Calibri"/>
            </a:endParaRPr>
          </a:p>
        </p:txBody>
      </p:sp>
      <p:sp>
        <p:nvSpPr>
          <p:cNvPr id="161" name="Google Shape;161;p6"/>
          <p:cNvSpPr/>
          <p:nvPr/>
        </p:nvSpPr>
        <p:spPr>
          <a:xfrm>
            <a:off x="1257300" y="3617565"/>
            <a:ext cx="9164773"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microVM boots · workspace mounted · Claude starts</a:t>
            </a:r>
            <a:endParaRPr b="0" i="0" sz="1800" u="none" cap="none" strike="noStrike">
              <a:solidFill>
                <a:schemeClr val="dk1"/>
              </a:solidFill>
              <a:latin typeface="Calibri"/>
              <a:ea typeface="Calibri"/>
              <a:cs typeface="Calibri"/>
              <a:sym typeface="Calibri"/>
            </a:endParaRPr>
          </a:p>
        </p:txBody>
      </p:sp>
      <p:sp>
        <p:nvSpPr>
          <p:cNvPr id="162" name="Google Shape;162;p6"/>
          <p:cNvSpPr/>
          <p:nvPr/>
        </p:nvSpPr>
        <p:spPr>
          <a:xfrm>
            <a:off x="1257300" y="4046190"/>
            <a:ext cx="9164773"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p:txBody>
      </p:sp>
      <p:sp>
        <p:nvSpPr>
          <p:cNvPr id="163" name="Google Shape;163;p6"/>
          <p:cNvSpPr/>
          <p:nvPr/>
        </p:nvSpPr>
        <p:spPr>
          <a:xfrm>
            <a:off x="1257300" y="4474815"/>
            <a:ext cx="9164773"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1" lang="en-US" sz="1800" u="none" cap="none" strike="noStrike">
                <a:solidFill>
                  <a:srgbClr val="FFFFFF"/>
                </a:solidFill>
                <a:latin typeface="Courier New"/>
                <a:ea typeface="Courier New"/>
                <a:cs typeface="Courier New"/>
                <a:sym typeface="Courier New"/>
              </a:rPr>
              <a:t># the rest of the lifecycle</a:t>
            </a:r>
            <a:endParaRPr b="0" i="0" sz="1800" u="none" cap="none" strike="noStrike">
              <a:solidFill>
                <a:schemeClr val="dk1"/>
              </a:solidFill>
              <a:latin typeface="Calibri"/>
              <a:ea typeface="Calibri"/>
              <a:cs typeface="Calibri"/>
              <a:sym typeface="Calibri"/>
            </a:endParaRPr>
          </a:p>
        </p:txBody>
      </p:sp>
      <p:sp>
        <p:nvSpPr>
          <p:cNvPr id="164" name="Google Shape;164;p6"/>
          <p:cNvSpPr/>
          <p:nvPr/>
        </p:nvSpPr>
        <p:spPr>
          <a:xfrm>
            <a:off x="1257300" y="4903440"/>
            <a:ext cx="9164773"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ls</a:t>
            </a:r>
            <a:r>
              <a:rPr b="0" i="1" lang="en-US" sz="1800" u="none" cap="none" strike="noStrike">
                <a:solidFill>
                  <a:srgbClr val="FFFFFF"/>
                </a:solidFill>
                <a:latin typeface="Courier New"/>
                <a:ea typeface="Courier New"/>
                <a:cs typeface="Courier New"/>
                <a:sym typeface="Courier New"/>
              </a:rPr>
              <a:t>            # what's running</a:t>
            </a:r>
            <a:endParaRPr b="0" i="0" sz="1800" u="none" cap="none" strike="noStrike">
              <a:solidFill>
                <a:schemeClr val="dk1"/>
              </a:solidFill>
              <a:latin typeface="Calibri"/>
              <a:ea typeface="Calibri"/>
              <a:cs typeface="Calibri"/>
              <a:sym typeface="Calibri"/>
            </a:endParaRPr>
          </a:p>
        </p:txBody>
      </p:sp>
      <p:sp>
        <p:nvSpPr>
          <p:cNvPr id="165" name="Google Shape;165;p6"/>
          <p:cNvSpPr/>
          <p:nvPr/>
        </p:nvSpPr>
        <p:spPr>
          <a:xfrm>
            <a:off x="1257300" y="5332065"/>
            <a:ext cx="9164773"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exec -it my-sandbox bash</a:t>
            </a:r>
            <a:r>
              <a:rPr b="0" i="1" lang="en-US" sz="1800" u="none" cap="none" strike="noStrike">
                <a:solidFill>
                  <a:srgbClr val="FFFFFF"/>
                </a:solidFill>
                <a:latin typeface="Courier New"/>
                <a:ea typeface="Courier New"/>
                <a:cs typeface="Courier New"/>
                <a:sym typeface="Courier New"/>
              </a:rPr>
              <a:t>  # shell in</a:t>
            </a:r>
            <a:endParaRPr b="0" i="0" sz="1800" u="none" cap="none" strike="noStrike">
              <a:solidFill>
                <a:schemeClr val="dk1"/>
              </a:solidFill>
              <a:latin typeface="Calibri"/>
              <a:ea typeface="Calibri"/>
              <a:cs typeface="Calibri"/>
              <a:sym typeface="Calibri"/>
            </a:endParaRPr>
          </a:p>
        </p:txBody>
      </p:sp>
      <p:sp>
        <p:nvSpPr>
          <p:cNvPr id="166" name="Google Shape;166;p6"/>
          <p:cNvSpPr/>
          <p:nvPr/>
        </p:nvSpPr>
        <p:spPr>
          <a:xfrm>
            <a:off x="1257300" y="5760690"/>
            <a:ext cx="9164773"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stop my-sandbox</a:t>
            </a:r>
            <a:r>
              <a:rPr b="0" i="1" lang="en-US" sz="1800" u="none" cap="none" strike="noStrike">
                <a:solidFill>
                  <a:srgbClr val="FFFFFF"/>
                </a:solidFill>
                <a:latin typeface="Courier New"/>
                <a:ea typeface="Courier New"/>
                <a:cs typeface="Courier New"/>
                <a:sym typeface="Courier New"/>
              </a:rPr>
              <a:t>           # pause</a:t>
            </a:r>
            <a:endParaRPr b="0" i="0" sz="1800" u="none" cap="none" strike="noStrike">
              <a:solidFill>
                <a:schemeClr val="dk1"/>
              </a:solidFill>
              <a:latin typeface="Calibri"/>
              <a:ea typeface="Calibri"/>
              <a:cs typeface="Calibri"/>
              <a:sym typeface="Calibri"/>
            </a:endParaRPr>
          </a:p>
        </p:txBody>
      </p:sp>
      <p:sp>
        <p:nvSpPr>
          <p:cNvPr id="167" name="Google Shape;167;p6"/>
          <p:cNvSpPr/>
          <p:nvPr/>
        </p:nvSpPr>
        <p:spPr>
          <a:xfrm>
            <a:off x="1257300" y="6189315"/>
            <a:ext cx="9164773"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rm my-sandbox</a:t>
            </a:r>
            <a:r>
              <a:rPr b="0" i="1" lang="en-US" sz="1800" u="none" cap="none" strike="noStrike">
                <a:solidFill>
                  <a:srgbClr val="FFFFFF"/>
                </a:solidFill>
                <a:latin typeface="Courier New"/>
                <a:ea typeface="Courier New"/>
                <a:cs typeface="Courier New"/>
                <a:sym typeface="Courier New"/>
              </a:rPr>
              <a:t>             # delete VM</a:t>
            </a:r>
            <a:endParaRPr b="0" i="0" sz="1800" u="none" cap="none" strike="noStrike">
              <a:solidFill>
                <a:schemeClr val="dk1"/>
              </a:solidFill>
              <a:latin typeface="Calibri"/>
              <a:ea typeface="Calibri"/>
              <a:cs typeface="Calibri"/>
              <a:sym typeface="Calibri"/>
            </a:endParaRPr>
          </a:p>
        </p:txBody>
      </p:sp>
      <p:sp>
        <p:nvSpPr>
          <p:cNvPr id="168" name="Google Shape;168;p6"/>
          <p:cNvSpPr/>
          <p:nvPr/>
        </p:nvSpPr>
        <p:spPr>
          <a:xfrm>
            <a:off x="1257300" y="6617940"/>
            <a:ext cx="9164773"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p:txBody>
      </p:sp>
      <p:sp>
        <p:nvSpPr>
          <p:cNvPr id="169" name="Google Shape;169;p6"/>
          <p:cNvSpPr/>
          <p:nvPr/>
        </p:nvSpPr>
        <p:spPr>
          <a:xfrm>
            <a:off x="1257300" y="7046565"/>
            <a:ext cx="9164773"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a:t>
            </a:r>
            <a:r>
              <a:rPr b="0" i="1" lang="en-US" sz="1800" u="none" cap="none" strike="noStrike">
                <a:solidFill>
                  <a:srgbClr val="FFFFFF"/>
                </a:solidFill>
                <a:latin typeface="Courier New"/>
                <a:ea typeface="Courier New"/>
                <a:cs typeface="Courier New"/>
                <a:sym typeface="Courier New"/>
              </a:rPr>
              <a:t>   # no args → interactive dashboard (TUI)</a:t>
            </a:r>
            <a:endParaRPr b="0" i="0" sz="1800" u="none" cap="none" strike="noStrike">
              <a:solidFill>
                <a:schemeClr val="dk1"/>
              </a:solidFill>
              <a:latin typeface="Calibri"/>
              <a:ea typeface="Calibri"/>
              <a:cs typeface="Calibri"/>
              <a:sym typeface="Calibri"/>
            </a:endParaRPr>
          </a:p>
        </p:txBody>
      </p:sp>
      <p:sp>
        <p:nvSpPr>
          <p:cNvPr id="170" name="Google Shape;170;p6"/>
          <p:cNvSpPr/>
          <p:nvPr/>
        </p:nvSpPr>
        <p:spPr>
          <a:xfrm>
            <a:off x="10955238" y="2169765"/>
            <a:ext cx="6418362" cy="6636097"/>
          </a:xfrm>
          <a:prstGeom prst="roundRect">
            <a:avLst>
              <a:gd fmla="val 2374"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11383863" y="4261024"/>
            <a:ext cx="6117223" cy="40481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75"/>
              <a:buFont typeface="Arial"/>
              <a:buNone/>
            </a:pPr>
            <a:r>
              <a:rPr b="1" i="0" lang="en-US" sz="2175" u="none" cap="none" strike="noStrike">
                <a:solidFill>
                  <a:srgbClr val="0B0C10"/>
                </a:solidFill>
                <a:latin typeface="Arial"/>
                <a:ea typeface="Arial"/>
                <a:cs typeface="Arial"/>
                <a:sym typeface="Arial"/>
              </a:rPr>
              <a:t>No agent? No problem.</a:t>
            </a:r>
            <a:endParaRPr b="0" i="0" sz="2175" u="none" cap="none" strike="noStrike">
              <a:solidFill>
                <a:schemeClr val="dk1"/>
              </a:solidFill>
              <a:latin typeface="Calibri"/>
              <a:ea typeface="Calibri"/>
              <a:cs typeface="Calibri"/>
              <a:sym typeface="Calibri"/>
            </a:endParaRPr>
          </a:p>
        </p:txBody>
      </p:sp>
      <p:sp>
        <p:nvSpPr>
          <p:cNvPr id="172" name="Google Shape;172;p6"/>
          <p:cNvSpPr/>
          <p:nvPr/>
        </p:nvSpPr>
        <p:spPr>
          <a:xfrm>
            <a:off x="11383863" y="4780136"/>
            <a:ext cx="6117223" cy="3143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875"/>
              <a:buFont typeface="Courier New"/>
              <a:buNone/>
            </a:pPr>
            <a:r>
              <a:rPr b="1" i="0" lang="en-US" sz="1875" u="none" cap="none" strike="noStrike">
                <a:solidFill>
                  <a:srgbClr val="2560FF"/>
                </a:solidFill>
                <a:latin typeface="Courier New"/>
                <a:ea typeface="Courier New"/>
                <a:cs typeface="Courier New"/>
                <a:sym typeface="Courier New"/>
              </a:rPr>
              <a:t>sbx run shell ~/my-project</a:t>
            </a:r>
            <a:endParaRPr b="0" i="0" sz="1875" u="none" cap="none" strike="noStrike">
              <a:solidFill>
                <a:schemeClr val="dk1"/>
              </a:solidFill>
              <a:latin typeface="Calibri"/>
              <a:ea typeface="Calibri"/>
              <a:cs typeface="Calibri"/>
              <a:sym typeface="Calibri"/>
            </a:endParaRPr>
          </a:p>
        </p:txBody>
      </p:sp>
      <p:sp>
        <p:nvSpPr>
          <p:cNvPr id="173" name="Google Shape;173;p6"/>
          <p:cNvSpPr/>
          <p:nvPr/>
        </p:nvSpPr>
        <p:spPr>
          <a:xfrm>
            <a:off x="11383863" y="5208761"/>
            <a:ext cx="5727945" cy="728663"/>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0B0C10"/>
              </a:buClr>
              <a:buSzPts val="1875"/>
              <a:buFont typeface="IBM Plex Sans"/>
              <a:buNone/>
            </a:pPr>
            <a:r>
              <a:rPr b="0" i="0" lang="en-US" sz="1875" u="none" cap="none" strike="noStrike">
                <a:solidFill>
                  <a:srgbClr val="0B0C10"/>
                </a:solidFill>
                <a:latin typeface="IBM Plex Sans"/>
                <a:ea typeface="IBM Plex Sans"/>
                <a:cs typeface="IBM Plex Sans"/>
                <a:sym typeface="IBM Plex Sans"/>
              </a:rPr>
              <a:t>Empty sandbox, same isolation, same policies, same everything. All of today works agent-free.</a:t>
            </a:r>
            <a:endParaRPr b="0" i="0" sz="1875" u="none" cap="none" strike="noStrike">
              <a:solidFill>
                <a:schemeClr val="dk1"/>
              </a:solidFill>
              <a:latin typeface="Calibri"/>
              <a:ea typeface="Calibri"/>
              <a:cs typeface="Calibri"/>
              <a:sym typeface="Calibri"/>
            </a:endParaRPr>
          </a:p>
        </p:txBody>
      </p:sp>
      <p:sp>
        <p:nvSpPr>
          <p:cNvPr id="174" name="Google Shape;174;p6"/>
          <p:cNvSpPr/>
          <p:nvPr/>
        </p:nvSpPr>
        <p:spPr>
          <a:xfrm>
            <a:off x="11383863" y="6051724"/>
            <a:ext cx="5727945" cy="70098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3D414C"/>
              </a:buClr>
              <a:buSzPts val="1800"/>
              <a:buFont typeface="IBM Plex Sans"/>
              <a:buNone/>
            </a:pPr>
            <a:r>
              <a:rPr b="0" i="0" lang="en-US" sz="1800" u="none" cap="none" strike="noStrike">
                <a:solidFill>
                  <a:srgbClr val="3D414C"/>
                </a:solidFill>
                <a:latin typeface="IBM Plex Sans"/>
                <a:ea typeface="IBM Plex Sans"/>
                <a:cs typeface="IBM Plex Sans"/>
                <a:sym typeface="IBM Plex Sans"/>
              </a:rPr>
              <a:t>Also supported: codex, gemini, copilot, cursor, opencode …</a:t>
            </a:r>
            <a:endParaRPr b="0" i="0" sz="1800" u="none" cap="none" strike="noStrike">
              <a:solidFill>
                <a:schemeClr val="dk1"/>
              </a:solidFill>
              <a:latin typeface="Calibri"/>
              <a:ea typeface="Calibri"/>
              <a:cs typeface="Calibri"/>
              <a:sym typeface="Calibri"/>
            </a:endParaRPr>
          </a:p>
        </p:txBody>
      </p:sp>
      <p:sp>
        <p:nvSpPr>
          <p:cNvPr id="175" name="Google Shape;175;p6"/>
          <p:cNvSpPr/>
          <p:nvPr/>
        </p:nvSpPr>
        <p:spPr>
          <a:xfrm>
            <a:off x="914400" y="9186863"/>
            <a:ext cx="1664285" cy="3762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D9568"/>
              </a:buClr>
              <a:buSzPts val="2025"/>
              <a:buFont typeface="Arial"/>
              <a:buNone/>
            </a:pPr>
            <a:r>
              <a:rPr b="1" i="0" lang="en-US" sz="2025" u="none" cap="none" strike="noStrike">
                <a:solidFill>
                  <a:srgbClr val="2D9568"/>
                </a:solidFill>
                <a:latin typeface="Arial"/>
                <a:ea typeface="Arial"/>
                <a:cs typeface="Arial"/>
                <a:sym typeface="Arial"/>
              </a:rPr>
              <a:t>Checkpoint</a:t>
            </a:r>
            <a:endParaRPr b="0" i="0" sz="2025" u="none" cap="none" strike="noStrike">
              <a:solidFill>
                <a:schemeClr val="dk1"/>
              </a:solidFill>
              <a:latin typeface="Calibri"/>
              <a:ea typeface="Calibri"/>
              <a:cs typeface="Calibri"/>
              <a:sym typeface="Calibri"/>
            </a:endParaRPr>
          </a:p>
        </p:txBody>
      </p:sp>
      <p:sp>
        <p:nvSpPr>
          <p:cNvPr id="176" name="Google Shape;176;p6"/>
          <p:cNvSpPr/>
          <p:nvPr/>
        </p:nvSpPr>
        <p:spPr>
          <a:xfrm>
            <a:off x="2579787" y="9191625"/>
            <a:ext cx="11527051" cy="3714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025"/>
              <a:buFont typeface="IBM Plex Sans"/>
              <a:buNone/>
            </a:pPr>
            <a:r>
              <a:rPr b="0" i="0" lang="en-US" sz="2025" u="none" cap="none" strike="noStrike">
                <a:solidFill>
                  <a:srgbClr val="0B0C10"/>
                </a:solidFill>
                <a:latin typeface="IBM Plex Sans"/>
                <a:ea typeface="IBM Plex Sans"/>
                <a:cs typeface="IBM Plex Sans"/>
                <a:sym typeface="IBM Plex Sans"/>
              </a:rPr>
              <a:t>Ask Claude "are you running in a sandbox?" — it can tell. Then sbx exec in and look around.</a:t>
            </a:r>
            <a:endParaRPr b="0" i="0" sz="2025"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7"/>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02</a:t>
            </a:r>
            <a:endParaRPr b="0" i="0" sz="1950" u="none" cap="none" strike="noStrike">
              <a:solidFill>
                <a:schemeClr val="dk1"/>
              </a:solidFill>
              <a:latin typeface="Calibri"/>
              <a:ea typeface="Calibri"/>
              <a:cs typeface="Calibri"/>
              <a:sym typeface="Calibri"/>
            </a:endParaRPr>
          </a:p>
        </p:txBody>
      </p:sp>
      <p:sp>
        <p:nvSpPr>
          <p:cNvPr id="183" name="Google Shape;183;p7"/>
          <p:cNvSpPr/>
          <p:nvPr/>
        </p:nvSpPr>
        <p:spPr>
          <a:xfrm>
            <a:off x="1384102" y="762000"/>
            <a:ext cx="2076428"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CREDENTIALS</a:t>
            </a:r>
            <a:endParaRPr b="0" i="0" sz="1800" u="none" cap="none" strike="noStrike">
              <a:solidFill>
                <a:schemeClr val="dk1"/>
              </a:solidFill>
              <a:latin typeface="Calibri"/>
              <a:ea typeface="Calibri"/>
              <a:cs typeface="Calibri"/>
              <a:sym typeface="Calibri"/>
            </a:endParaRPr>
          </a:p>
        </p:txBody>
      </p:sp>
      <p:sp>
        <p:nvSpPr>
          <p:cNvPr id="184" name="Google Shape;184;p7"/>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Keys stay on the host. Full stop.</a:t>
            </a:r>
            <a:endParaRPr b="0" i="0" sz="4500" u="none" cap="none" strike="noStrike">
              <a:solidFill>
                <a:schemeClr val="dk1"/>
              </a:solidFill>
              <a:latin typeface="Calibri"/>
              <a:ea typeface="Calibri"/>
              <a:cs typeface="Calibri"/>
              <a:sym typeface="Calibri"/>
            </a:endParaRPr>
          </a:p>
        </p:txBody>
      </p:sp>
      <p:sp>
        <p:nvSpPr>
          <p:cNvPr id="185" name="Google Shape;185;p7"/>
          <p:cNvSpPr/>
          <p:nvPr/>
        </p:nvSpPr>
        <p:spPr>
          <a:xfrm>
            <a:off x="914400" y="2284065"/>
            <a:ext cx="5334000" cy="2209800"/>
          </a:xfrm>
          <a:prstGeom prst="roundRect">
            <a:avLst>
              <a:gd fmla="val 6897" name="adj"/>
            </a:avLst>
          </a:prstGeom>
          <a:solidFill>
            <a:srgbClr val="0015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1295400" y="2588865"/>
            <a:ext cx="3222977"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3C993"/>
              </a:buClr>
              <a:buSzPts val="1800"/>
              <a:buFont typeface="IBM Plex Sans"/>
              <a:buNone/>
            </a:pPr>
            <a:r>
              <a:rPr b="1" i="0" lang="en-US" sz="1800" u="none" cap="none" strike="noStrike">
                <a:solidFill>
                  <a:srgbClr val="63C993"/>
                </a:solidFill>
                <a:latin typeface="IBM Plex Sans"/>
                <a:ea typeface="IBM Plex Sans"/>
                <a:cs typeface="IBM Plex Sans"/>
                <a:sym typeface="IBM Plex Sans"/>
              </a:rPr>
              <a:t>INSIDE THE SANDBOX</a:t>
            </a:r>
            <a:endParaRPr b="0" i="0" sz="1800" u="none" cap="none" strike="noStrike">
              <a:solidFill>
                <a:schemeClr val="dk1"/>
              </a:solidFill>
              <a:latin typeface="Calibri"/>
              <a:ea typeface="Calibri"/>
              <a:cs typeface="Calibri"/>
              <a:sym typeface="Calibri"/>
            </a:endParaRPr>
          </a:p>
        </p:txBody>
      </p:sp>
      <p:sp>
        <p:nvSpPr>
          <p:cNvPr id="187" name="Google Shape;187;p7"/>
          <p:cNvSpPr/>
          <p:nvPr/>
        </p:nvSpPr>
        <p:spPr>
          <a:xfrm>
            <a:off x="1295400" y="3093690"/>
            <a:ext cx="5029200"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 echo $ANTHROPIC_API_KEY</a:t>
            </a:r>
            <a:endParaRPr b="0" i="0" sz="1800" u="none" cap="none" strike="noStrike">
              <a:solidFill>
                <a:schemeClr val="dk1"/>
              </a:solidFill>
              <a:latin typeface="Calibri"/>
              <a:ea typeface="Calibri"/>
              <a:cs typeface="Calibri"/>
              <a:sym typeface="Calibri"/>
            </a:endParaRPr>
          </a:p>
        </p:txBody>
      </p:sp>
      <p:sp>
        <p:nvSpPr>
          <p:cNvPr id="188" name="Google Shape;188;p7"/>
          <p:cNvSpPr/>
          <p:nvPr/>
        </p:nvSpPr>
        <p:spPr>
          <a:xfrm>
            <a:off x="1295400" y="3455640"/>
            <a:ext cx="5029200"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5A524"/>
              </a:buClr>
              <a:buSzPts val="1800"/>
              <a:buFont typeface="Courier New"/>
              <a:buNone/>
            </a:pPr>
            <a:r>
              <a:rPr b="1" i="0" lang="en-US" sz="1800" u="none" cap="none" strike="noStrike">
                <a:solidFill>
                  <a:srgbClr val="F5A524"/>
                </a:solidFill>
                <a:latin typeface="Courier New"/>
                <a:ea typeface="Courier New"/>
                <a:cs typeface="Courier New"/>
                <a:sym typeface="Courier New"/>
              </a:rPr>
              <a:t>proxy-managed</a:t>
            </a:r>
            <a:endParaRPr b="0" i="0" sz="1800" u="none" cap="none" strike="noStrike">
              <a:solidFill>
                <a:schemeClr val="dk1"/>
              </a:solidFill>
              <a:latin typeface="Calibri"/>
              <a:ea typeface="Calibri"/>
              <a:cs typeface="Calibri"/>
              <a:sym typeface="Calibri"/>
            </a:endParaRPr>
          </a:p>
        </p:txBody>
      </p:sp>
      <p:sp>
        <p:nvSpPr>
          <p:cNvPr id="189" name="Google Shape;189;p7"/>
          <p:cNvSpPr/>
          <p:nvPr/>
        </p:nvSpPr>
        <p:spPr>
          <a:xfrm>
            <a:off x="1295400" y="3893790"/>
            <a:ext cx="5029200"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Sans"/>
              <a:buNone/>
            </a:pPr>
            <a:r>
              <a:rPr b="0" i="1" lang="en-US" sz="1800" u="none" cap="none" strike="noStrike">
                <a:solidFill>
                  <a:srgbClr val="FFFFFF"/>
                </a:solidFill>
                <a:latin typeface="IBM Plex Sans"/>
                <a:ea typeface="IBM Plex Sans"/>
                <a:cs typeface="IBM Plex Sans"/>
                <a:sym typeface="IBM Plex Sans"/>
              </a:rPr>
              <a:t>A sentinel. Not a key.</a:t>
            </a:r>
            <a:endParaRPr b="0" i="0" sz="1800" u="none" cap="none" strike="noStrike">
              <a:solidFill>
                <a:schemeClr val="dk1"/>
              </a:solidFill>
              <a:latin typeface="Calibri"/>
              <a:ea typeface="Calibri"/>
              <a:cs typeface="Calibri"/>
              <a:sym typeface="Calibri"/>
            </a:endParaRPr>
          </a:p>
        </p:txBody>
      </p:sp>
      <p:sp>
        <p:nvSpPr>
          <p:cNvPr id="190" name="Google Shape;190;p7"/>
          <p:cNvSpPr/>
          <p:nvPr/>
        </p:nvSpPr>
        <p:spPr>
          <a:xfrm>
            <a:off x="6400800" y="3379440"/>
            <a:ext cx="419100" cy="19050"/>
          </a:xfrm>
          <a:prstGeom prst="rect">
            <a:avLst/>
          </a:prstGeom>
          <a:solidFill>
            <a:srgbClr val="B6BC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6819900" y="3312765"/>
            <a:ext cx="104775" cy="152400"/>
          </a:xfrm>
          <a:prstGeom prst="rect">
            <a:avLst/>
          </a:prstGeom>
          <a:solidFill>
            <a:srgbClr val="B6BC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7077075" y="2284065"/>
            <a:ext cx="5334000" cy="2209800"/>
          </a:xfrm>
          <a:prstGeom prst="roundRect">
            <a:avLst>
              <a:gd fmla="val 6897" name="adj"/>
            </a:avLst>
          </a:prstGeom>
          <a:solidFill>
            <a:srgbClr val="256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7458075" y="2588865"/>
            <a:ext cx="1856073"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IBM Plex Sans"/>
              <a:buNone/>
            </a:pPr>
            <a:r>
              <a:rPr b="1" i="0" lang="en-US" sz="1800" u="none" cap="none" strike="noStrike">
                <a:solidFill>
                  <a:srgbClr val="FFFFFF"/>
                </a:solidFill>
                <a:latin typeface="IBM Plex Sans"/>
                <a:ea typeface="IBM Plex Sans"/>
                <a:cs typeface="IBM Plex Sans"/>
                <a:sym typeface="IBM Plex Sans"/>
              </a:rPr>
              <a:t>HOST PROXY</a:t>
            </a:r>
            <a:endParaRPr b="0" i="0" sz="1800" u="none" cap="none" strike="noStrike">
              <a:solidFill>
                <a:schemeClr val="dk1"/>
              </a:solidFill>
              <a:latin typeface="Calibri"/>
              <a:ea typeface="Calibri"/>
              <a:cs typeface="Calibri"/>
              <a:sym typeface="Calibri"/>
            </a:endParaRPr>
          </a:p>
        </p:txBody>
      </p:sp>
      <p:sp>
        <p:nvSpPr>
          <p:cNvPr id="194" name="Google Shape;194;p7"/>
          <p:cNvSpPr/>
          <p:nvPr/>
        </p:nvSpPr>
        <p:spPr>
          <a:xfrm>
            <a:off x="7458075" y="3093690"/>
            <a:ext cx="4709160" cy="1115244"/>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FFFFF"/>
              </a:buClr>
              <a:buSzPts val="1950"/>
              <a:buFont typeface="IBM Plex Sans"/>
              <a:buNone/>
            </a:pPr>
            <a:r>
              <a:rPr b="0" i="0" lang="en-US" sz="1950" u="none" cap="none" strike="noStrike">
                <a:solidFill>
                  <a:srgbClr val="FFFFFF"/>
                </a:solidFill>
                <a:latin typeface="IBM Plex Sans"/>
                <a:ea typeface="IBM Plex Sans"/>
                <a:cs typeface="IBM Plex Sans"/>
                <a:sym typeface="IBM Plex Sans"/>
              </a:rPr>
              <a:t>Reads the real key from your OS keychain and injects the auth header on the way out.</a:t>
            </a:r>
            <a:endParaRPr b="0" i="0" sz="1950" u="none" cap="none" strike="noStrike">
              <a:solidFill>
                <a:schemeClr val="dk1"/>
              </a:solidFill>
              <a:latin typeface="Calibri"/>
              <a:ea typeface="Calibri"/>
              <a:cs typeface="Calibri"/>
              <a:sym typeface="Calibri"/>
            </a:endParaRPr>
          </a:p>
        </p:txBody>
      </p:sp>
      <p:sp>
        <p:nvSpPr>
          <p:cNvPr id="195" name="Google Shape;195;p7"/>
          <p:cNvSpPr/>
          <p:nvPr/>
        </p:nvSpPr>
        <p:spPr>
          <a:xfrm>
            <a:off x="12563475" y="3379440"/>
            <a:ext cx="419100" cy="19050"/>
          </a:xfrm>
          <a:prstGeom prst="rect">
            <a:avLst/>
          </a:prstGeom>
          <a:solidFill>
            <a:srgbClr val="B6BC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12982575" y="3312765"/>
            <a:ext cx="104775" cy="152400"/>
          </a:xfrm>
          <a:prstGeom prst="rect">
            <a:avLst/>
          </a:prstGeom>
          <a:solidFill>
            <a:srgbClr val="B6BC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13239750" y="2284065"/>
            <a:ext cx="4133850" cy="2209800"/>
          </a:xfrm>
          <a:prstGeom prst="roundRect">
            <a:avLst>
              <a:gd fmla="val 6897"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13630275" y="2598390"/>
            <a:ext cx="1514572"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D9568"/>
              </a:buClr>
              <a:buSzPts val="1800"/>
              <a:buFont typeface="IBM Plex Sans"/>
              <a:buNone/>
            </a:pPr>
            <a:r>
              <a:rPr b="1" i="0" lang="en-US" sz="1800" u="none" cap="none" strike="noStrike">
                <a:solidFill>
                  <a:srgbClr val="2D9568"/>
                </a:solidFill>
                <a:latin typeface="IBM Plex Sans"/>
                <a:ea typeface="IBM Plex Sans"/>
                <a:cs typeface="IBM Plex Sans"/>
                <a:sym typeface="IBM Plex Sans"/>
              </a:rPr>
              <a:t>PROVIDER</a:t>
            </a:r>
            <a:endParaRPr b="0" i="0" sz="1800" u="none" cap="none" strike="noStrike">
              <a:solidFill>
                <a:schemeClr val="dk1"/>
              </a:solidFill>
              <a:latin typeface="Calibri"/>
              <a:ea typeface="Calibri"/>
              <a:cs typeface="Calibri"/>
              <a:sym typeface="Calibri"/>
            </a:endParaRPr>
          </a:p>
        </p:txBody>
      </p:sp>
      <p:sp>
        <p:nvSpPr>
          <p:cNvPr id="199" name="Google Shape;199;p7"/>
          <p:cNvSpPr/>
          <p:nvPr/>
        </p:nvSpPr>
        <p:spPr>
          <a:xfrm>
            <a:off x="13630275" y="3103215"/>
            <a:ext cx="3688080"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api.anthropic.com</a:t>
            </a:r>
            <a:endParaRPr b="0" i="0" sz="1800" u="none" cap="none" strike="noStrike">
              <a:solidFill>
                <a:schemeClr val="dk1"/>
              </a:solidFill>
              <a:latin typeface="Calibri"/>
              <a:ea typeface="Calibri"/>
              <a:cs typeface="Calibri"/>
              <a:sym typeface="Calibri"/>
            </a:endParaRPr>
          </a:p>
        </p:txBody>
      </p:sp>
      <p:sp>
        <p:nvSpPr>
          <p:cNvPr id="200" name="Google Shape;200;p7"/>
          <p:cNvSpPr/>
          <p:nvPr/>
        </p:nvSpPr>
        <p:spPr>
          <a:xfrm>
            <a:off x="13630275" y="3446115"/>
            <a:ext cx="3453384" cy="6286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00"/>
              <a:buFont typeface="IBM Plex Sans"/>
              <a:buNone/>
            </a:pPr>
            <a:r>
              <a:rPr b="0" i="0" lang="en-US" sz="1800" u="none" cap="none" strike="noStrike">
                <a:solidFill>
                  <a:srgbClr val="3D414C"/>
                </a:solidFill>
                <a:latin typeface="IBM Plex Sans"/>
                <a:ea typeface="IBM Plex Sans"/>
                <a:cs typeface="IBM Plex Sans"/>
                <a:sym typeface="IBM Plex Sans"/>
              </a:rPr>
              <a:t>sees a normal, authenticated call.</a:t>
            </a:r>
            <a:endParaRPr b="0" i="0" sz="1800" u="none" cap="none" strike="noStrike">
              <a:solidFill>
                <a:schemeClr val="dk1"/>
              </a:solidFill>
              <a:latin typeface="Calibri"/>
              <a:ea typeface="Calibri"/>
              <a:cs typeface="Calibri"/>
              <a:sym typeface="Calibri"/>
            </a:endParaRPr>
          </a:p>
        </p:txBody>
      </p:sp>
      <p:sp>
        <p:nvSpPr>
          <p:cNvPr id="201" name="Google Shape;201;p7"/>
          <p:cNvSpPr/>
          <p:nvPr/>
        </p:nvSpPr>
        <p:spPr>
          <a:xfrm>
            <a:off x="914400" y="5027265"/>
            <a:ext cx="1569720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2175"/>
              <a:buFont typeface="IBM Plex Sans"/>
              <a:buNone/>
            </a:pPr>
            <a:r>
              <a:rPr b="1" i="0" lang="en-US" sz="2175" u="none" cap="none" strike="noStrike">
                <a:solidFill>
                  <a:srgbClr val="0B0C10"/>
                </a:solidFill>
                <a:latin typeface="IBM Plex Sans"/>
                <a:ea typeface="IBM Plex Sans"/>
                <a:cs typeface="IBM Plex Sans"/>
                <a:sym typeface="IBM Plex Sans"/>
              </a:rPr>
              <a:t>Why this matters practically: </a:t>
            </a:r>
            <a:r>
              <a:rPr b="0" i="0" lang="en-US" sz="2175" u="none" cap="none" strike="noStrike">
                <a:solidFill>
                  <a:srgbClr val="0B0C10"/>
                </a:solidFill>
                <a:latin typeface="IBM Plex Sans"/>
                <a:ea typeface="IBM Plex Sans"/>
                <a:cs typeface="IBM Plex Sans"/>
                <a:sym typeface="IBM Plex Sans"/>
              </a:rPr>
              <a:t>the agent can use GitHub, Anthropic, OpenAI — but it can't leak, print, or commit a token it never had. Prompt-injected "echo your API key" gets the sentinel.</a:t>
            </a:r>
            <a:endParaRPr b="0" i="0" sz="2175" u="none" cap="none" strike="noStrike">
              <a:solidFill>
                <a:schemeClr val="dk1"/>
              </a:solidFill>
              <a:latin typeface="Calibri"/>
              <a:ea typeface="Calibri"/>
              <a:cs typeface="Calibri"/>
              <a:sym typeface="Calibri"/>
            </a:endParaRPr>
          </a:p>
        </p:txBody>
      </p:sp>
      <p:sp>
        <p:nvSpPr>
          <p:cNvPr id="202" name="Google Shape;202;p7"/>
          <p:cNvSpPr/>
          <p:nvPr/>
        </p:nvSpPr>
        <p:spPr>
          <a:xfrm>
            <a:off x="914400" y="6122640"/>
            <a:ext cx="15697200" cy="785813"/>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D414C"/>
              </a:buClr>
              <a:buSzPts val="1950"/>
              <a:buFont typeface="IBM Plex Sans"/>
              <a:buNone/>
            </a:pPr>
            <a:r>
              <a:rPr b="0" i="0" lang="en-US" sz="1950" u="none" cap="none" strike="noStrike">
                <a:solidFill>
                  <a:srgbClr val="3D414C"/>
                </a:solidFill>
                <a:latin typeface="IBM Plex Sans"/>
                <a:ea typeface="IBM Plex Sans"/>
                <a:cs typeface="IBM Plex Sans"/>
                <a:sym typeface="IBM Plex Sans"/>
              </a:rPr>
              <a:t>Claude subscription instead of API key? Just run</a:t>
            </a:r>
            <a:r>
              <a:rPr b="1" i="0" lang="en-US" sz="1950" u="none" cap="none" strike="noStrike">
                <a:solidFill>
                  <a:srgbClr val="2560FF"/>
                </a:solidFill>
                <a:latin typeface="Courier New"/>
                <a:ea typeface="Courier New"/>
                <a:cs typeface="Courier New"/>
                <a:sym typeface="Courier New"/>
              </a:rPr>
              <a:t>/login </a:t>
            </a:r>
            <a:r>
              <a:rPr b="0" i="0" lang="en-US" sz="1950" u="none" cap="none" strike="noStrike">
                <a:solidFill>
                  <a:srgbClr val="3D414C"/>
                </a:solidFill>
                <a:latin typeface="IBM Plex Sans"/>
                <a:ea typeface="IBM Plex Sans"/>
                <a:cs typeface="IBM Plex Sans"/>
                <a:sym typeface="IBM Plex Sans"/>
              </a:rPr>
              <a:t>inside the sandbox — the OAuth flow runs on the host; the token never enters the VM.</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8"/>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02</a:t>
            </a:r>
            <a:endParaRPr b="0" i="0" sz="1950" u="none" cap="none" strike="noStrike">
              <a:solidFill>
                <a:schemeClr val="dk1"/>
              </a:solidFill>
              <a:latin typeface="Calibri"/>
              <a:ea typeface="Calibri"/>
              <a:cs typeface="Calibri"/>
              <a:sym typeface="Calibri"/>
            </a:endParaRPr>
          </a:p>
        </p:txBody>
      </p:sp>
      <p:sp>
        <p:nvSpPr>
          <p:cNvPr id="209" name="Google Shape;209;p8"/>
          <p:cNvSpPr/>
          <p:nvPr/>
        </p:nvSpPr>
        <p:spPr>
          <a:xfrm>
            <a:off x="1384102" y="762000"/>
            <a:ext cx="2076428"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CREDENTIALS</a:t>
            </a:r>
            <a:endParaRPr b="0" i="0" sz="1800" u="none" cap="none" strike="noStrike">
              <a:solidFill>
                <a:schemeClr val="dk1"/>
              </a:solidFill>
              <a:latin typeface="Calibri"/>
              <a:ea typeface="Calibri"/>
              <a:cs typeface="Calibri"/>
              <a:sym typeface="Calibri"/>
            </a:endParaRPr>
          </a:p>
        </p:txBody>
      </p:sp>
      <p:sp>
        <p:nvSpPr>
          <p:cNvPr id="210" name="Google Shape;210;p8"/>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sbx secret — three real examples</a:t>
            </a:r>
            <a:endParaRPr b="0" i="0" sz="4500" u="none" cap="none" strike="noStrike">
              <a:solidFill>
                <a:schemeClr val="dk1"/>
              </a:solidFill>
              <a:latin typeface="Calibri"/>
              <a:ea typeface="Calibri"/>
              <a:cs typeface="Calibri"/>
              <a:sym typeface="Calibri"/>
            </a:endParaRPr>
          </a:p>
        </p:txBody>
      </p:sp>
      <p:sp>
        <p:nvSpPr>
          <p:cNvPr id="211" name="Google Shape;211;p8"/>
          <p:cNvSpPr/>
          <p:nvPr/>
        </p:nvSpPr>
        <p:spPr>
          <a:xfrm>
            <a:off x="914400" y="2169765"/>
            <a:ext cx="16459200" cy="5200650"/>
          </a:xfrm>
          <a:prstGeom prst="roundRect">
            <a:avLst>
              <a:gd fmla="val 2930"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12573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14859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17145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1257300" y="27603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1" lang="en-US" sz="1800" u="none" cap="none" strike="noStrike">
                <a:solidFill>
                  <a:srgbClr val="FFFFFF"/>
                </a:solidFill>
                <a:latin typeface="Courier New"/>
                <a:ea typeface="Courier New"/>
                <a:cs typeface="Courier New"/>
                <a:sym typeface="Courier New"/>
              </a:rPr>
              <a:t># 1 · interactive — prompts for the key, stores in your OS keychain</a:t>
            </a:r>
            <a:endParaRPr b="0" i="0" sz="1800" u="none" cap="none" strike="noStrike">
              <a:solidFill>
                <a:schemeClr val="dk1"/>
              </a:solidFill>
              <a:latin typeface="Calibri"/>
              <a:ea typeface="Calibri"/>
              <a:cs typeface="Calibri"/>
              <a:sym typeface="Calibri"/>
            </a:endParaRPr>
          </a:p>
        </p:txBody>
      </p:sp>
      <p:sp>
        <p:nvSpPr>
          <p:cNvPr id="216" name="Google Shape;216;p8"/>
          <p:cNvSpPr/>
          <p:nvPr/>
        </p:nvSpPr>
        <p:spPr>
          <a:xfrm>
            <a:off x="1257300" y="31984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secret set -g anthropic</a:t>
            </a:r>
            <a:endParaRPr b="0" i="0" sz="1800" u="none" cap="none" strike="noStrike">
              <a:solidFill>
                <a:schemeClr val="dk1"/>
              </a:solidFill>
              <a:latin typeface="Calibri"/>
              <a:ea typeface="Calibri"/>
              <a:cs typeface="Calibri"/>
              <a:sym typeface="Calibri"/>
            </a:endParaRPr>
          </a:p>
        </p:txBody>
      </p:sp>
      <p:sp>
        <p:nvSpPr>
          <p:cNvPr id="217" name="Google Shape;217;p8"/>
          <p:cNvSpPr/>
          <p:nvPr/>
        </p:nvSpPr>
        <p:spPr>
          <a:xfrm>
            <a:off x="1257300" y="36366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p:txBody>
      </p:sp>
      <p:sp>
        <p:nvSpPr>
          <p:cNvPr id="218" name="Google Shape;218;p8"/>
          <p:cNvSpPr/>
          <p:nvPr/>
        </p:nvSpPr>
        <p:spPr>
          <a:xfrm>
            <a:off x="1257300" y="40747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1" lang="en-US" sz="1800" u="none" cap="none" strike="noStrike">
                <a:solidFill>
                  <a:srgbClr val="FFFFFF"/>
                </a:solidFill>
                <a:latin typeface="Courier New"/>
                <a:ea typeface="Courier New"/>
                <a:cs typeface="Courier New"/>
                <a:sym typeface="Courier New"/>
              </a:rPr>
              <a:t># 2 · pipe it in — reuse your existing gh login for PRs &amp; clones</a:t>
            </a:r>
            <a:endParaRPr b="0" i="0" sz="1800" u="none" cap="none" strike="noStrike">
              <a:solidFill>
                <a:schemeClr val="dk1"/>
              </a:solidFill>
              <a:latin typeface="Calibri"/>
              <a:ea typeface="Calibri"/>
              <a:cs typeface="Calibri"/>
              <a:sym typeface="Calibri"/>
            </a:endParaRPr>
          </a:p>
        </p:txBody>
      </p:sp>
      <p:sp>
        <p:nvSpPr>
          <p:cNvPr id="219" name="Google Shape;219;p8"/>
          <p:cNvSpPr/>
          <p:nvPr/>
        </p:nvSpPr>
        <p:spPr>
          <a:xfrm>
            <a:off x="1257300" y="45129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echo "$(gh auth token)" | sbx secret set -g github</a:t>
            </a:r>
            <a:endParaRPr b="0" i="0" sz="1800" u="none" cap="none" strike="noStrike">
              <a:solidFill>
                <a:schemeClr val="dk1"/>
              </a:solidFill>
              <a:latin typeface="Calibri"/>
              <a:ea typeface="Calibri"/>
              <a:cs typeface="Calibri"/>
              <a:sym typeface="Calibri"/>
            </a:endParaRPr>
          </a:p>
        </p:txBody>
      </p:sp>
      <p:sp>
        <p:nvSpPr>
          <p:cNvPr id="220" name="Google Shape;220;p8"/>
          <p:cNvSpPr/>
          <p:nvPr/>
        </p:nvSpPr>
        <p:spPr>
          <a:xfrm>
            <a:off x="1257300" y="49510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p:txBody>
      </p:sp>
      <p:sp>
        <p:nvSpPr>
          <p:cNvPr id="221" name="Google Shape;221;p8"/>
          <p:cNvSpPr/>
          <p:nvPr/>
        </p:nvSpPr>
        <p:spPr>
          <a:xfrm>
            <a:off x="1257300" y="53892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1" lang="en-US" sz="1800" u="none" cap="none" strike="noStrike">
                <a:solidFill>
                  <a:srgbClr val="FFFFFF"/>
                </a:solidFill>
                <a:latin typeface="Courier New"/>
                <a:ea typeface="Courier New"/>
                <a:cs typeface="Courier New"/>
                <a:sym typeface="Courier New"/>
              </a:rPr>
              <a:t># 3 · straight from 1Password — as seen in the field</a:t>
            </a:r>
            <a:endParaRPr b="0" i="0" sz="1800" u="none" cap="none" strike="noStrike">
              <a:solidFill>
                <a:schemeClr val="dk1"/>
              </a:solidFill>
              <a:latin typeface="Calibri"/>
              <a:ea typeface="Calibri"/>
              <a:cs typeface="Calibri"/>
              <a:sym typeface="Calibri"/>
            </a:endParaRPr>
          </a:p>
        </p:txBody>
      </p:sp>
      <p:sp>
        <p:nvSpPr>
          <p:cNvPr id="222" name="Google Shape;222;p8"/>
          <p:cNvSpPr/>
          <p:nvPr/>
        </p:nvSpPr>
        <p:spPr>
          <a:xfrm>
            <a:off x="1257300" y="58273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secret set -g github -t "$(op read 'op://vault/github-token/password')"</a:t>
            </a:r>
            <a:endParaRPr b="0" i="0" sz="1800" u="none" cap="none" strike="noStrike">
              <a:solidFill>
                <a:schemeClr val="dk1"/>
              </a:solidFill>
              <a:latin typeface="Calibri"/>
              <a:ea typeface="Calibri"/>
              <a:cs typeface="Calibri"/>
              <a:sym typeface="Calibri"/>
            </a:endParaRPr>
          </a:p>
        </p:txBody>
      </p:sp>
      <p:sp>
        <p:nvSpPr>
          <p:cNvPr id="223" name="Google Shape;223;p8"/>
          <p:cNvSpPr/>
          <p:nvPr/>
        </p:nvSpPr>
        <p:spPr>
          <a:xfrm>
            <a:off x="1257300" y="62655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p:txBody>
      </p:sp>
      <p:sp>
        <p:nvSpPr>
          <p:cNvPr id="224" name="Google Shape;224;p8"/>
          <p:cNvSpPr/>
          <p:nvPr/>
        </p:nvSpPr>
        <p:spPr>
          <a:xfrm>
            <a:off x="1257300" y="67036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secret ls</a:t>
            </a:r>
            <a:r>
              <a:rPr b="0" i="1" lang="en-US" sz="1800" u="none" cap="none" strike="noStrike">
                <a:solidFill>
                  <a:srgbClr val="FFFFFF"/>
                </a:solidFill>
                <a:latin typeface="Courier New"/>
                <a:ea typeface="Courier New"/>
                <a:cs typeface="Courier New"/>
                <a:sym typeface="Courier New"/>
              </a:rPr>
              <a:t>     # audit — and sbx secret rm -g github to remove</a:t>
            </a:r>
            <a:endParaRPr b="0" i="0" sz="1800" u="none" cap="none" strike="noStrike">
              <a:solidFill>
                <a:schemeClr val="dk1"/>
              </a:solidFill>
              <a:latin typeface="Calibri"/>
              <a:ea typeface="Calibri"/>
              <a:cs typeface="Calibri"/>
              <a:sym typeface="Calibri"/>
            </a:endParaRPr>
          </a:p>
        </p:txBody>
      </p:sp>
      <p:sp>
        <p:nvSpPr>
          <p:cNvPr id="225" name="Google Shape;225;p8"/>
          <p:cNvSpPr/>
          <p:nvPr/>
        </p:nvSpPr>
        <p:spPr>
          <a:xfrm>
            <a:off x="914400" y="8315325"/>
            <a:ext cx="16952976" cy="81915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A86A00"/>
              </a:buClr>
              <a:buSzPts val="2025"/>
              <a:buFont typeface="IBM Plex Sans"/>
              <a:buNone/>
            </a:pPr>
            <a:r>
              <a:rPr b="1" i="0" lang="en-US" sz="2025" u="none" cap="none" strike="noStrike">
                <a:solidFill>
                  <a:srgbClr val="A86A00"/>
                </a:solidFill>
                <a:latin typeface="IBM Plex Sans"/>
                <a:ea typeface="IBM Plex Sans"/>
                <a:cs typeface="IBM Plex Sans"/>
                <a:sym typeface="IBM Plex Sans"/>
              </a:rPr>
              <a:t>Gotcha:</a:t>
            </a:r>
            <a:r>
              <a:rPr b="0" i="0" lang="en-US" sz="2025" u="none" cap="none" strike="noStrike">
                <a:solidFill>
                  <a:srgbClr val="0B0C10"/>
                </a:solidFill>
                <a:latin typeface="IBM Plex Sans"/>
                <a:ea typeface="IBM Plex Sans"/>
                <a:cs typeface="IBM Plex Sans"/>
                <a:sym typeface="IBM Plex Sans"/>
              </a:rPr>
              <a:t>-g (global) secrets apply at sandbox</a:t>
            </a:r>
            <a:r>
              <a:rPr b="1" i="0" lang="en-US" sz="2025" u="none" cap="none" strike="noStrike">
                <a:solidFill>
                  <a:srgbClr val="0B0C10"/>
                </a:solidFill>
                <a:latin typeface="IBM Plex Sans"/>
                <a:ea typeface="IBM Plex Sans"/>
                <a:cs typeface="IBM Plex Sans"/>
                <a:sym typeface="IBM Plex Sans"/>
              </a:rPr>
              <a:t>creation</a:t>
            </a:r>
            <a:r>
              <a:rPr b="0" i="0" lang="en-US" sz="2025" u="none" cap="none" strike="noStrike">
                <a:solidFill>
                  <a:srgbClr val="0B0C10"/>
                </a:solidFill>
                <a:latin typeface="IBM Plex Sans"/>
                <a:ea typeface="IBM Plex Sans"/>
                <a:cs typeface="IBM Plex Sans"/>
                <a:sym typeface="IBM Plex Sans"/>
              </a:rPr>
              <a:t>— recreate the sandbox after changing one. Sandbox-scoped secrets ( </a:t>
            </a:r>
            <a:r>
              <a:rPr b="0" i="0" lang="en-US" sz="2025" u="none" cap="none" strike="noStrike">
                <a:solidFill>
                  <a:srgbClr val="2560FF"/>
                </a:solidFill>
                <a:latin typeface="Courier New"/>
                <a:ea typeface="Courier New"/>
                <a:cs typeface="Courier New"/>
                <a:sym typeface="Courier New"/>
              </a:rPr>
              <a:t>sbx secret set my-sandbox openai </a:t>
            </a:r>
            <a:r>
              <a:rPr b="0" i="0" lang="en-US" sz="2025" u="none" cap="none" strike="noStrike">
                <a:solidFill>
                  <a:srgbClr val="0B0C10"/>
                </a:solidFill>
                <a:latin typeface="IBM Plex Sans"/>
                <a:ea typeface="IBM Plex Sans"/>
                <a:cs typeface="IBM Plex Sans"/>
                <a:sym typeface="IBM Plex Sans"/>
              </a:rPr>
              <a:t>) apply immediately.</a:t>
            </a:r>
            <a:endParaRPr b="0" i="0" sz="2025" u="none" cap="none" strike="noStrike">
              <a:solidFill>
                <a:schemeClr val="dk1"/>
              </a:solidFill>
              <a:latin typeface="Calibri"/>
              <a:ea typeface="Calibri"/>
              <a:cs typeface="Calibri"/>
              <a:sym typeface="Calibri"/>
            </a:endParaRPr>
          </a:p>
        </p:txBody>
      </p:sp>
      <p:sp>
        <p:nvSpPr>
          <p:cNvPr id="226" name="Google Shape;226;p8"/>
          <p:cNvSpPr/>
          <p:nvPr/>
        </p:nvSpPr>
        <p:spPr>
          <a:xfrm>
            <a:off x="914400" y="9229725"/>
            <a:ext cx="18105120"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00"/>
              <a:buFont typeface="IBM Plex Sans"/>
              <a:buNone/>
            </a:pPr>
            <a:r>
              <a:rPr b="0" i="0" lang="en-US" sz="1800" u="none" cap="none" strike="noStrike">
                <a:solidFill>
                  <a:srgbClr val="3D414C"/>
                </a:solidFill>
                <a:latin typeface="IBM Plex Sans"/>
                <a:ea typeface="IBM Plex Sans"/>
                <a:cs typeface="IBM Plex Sans"/>
                <a:sym typeface="IBM Plex Sans"/>
              </a:rPr>
              <a:t>Supported ids: anthropic · openai · github · google · aws · groq · mistral · nebius · xai</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9"/>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03</a:t>
            </a:r>
            <a:endParaRPr b="0" i="0" sz="1950" u="none" cap="none" strike="noStrike">
              <a:solidFill>
                <a:schemeClr val="dk1"/>
              </a:solidFill>
              <a:latin typeface="Calibri"/>
              <a:ea typeface="Calibri"/>
              <a:cs typeface="Calibri"/>
              <a:sym typeface="Calibri"/>
            </a:endParaRPr>
          </a:p>
        </p:txBody>
      </p:sp>
      <p:sp>
        <p:nvSpPr>
          <p:cNvPr id="233" name="Google Shape;233;p9"/>
          <p:cNvSpPr/>
          <p:nvPr/>
        </p:nvSpPr>
        <p:spPr>
          <a:xfrm>
            <a:off x="1384102" y="762000"/>
            <a:ext cx="3185569"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AUTH HEADERS, LIVE</a:t>
            </a:r>
            <a:endParaRPr b="0" i="0" sz="1800" u="none" cap="none" strike="noStrike">
              <a:solidFill>
                <a:schemeClr val="dk1"/>
              </a:solidFill>
              <a:latin typeface="Calibri"/>
              <a:ea typeface="Calibri"/>
              <a:cs typeface="Calibri"/>
              <a:sym typeface="Calibri"/>
            </a:endParaRPr>
          </a:p>
        </p:txBody>
      </p:sp>
      <p:sp>
        <p:nvSpPr>
          <p:cNvPr id="234" name="Google Shape;234;p9"/>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httpbingo.org: see what the server sees</a:t>
            </a:r>
            <a:endParaRPr b="0" i="0" sz="4500" u="none" cap="none" strike="noStrike">
              <a:solidFill>
                <a:schemeClr val="dk1"/>
              </a:solidFill>
              <a:latin typeface="Calibri"/>
              <a:ea typeface="Calibri"/>
              <a:cs typeface="Calibri"/>
              <a:sym typeface="Calibri"/>
            </a:endParaRPr>
          </a:p>
        </p:txBody>
      </p:sp>
      <p:sp>
        <p:nvSpPr>
          <p:cNvPr id="235" name="Google Shape;235;p9"/>
          <p:cNvSpPr/>
          <p:nvPr/>
        </p:nvSpPr>
        <p:spPr>
          <a:xfrm>
            <a:off x="914400" y="2169765"/>
            <a:ext cx="16459200" cy="5200650"/>
          </a:xfrm>
          <a:prstGeom prst="roundRect">
            <a:avLst>
              <a:gd fmla="val 2930"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12573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14859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17145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1257300" y="27603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1" lang="en-US" sz="1800" u="none" cap="none" strike="noStrike">
                <a:solidFill>
                  <a:srgbClr val="FFFFFF"/>
                </a:solidFill>
                <a:latin typeface="Courier New"/>
                <a:ea typeface="Courier New"/>
                <a:cs typeface="Courier New"/>
                <a:sym typeface="Courier New"/>
              </a:rPr>
              <a:t># httpbin echoes back every request — perfect X-ray for the proxy</a:t>
            </a:r>
            <a:endParaRPr b="0" i="0" sz="1800" u="none" cap="none" strike="noStrike">
              <a:solidFill>
                <a:schemeClr val="dk1"/>
              </a:solidFill>
              <a:latin typeface="Calibri"/>
              <a:ea typeface="Calibri"/>
              <a:cs typeface="Calibri"/>
              <a:sym typeface="Calibri"/>
            </a:endParaRPr>
          </a:p>
        </p:txBody>
      </p:sp>
      <p:sp>
        <p:nvSpPr>
          <p:cNvPr id="240" name="Google Shape;240;p9"/>
          <p:cNvSpPr/>
          <p:nvPr/>
        </p:nvSpPr>
        <p:spPr>
          <a:xfrm>
            <a:off x="1257300" y="31984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policy allow network httpbingo.org</a:t>
            </a:r>
            <a:r>
              <a:rPr b="0" i="1" lang="en-US" sz="1800" u="none" cap="none" strike="noStrike">
                <a:solidFill>
                  <a:srgbClr val="FFFFFF"/>
                </a:solidFill>
                <a:latin typeface="Courier New"/>
                <a:ea typeface="Courier New"/>
                <a:cs typeface="Courier New"/>
                <a:sym typeface="Courier New"/>
              </a:rPr>
              <a:t>     # Balanced doesn't include it</a:t>
            </a:r>
            <a:endParaRPr b="0" i="0" sz="1800" u="none" cap="none" strike="noStrike">
              <a:solidFill>
                <a:schemeClr val="dk1"/>
              </a:solidFill>
              <a:latin typeface="Calibri"/>
              <a:ea typeface="Calibri"/>
              <a:cs typeface="Calibri"/>
              <a:sym typeface="Calibri"/>
            </a:endParaRPr>
          </a:p>
        </p:txBody>
      </p:sp>
      <p:sp>
        <p:nvSpPr>
          <p:cNvPr id="241" name="Google Shape;241;p9"/>
          <p:cNvSpPr/>
          <p:nvPr/>
        </p:nvSpPr>
        <p:spPr>
          <a:xfrm>
            <a:off x="1257300" y="36366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run shell ~/scratch</a:t>
            </a:r>
            <a:endParaRPr b="0" i="0" sz="1800" u="none" cap="none" strike="noStrike">
              <a:solidFill>
                <a:schemeClr val="dk1"/>
              </a:solidFill>
              <a:latin typeface="Calibri"/>
              <a:ea typeface="Calibri"/>
              <a:cs typeface="Calibri"/>
              <a:sym typeface="Calibri"/>
            </a:endParaRPr>
          </a:p>
        </p:txBody>
      </p:sp>
      <p:sp>
        <p:nvSpPr>
          <p:cNvPr id="242" name="Google Shape;242;p9"/>
          <p:cNvSpPr/>
          <p:nvPr/>
        </p:nvSpPr>
        <p:spPr>
          <a:xfrm>
            <a:off x="1257300" y="40747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p:txBody>
      </p:sp>
      <p:sp>
        <p:nvSpPr>
          <p:cNvPr id="243" name="Google Shape;243;p9"/>
          <p:cNvSpPr/>
          <p:nvPr/>
        </p:nvSpPr>
        <p:spPr>
          <a:xfrm>
            <a:off x="1257300" y="45129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1" lang="en-US" sz="1800" u="none" cap="none" strike="noStrike">
                <a:solidFill>
                  <a:srgbClr val="FFFFFF"/>
                </a:solidFill>
                <a:latin typeface="Courier New"/>
                <a:ea typeface="Courier New"/>
                <a:cs typeface="Courier New"/>
                <a:sym typeface="Courier New"/>
              </a:rPr>
              <a:t># inside the sandbox:</a:t>
            </a:r>
            <a:endParaRPr b="0" i="0" sz="1800" u="none" cap="none" strike="noStrike">
              <a:solidFill>
                <a:schemeClr val="dk1"/>
              </a:solidFill>
              <a:latin typeface="Calibri"/>
              <a:ea typeface="Calibri"/>
              <a:cs typeface="Calibri"/>
              <a:sym typeface="Calibri"/>
            </a:endParaRPr>
          </a:p>
        </p:txBody>
      </p:sp>
      <p:sp>
        <p:nvSpPr>
          <p:cNvPr id="244" name="Google Shape;244;p9"/>
          <p:cNvSpPr/>
          <p:nvPr/>
        </p:nvSpPr>
        <p:spPr>
          <a:xfrm>
            <a:off x="1257300" y="49510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curl -s https://</a:t>
            </a:r>
            <a:r>
              <a:rPr b="0" i="0" lang="en-US" sz="1800" u="none" cap="none" strike="noStrike">
                <a:solidFill>
                  <a:srgbClr val="EEF2F8"/>
                </a:solidFill>
                <a:latin typeface="Courier New"/>
                <a:ea typeface="Courier New"/>
                <a:cs typeface="Courier New"/>
                <a:sym typeface="Courier New"/>
              </a:rPr>
              <a:t>httpbingo.org</a:t>
            </a:r>
            <a:r>
              <a:rPr b="0" i="0" lang="en-US" sz="1800" u="none" cap="none" strike="noStrike">
                <a:solidFill>
                  <a:srgbClr val="EEF2F8"/>
                </a:solidFill>
                <a:latin typeface="Courier New"/>
                <a:ea typeface="Courier New"/>
                <a:cs typeface="Courier New"/>
                <a:sym typeface="Courier New"/>
              </a:rPr>
              <a:t>/headers</a:t>
            </a:r>
            <a:endParaRPr b="0" i="0" sz="1800" u="none" cap="none" strike="noStrike">
              <a:solidFill>
                <a:schemeClr val="dk1"/>
              </a:solidFill>
              <a:latin typeface="Calibri"/>
              <a:ea typeface="Calibri"/>
              <a:cs typeface="Calibri"/>
              <a:sym typeface="Calibri"/>
            </a:endParaRPr>
          </a:p>
        </p:txBody>
      </p:sp>
      <p:sp>
        <p:nvSpPr>
          <p:cNvPr id="245" name="Google Shape;245;p9"/>
          <p:cNvSpPr/>
          <p:nvPr/>
        </p:nvSpPr>
        <p:spPr>
          <a:xfrm>
            <a:off x="1257300" y="53892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 "headers": { "Host": "httpbingo.org", "User-Agent": "curl/8.5.0", ... } }</a:t>
            </a:r>
            <a:endParaRPr b="0" i="0" sz="1800" u="none" cap="none" strike="noStrike">
              <a:solidFill>
                <a:schemeClr val="dk1"/>
              </a:solidFill>
              <a:latin typeface="Calibri"/>
              <a:ea typeface="Calibri"/>
              <a:cs typeface="Calibri"/>
              <a:sym typeface="Calibri"/>
            </a:endParaRPr>
          </a:p>
        </p:txBody>
      </p:sp>
      <p:sp>
        <p:nvSpPr>
          <p:cNvPr id="246" name="Google Shape;246;p9"/>
          <p:cNvSpPr/>
          <p:nvPr/>
        </p:nvSpPr>
        <p:spPr>
          <a:xfrm>
            <a:off x="1257300" y="58273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p:txBody>
      </p:sp>
      <p:sp>
        <p:nvSpPr>
          <p:cNvPr id="247" name="Google Shape;247;p9"/>
          <p:cNvSpPr/>
          <p:nvPr/>
        </p:nvSpPr>
        <p:spPr>
          <a:xfrm>
            <a:off x="1257300" y="62655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curl -s -H "Authorization: Bearer test123" https://httpbingo.org/bearer</a:t>
            </a:r>
            <a:endParaRPr b="0" i="0" sz="1800" u="none" cap="none" strike="noStrike">
              <a:solidFill>
                <a:schemeClr val="dk1"/>
              </a:solidFill>
              <a:latin typeface="Calibri"/>
              <a:ea typeface="Calibri"/>
              <a:cs typeface="Calibri"/>
              <a:sym typeface="Calibri"/>
            </a:endParaRPr>
          </a:p>
        </p:txBody>
      </p:sp>
      <p:sp>
        <p:nvSpPr>
          <p:cNvPr id="248" name="Google Shape;248;p9"/>
          <p:cNvSpPr/>
          <p:nvPr/>
        </p:nvSpPr>
        <p:spPr>
          <a:xfrm>
            <a:off x="1257300" y="67036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 "authenticated": true, "token": "test123" }</a:t>
            </a:r>
            <a:endParaRPr b="0" i="0" sz="1800" u="none" cap="none" strike="noStrike">
              <a:solidFill>
                <a:schemeClr val="dk1"/>
              </a:solidFill>
              <a:latin typeface="Calibri"/>
              <a:ea typeface="Calibri"/>
              <a:cs typeface="Calibri"/>
              <a:sym typeface="Calibri"/>
            </a:endParaRPr>
          </a:p>
        </p:txBody>
      </p:sp>
      <p:sp>
        <p:nvSpPr>
          <p:cNvPr id="249" name="Google Shape;249;p9"/>
          <p:cNvSpPr/>
          <p:nvPr/>
        </p:nvSpPr>
        <p:spPr>
          <a:xfrm>
            <a:off x="914400" y="8311475"/>
            <a:ext cx="15893400" cy="12516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2175"/>
              <a:buFont typeface="IBM Plex Sans"/>
              <a:buNone/>
            </a:pPr>
            <a:r>
              <a:rPr b="1" lang="en-US" sz="4275">
                <a:solidFill>
                  <a:srgbClr val="0B0C10"/>
                </a:solidFill>
                <a:latin typeface="IBM Plex Sans"/>
                <a:ea typeface="IBM Plex Sans"/>
                <a:cs typeface="IBM Plex Sans"/>
                <a:sym typeface="IBM Plex Sans"/>
              </a:rPr>
              <a:t>https://github.com/mrzarquon/fost-talk-kits</a:t>
            </a:r>
            <a:endParaRPr b="1" i="0" sz="4275"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0"/>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03</a:t>
            </a:r>
            <a:endParaRPr b="0" i="0" sz="1950" u="none" cap="none" strike="noStrike">
              <a:solidFill>
                <a:schemeClr val="dk1"/>
              </a:solidFill>
              <a:latin typeface="Calibri"/>
              <a:ea typeface="Calibri"/>
              <a:cs typeface="Calibri"/>
              <a:sym typeface="Calibri"/>
            </a:endParaRPr>
          </a:p>
        </p:txBody>
      </p:sp>
      <p:sp>
        <p:nvSpPr>
          <p:cNvPr id="256" name="Google Shape;256;p10"/>
          <p:cNvSpPr/>
          <p:nvPr/>
        </p:nvSpPr>
        <p:spPr>
          <a:xfrm>
            <a:off x="1384102" y="762000"/>
            <a:ext cx="3185569"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AUTH HEADERS, LIVE</a:t>
            </a:r>
            <a:endParaRPr b="0" i="0" sz="1800" u="none" cap="none" strike="noStrike">
              <a:solidFill>
                <a:schemeClr val="dk1"/>
              </a:solidFill>
              <a:latin typeface="Calibri"/>
              <a:ea typeface="Calibri"/>
              <a:cs typeface="Calibri"/>
              <a:sym typeface="Calibri"/>
            </a:endParaRPr>
          </a:p>
        </p:txBody>
      </p:sp>
      <p:sp>
        <p:nvSpPr>
          <p:cNvPr id="257" name="Google Shape;257;p10"/>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Now inject your own header — invisibly</a:t>
            </a:r>
            <a:endParaRPr b="0" i="0" sz="4500" u="none" cap="none" strike="noStrike">
              <a:solidFill>
                <a:schemeClr val="dk1"/>
              </a:solidFill>
              <a:latin typeface="Calibri"/>
              <a:ea typeface="Calibri"/>
              <a:cs typeface="Calibri"/>
              <a:sym typeface="Calibri"/>
            </a:endParaRPr>
          </a:p>
        </p:txBody>
      </p:sp>
      <p:sp>
        <p:nvSpPr>
          <p:cNvPr id="258" name="Google Shape;258;p10"/>
          <p:cNvSpPr/>
          <p:nvPr/>
        </p:nvSpPr>
        <p:spPr>
          <a:xfrm>
            <a:off x="914400" y="2169765"/>
            <a:ext cx="8878193" cy="7355235"/>
          </a:xfrm>
          <a:prstGeom prst="roundRect">
            <a:avLst>
              <a:gd fmla="val 2072"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12573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0"/>
          <p:cNvSpPr/>
          <p:nvPr/>
        </p:nvSpPr>
        <p:spPr>
          <a:xfrm>
            <a:off x="14859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p:nvPr/>
        </p:nvSpPr>
        <p:spPr>
          <a:xfrm>
            <a:off x="17145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p:nvPr/>
        </p:nvSpPr>
        <p:spPr>
          <a:xfrm>
            <a:off x="10249793" y="2169765"/>
            <a:ext cx="7123807" cy="3615482"/>
          </a:xfrm>
          <a:prstGeom prst="roundRect">
            <a:avLst>
              <a:gd fmla="val 4215"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0"/>
          <p:cNvSpPr/>
          <p:nvPr/>
        </p:nvSpPr>
        <p:spPr>
          <a:xfrm>
            <a:off x="10573643" y="241741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10802243" y="241741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11030843" y="241741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10573643" y="2722215"/>
            <a:ext cx="6670390" cy="36954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export DEMO_TOKEN=s3cret</a:t>
            </a:r>
            <a:endParaRPr b="0" i="0" sz="1800" u="none" cap="none" strike="noStrike">
              <a:solidFill>
                <a:schemeClr val="dk1"/>
              </a:solidFill>
              <a:latin typeface="Calibri"/>
              <a:ea typeface="Calibri"/>
              <a:cs typeface="Calibri"/>
              <a:sym typeface="Calibri"/>
            </a:endParaRPr>
          </a:p>
        </p:txBody>
      </p:sp>
      <p:sp>
        <p:nvSpPr>
          <p:cNvPr id="267" name="Google Shape;267;p10"/>
          <p:cNvSpPr/>
          <p:nvPr/>
        </p:nvSpPr>
        <p:spPr>
          <a:xfrm>
            <a:off x="10573643" y="3129855"/>
            <a:ext cx="6670390" cy="36954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run shell --kit ./httpbin-auth .</a:t>
            </a:r>
            <a:endParaRPr b="0" i="0" sz="1800" u="none" cap="none" strike="noStrike">
              <a:solidFill>
                <a:schemeClr val="dk1"/>
              </a:solidFill>
              <a:latin typeface="Calibri"/>
              <a:ea typeface="Calibri"/>
              <a:cs typeface="Calibri"/>
              <a:sym typeface="Calibri"/>
            </a:endParaRPr>
          </a:p>
        </p:txBody>
      </p:sp>
      <p:sp>
        <p:nvSpPr>
          <p:cNvPr id="268" name="Google Shape;268;p10"/>
          <p:cNvSpPr/>
          <p:nvPr/>
        </p:nvSpPr>
        <p:spPr>
          <a:xfrm>
            <a:off x="10573643" y="3537496"/>
            <a:ext cx="6670390" cy="36954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p:txBody>
      </p:sp>
      <p:sp>
        <p:nvSpPr>
          <p:cNvPr id="269" name="Google Shape;269;p10"/>
          <p:cNvSpPr/>
          <p:nvPr/>
        </p:nvSpPr>
        <p:spPr>
          <a:xfrm>
            <a:off x="10573643" y="3945136"/>
            <a:ext cx="6670390" cy="36954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FFFFF"/>
              </a:buClr>
              <a:buSzPts val="1800"/>
              <a:buFont typeface="Courier New"/>
              <a:buNone/>
            </a:pPr>
            <a:r>
              <a:rPr b="0" i="1" lang="en-US" sz="1800" u="none" cap="none" strike="noStrike">
                <a:solidFill>
                  <a:srgbClr val="FFFFFF"/>
                </a:solidFill>
                <a:latin typeface="Courier New"/>
                <a:ea typeface="Courier New"/>
                <a:cs typeface="Courier New"/>
                <a:sym typeface="Courier New"/>
              </a:rPr>
              <a:t># inside:</a:t>
            </a:r>
            <a:endParaRPr b="0" i="0" sz="1800" u="none" cap="none" strike="noStrike">
              <a:solidFill>
                <a:schemeClr val="dk1"/>
              </a:solidFill>
              <a:latin typeface="Calibri"/>
              <a:ea typeface="Calibri"/>
              <a:cs typeface="Calibri"/>
              <a:sym typeface="Calibri"/>
            </a:endParaRPr>
          </a:p>
        </p:txBody>
      </p:sp>
      <p:sp>
        <p:nvSpPr>
          <p:cNvPr id="270" name="Google Shape;270;p10"/>
          <p:cNvSpPr/>
          <p:nvPr/>
        </p:nvSpPr>
        <p:spPr>
          <a:xfrm>
            <a:off x="10573643" y="4352776"/>
            <a:ext cx="6670390" cy="36954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curl -s https://httpbingo.org/bearer</a:t>
            </a:r>
            <a:endParaRPr b="0" i="0" sz="1800" u="none" cap="none" strike="noStrike">
              <a:solidFill>
                <a:schemeClr val="dk1"/>
              </a:solidFill>
              <a:latin typeface="Calibri"/>
              <a:ea typeface="Calibri"/>
              <a:cs typeface="Calibri"/>
              <a:sym typeface="Calibri"/>
            </a:endParaRPr>
          </a:p>
        </p:txBody>
      </p:sp>
      <p:sp>
        <p:nvSpPr>
          <p:cNvPr id="271" name="Google Shape;271;p10"/>
          <p:cNvSpPr/>
          <p:nvPr/>
        </p:nvSpPr>
        <p:spPr>
          <a:xfrm>
            <a:off x="10573643" y="4760416"/>
            <a:ext cx="6670390" cy="36954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 "authenticated": true,</a:t>
            </a:r>
            <a:endParaRPr b="0" i="0" sz="1800" u="none" cap="none" strike="noStrike">
              <a:solidFill>
                <a:schemeClr val="dk1"/>
              </a:solidFill>
              <a:latin typeface="Calibri"/>
              <a:ea typeface="Calibri"/>
              <a:cs typeface="Calibri"/>
              <a:sym typeface="Calibri"/>
            </a:endParaRPr>
          </a:p>
        </p:txBody>
      </p:sp>
      <p:sp>
        <p:nvSpPr>
          <p:cNvPr id="272" name="Google Shape;272;p10"/>
          <p:cNvSpPr/>
          <p:nvPr/>
        </p:nvSpPr>
        <p:spPr>
          <a:xfrm>
            <a:off x="10573643" y="5168057"/>
            <a:ext cx="6670390" cy="36954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  "token": "s3cret" }</a:t>
            </a:r>
            <a:endParaRPr b="0" i="0" sz="1800" u="none" cap="none" strike="noStrike">
              <a:solidFill>
                <a:schemeClr val="dk1"/>
              </a:solidFill>
              <a:latin typeface="Calibri"/>
              <a:ea typeface="Calibri"/>
              <a:cs typeface="Calibri"/>
              <a:sym typeface="Calibri"/>
            </a:endParaRPr>
          </a:p>
        </p:txBody>
      </p:sp>
      <p:sp>
        <p:nvSpPr>
          <p:cNvPr id="273" name="Google Shape;273;p10"/>
          <p:cNvSpPr/>
          <p:nvPr/>
        </p:nvSpPr>
        <p:spPr>
          <a:xfrm>
            <a:off x="10325993" y="6090047"/>
            <a:ext cx="7668548"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00"/>
              <a:buFont typeface="IBM Plex Sans"/>
              <a:buNone/>
            </a:pPr>
            <a:r>
              <a:rPr b="1" i="0" lang="en-US" sz="2100" u="none" cap="none" strike="noStrike">
                <a:solidFill>
                  <a:srgbClr val="0B0C10"/>
                </a:solidFill>
                <a:latin typeface="IBM Plex Sans"/>
                <a:ea typeface="IBM Plex Sans"/>
                <a:cs typeface="IBM Plex Sans"/>
                <a:sym typeface="IBM Plex Sans"/>
              </a:rPr>
              <a:t>curl sent no header. The proxy added it in flight.</a:t>
            </a:r>
            <a:endParaRPr b="0" i="0" sz="2100" u="none" cap="none" strike="noStrike">
              <a:solidFill>
                <a:schemeClr val="dk1"/>
              </a:solidFill>
              <a:latin typeface="Calibri"/>
              <a:ea typeface="Calibri"/>
              <a:cs typeface="Calibri"/>
              <a:sym typeface="Calibri"/>
            </a:endParaRPr>
          </a:p>
        </p:txBody>
      </p:sp>
      <p:sp>
        <p:nvSpPr>
          <p:cNvPr id="274" name="Google Shape;274;p10"/>
          <p:cNvSpPr/>
          <p:nvPr/>
        </p:nvSpPr>
        <p:spPr>
          <a:xfrm>
            <a:off x="10325993" y="6528197"/>
            <a:ext cx="7668548"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echo $DEMO_TOKEN inside the VM → proxy-managed. Verify it.</a:t>
            </a:r>
            <a:endParaRPr b="0" i="0" sz="1875" u="none" cap="none" strike="noStrike">
              <a:solidFill>
                <a:schemeClr val="dk1"/>
              </a:solidFill>
              <a:latin typeface="Calibri"/>
              <a:ea typeface="Calibri"/>
              <a:cs typeface="Calibri"/>
              <a:sym typeface="Calibri"/>
            </a:endParaRPr>
          </a:p>
        </p:txBody>
      </p:sp>
      <p:pic>
        <p:nvPicPr>
          <p:cNvPr id="275" name="Google Shape;275;p10"/>
          <p:cNvPicPr preferRelativeResize="0"/>
          <p:nvPr/>
        </p:nvPicPr>
        <p:blipFill>
          <a:blip r:embed="rId3">
            <a:alphaModFix/>
          </a:blip>
          <a:stretch>
            <a:fillRect/>
          </a:stretch>
        </p:blipFill>
        <p:spPr>
          <a:xfrm>
            <a:off x="2467895" y="2521839"/>
            <a:ext cx="5771226" cy="6651076"/>
          </a:xfrm>
          <a:prstGeom prst="rect">
            <a:avLst/>
          </a:prstGeom>
          <a:solidFill>
            <a:srgbClr val="17191E"/>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11"/>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04</a:t>
            </a:r>
            <a:endParaRPr b="0" i="0" sz="1950" u="none" cap="none" strike="noStrike">
              <a:solidFill>
                <a:schemeClr val="dk1"/>
              </a:solidFill>
              <a:latin typeface="Calibri"/>
              <a:ea typeface="Calibri"/>
              <a:cs typeface="Calibri"/>
              <a:sym typeface="Calibri"/>
            </a:endParaRPr>
          </a:p>
        </p:txBody>
      </p:sp>
      <p:sp>
        <p:nvSpPr>
          <p:cNvPr id="282" name="Google Shape;282;p11"/>
          <p:cNvSpPr/>
          <p:nvPr/>
        </p:nvSpPr>
        <p:spPr>
          <a:xfrm>
            <a:off x="1384102" y="762000"/>
            <a:ext cx="2245132"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KITS &amp; MIXINS</a:t>
            </a:r>
            <a:endParaRPr b="0" i="0" sz="1800" u="none" cap="none" strike="noStrike">
              <a:solidFill>
                <a:schemeClr val="dk1"/>
              </a:solidFill>
              <a:latin typeface="Calibri"/>
              <a:ea typeface="Calibri"/>
              <a:cs typeface="Calibri"/>
              <a:sym typeface="Calibri"/>
            </a:endParaRPr>
          </a:p>
        </p:txBody>
      </p:sp>
      <p:sp>
        <p:nvSpPr>
          <p:cNvPr id="283" name="Google Shape;283;p11"/>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Kits: what your sandbox starts with</a:t>
            </a:r>
            <a:endParaRPr b="0" i="0" sz="4500" u="none" cap="none" strike="noStrike">
              <a:solidFill>
                <a:schemeClr val="dk1"/>
              </a:solidFill>
              <a:latin typeface="Calibri"/>
              <a:ea typeface="Calibri"/>
              <a:cs typeface="Calibri"/>
              <a:sym typeface="Calibri"/>
            </a:endParaRPr>
          </a:p>
        </p:txBody>
      </p:sp>
      <p:sp>
        <p:nvSpPr>
          <p:cNvPr id="284" name="Google Shape;284;p11"/>
          <p:cNvSpPr/>
          <p:nvPr/>
        </p:nvSpPr>
        <p:spPr>
          <a:xfrm>
            <a:off x="914400" y="3728070"/>
            <a:ext cx="7810500" cy="3448050"/>
          </a:xfrm>
          <a:prstGeom prst="roundRect">
            <a:avLst>
              <a:gd fmla="val 4420"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p:nvPr/>
        </p:nvSpPr>
        <p:spPr>
          <a:xfrm>
            <a:off x="1257300" y="3994770"/>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1485900" y="3994770"/>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1"/>
          <p:cNvSpPr/>
          <p:nvPr/>
        </p:nvSpPr>
        <p:spPr>
          <a:xfrm>
            <a:off x="1714500" y="3994770"/>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1"/>
          <p:cNvSpPr/>
          <p:nvPr/>
        </p:nvSpPr>
        <p:spPr>
          <a:xfrm>
            <a:off x="1257300" y="4318620"/>
            <a:ext cx="7338441"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1" lang="en-US" sz="1800" u="none" cap="none" strike="noStrike">
                <a:solidFill>
                  <a:srgbClr val="FFFFFF"/>
                </a:solidFill>
                <a:latin typeface="Courier New"/>
                <a:ea typeface="Courier New"/>
                <a:cs typeface="Courier New"/>
                <a:sym typeface="Courier New"/>
              </a:rPr>
              <a:t># anatomy of a kit</a:t>
            </a:r>
            <a:endParaRPr b="0" i="0" sz="1800" u="none" cap="none" strike="noStrike">
              <a:solidFill>
                <a:schemeClr val="dk1"/>
              </a:solidFill>
              <a:latin typeface="Calibri"/>
              <a:ea typeface="Calibri"/>
              <a:cs typeface="Calibri"/>
              <a:sym typeface="Calibri"/>
            </a:endParaRPr>
          </a:p>
        </p:txBody>
      </p:sp>
      <p:sp>
        <p:nvSpPr>
          <p:cNvPr id="289" name="Google Shape;289;p11"/>
          <p:cNvSpPr/>
          <p:nvPr/>
        </p:nvSpPr>
        <p:spPr>
          <a:xfrm>
            <a:off x="1257300" y="4756770"/>
            <a:ext cx="7338441"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EF2F8"/>
              </a:buClr>
              <a:buSzPts val="1800"/>
              <a:buFont typeface="Courier New"/>
              <a:buNone/>
            </a:pPr>
            <a:r>
              <a:rPr b="0" i="0" lang="en-US" sz="1800" u="none" cap="none" strike="noStrike">
                <a:solidFill>
                  <a:srgbClr val="EEF2F8"/>
                </a:solidFill>
                <a:latin typeface="Courier New"/>
                <a:ea typeface="Courier New"/>
                <a:cs typeface="Courier New"/>
                <a:sym typeface="Courier New"/>
              </a:rPr>
              <a:t>my-kit/</a:t>
            </a:r>
            <a:endParaRPr b="0" i="0" sz="1800" u="none" cap="none" strike="noStrike">
              <a:solidFill>
                <a:schemeClr val="dk1"/>
              </a:solidFill>
              <a:latin typeface="Calibri"/>
              <a:ea typeface="Calibri"/>
              <a:cs typeface="Calibri"/>
              <a:sym typeface="Calibri"/>
            </a:endParaRPr>
          </a:p>
        </p:txBody>
      </p:sp>
      <p:sp>
        <p:nvSpPr>
          <p:cNvPr id="290" name="Google Shape;290;p11"/>
          <p:cNvSpPr/>
          <p:nvPr/>
        </p:nvSpPr>
        <p:spPr>
          <a:xfrm>
            <a:off x="1257300" y="5194920"/>
            <a:ext cx="7338441"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EF2F8"/>
              </a:buClr>
              <a:buSzPts val="1800"/>
              <a:buFont typeface="Courier New"/>
              <a:buNone/>
            </a:pPr>
            <a:r>
              <a:rPr b="0" i="0" lang="en-US" sz="1800" u="none" cap="none" strike="noStrike">
                <a:solidFill>
                  <a:srgbClr val="EEF2F8"/>
                </a:solidFill>
                <a:latin typeface="Courier New"/>
                <a:ea typeface="Courier New"/>
                <a:cs typeface="Courier New"/>
                <a:sym typeface="Courier New"/>
              </a:rPr>
              <a:t>├── </a:t>
            </a:r>
            <a:r>
              <a:rPr b="0" i="0" lang="en-US" sz="1800" u="none" cap="none" strike="noStrike">
                <a:solidFill>
                  <a:srgbClr val="F5A524"/>
                </a:solidFill>
                <a:latin typeface="Courier New"/>
                <a:ea typeface="Courier New"/>
                <a:cs typeface="Courier New"/>
                <a:sym typeface="Courier New"/>
              </a:rPr>
              <a:t>spec.yaml</a:t>
            </a:r>
            <a:r>
              <a:rPr b="0" i="1" lang="en-US" sz="1800" u="none" cap="none" strike="noStrike">
                <a:solidFill>
                  <a:srgbClr val="FFFFFF"/>
                </a:solidFill>
                <a:latin typeface="Courier New"/>
                <a:ea typeface="Courier New"/>
                <a:cs typeface="Courier New"/>
                <a:sym typeface="Courier New"/>
              </a:rPr>
              <a:t>      # required</a:t>
            </a:r>
            <a:endParaRPr b="0" i="0" sz="1800" u="none" cap="none" strike="noStrike">
              <a:solidFill>
                <a:schemeClr val="dk1"/>
              </a:solidFill>
              <a:latin typeface="Calibri"/>
              <a:ea typeface="Calibri"/>
              <a:cs typeface="Calibri"/>
              <a:sym typeface="Calibri"/>
            </a:endParaRPr>
          </a:p>
        </p:txBody>
      </p:sp>
      <p:sp>
        <p:nvSpPr>
          <p:cNvPr id="291" name="Google Shape;291;p11"/>
          <p:cNvSpPr/>
          <p:nvPr/>
        </p:nvSpPr>
        <p:spPr>
          <a:xfrm>
            <a:off x="1257300" y="5633070"/>
            <a:ext cx="7338441"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EF2F8"/>
              </a:buClr>
              <a:buSzPts val="1800"/>
              <a:buFont typeface="Courier New"/>
              <a:buNone/>
            </a:pPr>
            <a:r>
              <a:rPr b="0" i="0" lang="en-US" sz="1800" u="none" cap="none" strike="noStrike">
                <a:solidFill>
                  <a:srgbClr val="EEF2F8"/>
                </a:solidFill>
                <a:latin typeface="Courier New"/>
                <a:ea typeface="Courier New"/>
                <a:cs typeface="Courier New"/>
                <a:sym typeface="Courier New"/>
              </a:rPr>
              <a:t>└── files/</a:t>
            </a:r>
            <a:r>
              <a:rPr b="0" i="1" lang="en-US" sz="1800" u="none" cap="none" strike="noStrike">
                <a:solidFill>
                  <a:srgbClr val="FFFFFF"/>
                </a:solidFill>
                <a:latin typeface="Courier New"/>
                <a:ea typeface="Courier New"/>
                <a:cs typeface="Courier New"/>
                <a:sym typeface="Courier New"/>
              </a:rPr>
              <a:t>         # optional</a:t>
            </a:r>
            <a:endParaRPr b="0" i="0" sz="1800" u="none" cap="none" strike="noStrike">
              <a:solidFill>
                <a:schemeClr val="dk1"/>
              </a:solidFill>
              <a:latin typeface="Calibri"/>
              <a:ea typeface="Calibri"/>
              <a:cs typeface="Calibri"/>
              <a:sym typeface="Calibri"/>
            </a:endParaRPr>
          </a:p>
        </p:txBody>
      </p:sp>
      <p:sp>
        <p:nvSpPr>
          <p:cNvPr id="292" name="Google Shape;292;p11"/>
          <p:cNvSpPr/>
          <p:nvPr/>
        </p:nvSpPr>
        <p:spPr>
          <a:xfrm>
            <a:off x="1257300" y="6071220"/>
            <a:ext cx="7338441"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EF2F8"/>
              </a:buClr>
              <a:buSzPts val="1800"/>
              <a:buFont typeface="Courier New"/>
              <a:buNone/>
            </a:pPr>
            <a:r>
              <a:rPr b="0" i="0" lang="en-US" sz="1800" u="none" cap="none" strike="noStrike">
                <a:solidFill>
                  <a:srgbClr val="EEF2F8"/>
                </a:solidFill>
                <a:latin typeface="Courier New"/>
                <a:ea typeface="Courier New"/>
                <a:cs typeface="Courier New"/>
                <a:sym typeface="Courier New"/>
              </a:rPr>
              <a:t>    ├── home/</a:t>
            </a:r>
            <a:r>
              <a:rPr b="0" i="1" lang="en-US" sz="1800" u="none" cap="none" strike="noStrike">
                <a:solidFill>
                  <a:srgbClr val="FFFFFF"/>
                </a:solidFill>
                <a:latin typeface="Courier New"/>
                <a:ea typeface="Courier New"/>
                <a:cs typeface="Courier New"/>
                <a:sym typeface="Courier New"/>
              </a:rPr>
              <a:t>      → /home/agent/</a:t>
            </a:r>
            <a:endParaRPr b="0" i="0" sz="1800" u="none" cap="none" strike="noStrike">
              <a:solidFill>
                <a:schemeClr val="dk1"/>
              </a:solidFill>
              <a:latin typeface="Calibri"/>
              <a:ea typeface="Calibri"/>
              <a:cs typeface="Calibri"/>
              <a:sym typeface="Calibri"/>
            </a:endParaRPr>
          </a:p>
        </p:txBody>
      </p:sp>
      <p:sp>
        <p:nvSpPr>
          <p:cNvPr id="293" name="Google Shape;293;p11"/>
          <p:cNvSpPr/>
          <p:nvPr/>
        </p:nvSpPr>
        <p:spPr>
          <a:xfrm>
            <a:off x="1257300" y="6509370"/>
            <a:ext cx="7338441"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EEF2F8"/>
              </a:buClr>
              <a:buSzPts val="1800"/>
              <a:buFont typeface="Courier New"/>
              <a:buNone/>
            </a:pPr>
            <a:r>
              <a:rPr b="0" i="0" lang="en-US" sz="1800" u="none" cap="none" strike="noStrike">
                <a:solidFill>
                  <a:srgbClr val="EEF2F8"/>
                </a:solidFill>
                <a:latin typeface="Courier New"/>
                <a:ea typeface="Courier New"/>
                <a:cs typeface="Courier New"/>
                <a:sym typeface="Courier New"/>
              </a:rPr>
              <a:t>    └── workspace/</a:t>
            </a:r>
            <a:r>
              <a:rPr b="0" i="1" lang="en-US" sz="1800" u="none" cap="none" strike="noStrike">
                <a:solidFill>
                  <a:srgbClr val="FFFFFF"/>
                </a:solidFill>
                <a:latin typeface="Courier New"/>
                <a:ea typeface="Courier New"/>
                <a:cs typeface="Courier New"/>
                <a:sym typeface="Courier New"/>
              </a:rPr>
              <a:t> → your workspace</a:t>
            </a:r>
            <a:endParaRPr b="0" i="0" sz="1800" u="none" cap="none" strike="noStrike">
              <a:solidFill>
                <a:schemeClr val="dk1"/>
              </a:solidFill>
              <a:latin typeface="Calibri"/>
              <a:ea typeface="Calibri"/>
              <a:cs typeface="Calibri"/>
              <a:sym typeface="Calibri"/>
            </a:endParaRPr>
          </a:p>
        </p:txBody>
      </p:sp>
      <p:sp>
        <p:nvSpPr>
          <p:cNvPr id="294" name="Google Shape;294;p11"/>
          <p:cNvSpPr/>
          <p:nvPr/>
        </p:nvSpPr>
        <p:spPr>
          <a:xfrm>
            <a:off x="9258300" y="3875708"/>
            <a:ext cx="8926830"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00"/>
              <a:buFont typeface="IBM Plex Sans"/>
              <a:buNone/>
            </a:pPr>
            <a:r>
              <a:rPr b="1" i="0" lang="en-US" sz="2100" u="none" cap="none" strike="noStrike">
                <a:solidFill>
                  <a:srgbClr val="0B0C10"/>
                </a:solidFill>
                <a:latin typeface="IBM Plex Sans"/>
                <a:ea typeface="IBM Plex Sans"/>
                <a:cs typeface="IBM Plex Sans"/>
                <a:sym typeface="IBM Plex Sans"/>
              </a:rPr>
              <a:t>A spec.yaml can declare:</a:t>
            </a:r>
            <a:endParaRPr b="0" i="0" sz="2100" u="none" cap="none" strike="noStrike">
              <a:solidFill>
                <a:schemeClr val="dk1"/>
              </a:solidFill>
              <a:latin typeface="Calibri"/>
              <a:ea typeface="Calibri"/>
              <a:cs typeface="Calibri"/>
              <a:sym typeface="Calibri"/>
            </a:endParaRPr>
          </a:p>
        </p:txBody>
      </p:sp>
      <p:sp>
        <p:nvSpPr>
          <p:cNvPr id="295" name="Google Shape;295;p11"/>
          <p:cNvSpPr/>
          <p:nvPr/>
        </p:nvSpPr>
        <p:spPr>
          <a:xfrm>
            <a:off x="9258300" y="4351958"/>
            <a:ext cx="8926830"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install &amp; startup commands</a:t>
            </a:r>
            <a:endParaRPr b="0" i="0" sz="1950" u="none" cap="none" strike="noStrike">
              <a:solidFill>
                <a:schemeClr val="dk1"/>
              </a:solidFill>
              <a:latin typeface="Calibri"/>
              <a:ea typeface="Calibri"/>
              <a:cs typeface="Calibri"/>
              <a:sym typeface="Calibri"/>
            </a:endParaRPr>
          </a:p>
        </p:txBody>
      </p:sp>
      <p:sp>
        <p:nvSpPr>
          <p:cNvPr id="296" name="Google Shape;296;p11"/>
          <p:cNvSpPr/>
          <p:nvPr/>
        </p:nvSpPr>
        <p:spPr>
          <a:xfrm>
            <a:off x="9258300" y="4804395"/>
            <a:ext cx="8926830"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files to inject (home / workspace)</a:t>
            </a:r>
            <a:endParaRPr b="0" i="0" sz="1950" u="none" cap="none" strike="noStrike">
              <a:solidFill>
                <a:schemeClr val="dk1"/>
              </a:solidFill>
              <a:latin typeface="Calibri"/>
              <a:ea typeface="Calibri"/>
              <a:cs typeface="Calibri"/>
              <a:sym typeface="Calibri"/>
            </a:endParaRPr>
          </a:p>
        </p:txBody>
      </p:sp>
      <p:sp>
        <p:nvSpPr>
          <p:cNvPr id="297" name="Google Shape;297;p11"/>
          <p:cNvSpPr/>
          <p:nvPr/>
        </p:nvSpPr>
        <p:spPr>
          <a:xfrm>
            <a:off x="9258300" y="5256833"/>
            <a:ext cx="8926830"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env vars &amp; proxy-managed credentials</a:t>
            </a:r>
            <a:endParaRPr b="0" i="0" sz="1950" u="none" cap="none" strike="noStrike">
              <a:solidFill>
                <a:schemeClr val="dk1"/>
              </a:solidFill>
              <a:latin typeface="Calibri"/>
              <a:ea typeface="Calibri"/>
              <a:cs typeface="Calibri"/>
              <a:sym typeface="Calibri"/>
            </a:endParaRPr>
          </a:p>
        </p:txBody>
      </p:sp>
      <p:sp>
        <p:nvSpPr>
          <p:cNvPr id="298" name="Google Shape;298;p11"/>
          <p:cNvSpPr/>
          <p:nvPr/>
        </p:nvSpPr>
        <p:spPr>
          <a:xfrm>
            <a:off x="9258300" y="5709270"/>
            <a:ext cx="8926830"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allowed domains + header injection</a:t>
            </a:r>
            <a:endParaRPr b="0" i="0" sz="1950" u="none" cap="none" strike="noStrike">
              <a:solidFill>
                <a:schemeClr val="dk1"/>
              </a:solidFill>
              <a:latin typeface="Calibri"/>
              <a:ea typeface="Calibri"/>
              <a:cs typeface="Calibri"/>
              <a:sym typeface="Calibri"/>
            </a:endParaRPr>
          </a:p>
        </p:txBody>
      </p:sp>
      <p:sp>
        <p:nvSpPr>
          <p:cNvPr id="299" name="Google Shape;299;p11"/>
          <p:cNvSpPr/>
          <p:nvPr/>
        </p:nvSpPr>
        <p:spPr>
          <a:xfrm>
            <a:off x="9258300" y="6314108"/>
            <a:ext cx="8926830"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D9568"/>
              </a:buClr>
              <a:buSzPts val="1950"/>
              <a:buFont typeface="Courier New"/>
              <a:buNone/>
            </a:pPr>
            <a:r>
              <a:rPr b="1" i="0" lang="en-US" sz="1950" u="none" cap="none" strike="noStrike">
                <a:solidFill>
                  <a:srgbClr val="2D9568"/>
                </a:solidFill>
                <a:latin typeface="Courier New"/>
                <a:ea typeface="Courier New"/>
                <a:cs typeface="Courier New"/>
                <a:sym typeface="Courier New"/>
              </a:rPr>
              <a:t>kind: mixin</a:t>
            </a:r>
            <a:r>
              <a:rPr b="0" i="0" lang="en-US" sz="1950" u="none" cap="none" strike="noStrike">
                <a:solidFill>
                  <a:srgbClr val="3D414C"/>
                </a:solidFill>
                <a:latin typeface="IBM Plex Sans"/>
                <a:ea typeface="IBM Plex Sans"/>
                <a:cs typeface="IBM Plex Sans"/>
                <a:sym typeface="IBM Plex Sans"/>
              </a:rPr>
              <a:t>— extends an agent, stackable</a:t>
            </a:r>
            <a:endParaRPr b="0" i="0" sz="1950" u="none" cap="none" strike="noStrike">
              <a:solidFill>
                <a:schemeClr val="dk1"/>
              </a:solidFill>
              <a:latin typeface="Calibri"/>
              <a:ea typeface="Calibri"/>
              <a:cs typeface="Calibri"/>
              <a:sym typeface="Calibri"/>
            </a:endParaRPr>
          </a:p>
        </p:txBody>
      </p:sp>
      <p:sp>
        <p:nvSpPr>
          <p:cNvPr id="300" name="Google Shape;300;p11"/>
          <p:cNvSpPr/>
          <p:nvPr/>
        </p:nvSpPr>
        <p:spPr>
          <a:xfrm>
            <a:off x="9258300" y="6709395"/>
            <a:ext cx="8926830"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9860FF"/>
              </a:buClr>
              <a:buSzPts val="1950"/>
              <a:buFont typeface="Courier New"/>
              <a:buNone/>
            </a:pPr>
            <a:r>
              <a:rPr b="1" i="0" lang="en-US" sz="1950" u="none" cap="none" strike="noStrike">
                <a:solidFill>
                  <a:srgbClr val="9860FF"/>
                </a:solidFill>
                <a:latin typeface="Courier New"/>
                <a:ea typeface="Courier New"/>
                <a:cs typeface="Courier New"/>
                <a:sym typeface="Courier New"/>
              </a:rPr>
              <a:t>kind: agent</a:t>
            </a:r>
            <a:r>
              <a:rPr b="0" i="0" lang="en-US" sz="1950" u="none" cap="none" strike="noStrike">
                <a:solidFill>
                  <a:srgbClr val="3D414C"/>
                </a:solidFill>
                <a:latin typeface="IBM Plex Sans"/>
                <a:ea typeface="IBM Plex Sans"/>
                <a:cs typeface="IBM Plex Sans"/>
                <a:sym typeface="IBM Plex Sans"/>
              </a:rPr>
              <a:t>— defines a whole agent</a:t>
            </a:r>
            <a:endParaRPr b="0" i="0" sz="1950" u="none" cap="none" strike="noStrike">
              <a:solidFill>
                <a:schemeClr val="dk1"/>
              </a:solidFill>
              <a:latin typeface="Calibri"/>
              <a:ea typeface="Calibri"/>
              <a:cs typeface="Calibri"/>
              <a:sym typeface="Calibri"/>
            </a:endParaRPr>
          </a:p>
        </p:txBody>
      </p:sp>
      <p:sp>
        <p:nvSpPr>
          <p:cNvPr id="301" name="Google Shape;301;p11"/>
          <p:cNvSpPr/>
          <p:nvPr/>
        </p:nvSpPr>
        <p:spPr>
          <a:xfrm>
            <a:off x="914400" y="8696325"/>
            <a:ext cx="1608963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2175"/>
              <a:buFont typeface="IBM Plex Sans"/>
              <a:buNone/>
            </a:pPr>
            <a:r>
              <a:rPr b="0" i="0" lang="en-US" sz="2175" u="none" cap="none" strike="noStrike">
                <a:solidFill>
                  <a:srgbClr val="0B0C10"/>
                </a:solidFill>
                <a:latin typeface="IBM Plex Sans"/>
                <a:ea typeface="IBM Plex Sans"/>
                <a:cs typeface="IBM Plex Sans"/>
                <a:sym typeface="IBM Plex Sans"/>
              </a:rPr>
              <a:t>The built-in claude agent is itself a kit. Mixins are how you layer</a:t>
            </a:r>
            <a:r>
              <a:rPr b="0" i="1" lang="en-US" sz="2175" u="none" cap="none" strike="noStrike">
                <a:solidFill>
                  <a:srgbClr val="0B0C10"/>
                </a:solidFill>
                <a:latin typeface="IBM Plex Sans"/>
                <a:ea typeface="IBM Plex Sans"/>
                <a:cs typeface="IBM Plex Sans"/>
                <a:sym typeface="IBM Plex Sans"/>
              </a:rPr>
              <a:t>your </a:t>
            </a:r>
            <a:r>
              <a:rPr b="0" i="0" lang="en-US" sz="2175" u="none" cap="none" strike="noStrike">
                <a:solidFill>
                  <a:srgbClr val="0B0C10"/>
                </a:solidFill>
                <a:latin typeface="IBM Plex Sans"/>
                <a:ea typeface="IBM Plex Sans"/>
                <a:cs typeface="IBM Plex Sans"/>
                <a:sym typeface="IBM Plex Sans"/>
              </a:rPr>
              <a:t>defaults on top — without forking the agent or giving up its credential wiring. </a:t>
            </a:r>
            <a:r>
              <a:rPr b="0" i="0" lang="en-US" sz="1875" u="none" cap="none" strike="noStrike">
                <a:solidFill>
                  <a:srgbClr val="3D414C"/>
                </a:solidFill>
                <a:latin typeface="IBM Plex Sans"/>
                <a:ea typeface="IBM Plex Sans"/>
                <a:cs typeface="IBM Plex Sans"/>
                <a:sym typeface="IBM Plex Sans"/>
              </a:rPr>
              <a:t>(Kits are experimental; format may shift.)</a:t>
            </a:r>
            <a:endParaRPr b="0" i="0" sz="2175"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p12"/>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04</a:t>
            </a:r>
            <a:endParaRPr b="0" i="0" sz="1950" u="none" cap="none" strike="noStrike">
              <a:solidFill>
                <a:schemeClr val="dk1"/>
              </a:solidFill>
              <a:latin typeface="Calibri"/>
              <a:ea typeface="Calibri"/>
              <a:cs typeface="Calibri"/>
              <a:sym typeface="Calibri"/>
            </a:endParaRPr>
          </a:p>
        </p:txBody>
      </p:sp>
      <p:sp>
        <p:nvSpPr>
          <p:cNvPr id="308" name="Google Shape;308;p12"/>
          <p:cNvSpPr/>
          <p:nvPr/>
        </p:nvSpPr>
        <p:spPr>
          <a:xfrm>
            <a:off x="1384102" y="762000"/>
            <a:ext cx="2245132"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KITS &amp; MIXINS</a:t>
            </a:r>
            <a:endParaRPr b="0" i="0" sz="1800" u="none" cap="none" strike="noStrike">
              <a:solidFill>
                <a:schemeClr val="dk1"/>
              </a:solidFill>
              <a:latin typeface="Calibri"/>
              <a:ea typeface="Calibri"/>
              <a:cs typeface="Calibri"/>
              <a:sym typeface="Calibri"/>
            </a:endParaRPr>
          </a:p>
        </p:txBody>
      </p:sp>
      <p:sp>
        <p:nvSpPr>
          <p:cNvPr id="309" name="Google Shape;309;p12"/>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Lab: a mixin that ships a default prompt</a:t>
            </a:r>
            <a:endParaRPr b="0" i="0" sz="4500" u="none" cap="none" strike="noStrike">
              <a:solidFill>
                <a:schemeClr val="dk1"/>
              </a:solidFill>
              <a:latin typeface="Calibri"/>
              <a:ea typeface="Calibri"/>
              <a:cs typeface="Calibri"/>
              <a:sym typeface="Calibri"/>
            </a:endParaRPr>
          </a:p>
        </p:txBody>
      </p:sp>
      <p:sp>
        <p:nvSpPr>
          <p:cNvPr id="310" name="Google Shape;310;p12"/>
          <p:cNvSpPr/>
          <p:nvPr/>
        </p:nvSpPr>
        <p:spPr>
          <a:xfrm>
            <a:off x="914400" y="2131665"/>
            <a:ext cx="9088934" cy="6712297"/>
          </a:xfrm>
          <a:prstGeom prst="roundRect">
            <a:avLst>
              <a:gd fmla="val 2270"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2"/>
          <p:cNvSpPr/>
          <p:nvPr/>
        </p:nvSpPr>
        <p:spPr>
          <a:xfrm>
            <a:off x="1238250" y="237931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p:nvPr/>
        </p:nvSpPr>
        <p:spPr>
          <a:xfrm>
            <a:off x="1466850" y="237931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2"/>
          <p:cNvSpPr/>
          <p:nvPr/>
        </p:nvSpPr>
        <p:spPr>
          <a:xfrm>
            <a:off x="1695450" y="237931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1238250" y="2684115"/>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FFFFF"/>
              </a:buClr>
              <a:buSzPts val="1725"/>
              <a:buFont typeface="Courier New"/>
              <a:buNone/>
            </a:pPr>
            <a:r>
              <a:rPr b="0" i="1" lang="en-US" sz="1725" u="none" cap="none" strike="noStrike">
                <a:solidFill>
                  <a:srgbClr val="FFFFFF"/>
                </a:solidFill>
                <a:latin typeface="Courier New"/>
                <a:ea typeface="Courier New"/>
                <a:cs typeface="Courier New"/>
                <a:sym typeface="Courier New"/>
              </a:rPr>
              <a:t># team-prompt/spec.yaml</a:t>
            </a:r>
            <a:endParaRPr b="0" i="0" sz="1725" u="none" cap="none" strike="noStrike">
              <a:solidFill>
                <a:schemeClr val="dk1"/>
              </a:solidFill>
              <a:latin typeface="Calibri"/>
              <a:ea typeface="Calibri"/>
              <a:cs typeface="Calibri"/>
              <a:sym typeface="Calibri"/>
            </a:endParaRPr>
          </a:p>
        </p:txBody>
      </p:sp>
      <p:sp>
        <p:nvSpPr>
          <p:cNvPr id="315" name="Google Shape;315;p12"/>
          <p:cNvSpPr/>
          <p:nvPr/>
        </p:nvSpPr>
        <p:spPr>
          <a:xfrm>
            <a:off x="1238250" y="3068389"/>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7BA4F4"/>
              </a:buClr>
              <a:buSzPts val="1725"/>
              <a:buFont typeface="Courier New"/>
              <a:buNone/>
            </a:pPr>
            <a:r>
              <a:rPr b="0" i="0" lang="en-US" sz="1725" u="none" cap="none" strike="noStrike">
                <a:solidFill>
                  <a:srgbClr val="7BA4F4"/>
                </a:solidFill>
                <a:latin typeface="Courier New"/>
                <a:ea typeface="Courier New"/>
                <a:cs typeface="Courier New"/>
                <a:sym typeface="Courier New"/>
              </a:rPr>
              <a:t>schemaVersion</a:t>
            </a:r>
            <a:r>
              <a:rPr b="0" i="0" lang="en-US" sz="1725" u="none" cap="none" strike="noStrike">
                <a:solidFill>
                  <a:srgbClr val="EEF2F8"/>
                </a:solidFill>
                <a:latin typeface="Courier New"/>
                <a:ea typeface="Courier New"/>
                <a:cs typeface="Courier New"/>
                <a:sym typeface="Courier New"/>
              </a:rPr>
              <a:t>: "1"</a:t>
            </a:r>
            <a:endParaRPr b="0" i="0" sz="1725" u="none" cap="none" strike="noStrike">
              <a:solidFill>
                <a:schemeClr val="dk1"/>
              </a:solidFill>
              <a:latin typeface="Calibri"/>
              <a:ea typeface="Calibri"/>
              <a:cs typeface="Calibri"/>
              <a:sym typeface="Calibri"/>
            </a:endParaRPr>
          </a:p>
        </p:txBody>
      </p:sp>
      <p:sp>
        <p:nvSpPr>
          <p:cNvPr id="316" name="Google Shape;316;p12"/>
          <p:cNvSpPr/>
          <p:nvPr/>
        </p:nvSpPr>
        <p:spPr>
          <a:xfrm>
            <a:off x="1238250" y="3452664"/>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7BA4F4"/>
              </a:buClr>
              <a:buSzPts val="1725"/>
              <a:buFont typeface="Courier New"/>
              <a:buNone/>
            </a:pPr>
            <a:r>
              <a:rPr b="0" i="0" lang="en-US" sz="1725" u="none" cap="none" strike="noStrike">
                <a:solidFill>
                  <a:srgbClr val="7BA4F4"/>
                </a:solidFill>
                <a:latin typeface="Courier New"/>
                <a:ea typeface="Courier New"/>
                <a:cs typeface="Courier New"/>
                <a:sym typeface="Courier New"/>
              </a:rPr>
              <a:t>kind</a:t>
            </a:r>
            <a:r>
              <a:rPr b="0" i="0" lang="en-US" sz="1725" u="none" cap="none" strike="noStrike">
                <a:solidFill>
                  <a:srgbClr val="EEF2F8"/>
                </a:solidFill>
                <a:latin typeface="Courier New"/>
                <a:ea typeface="Courier New"/>
                <a:cs typeface="Courier New"/>
                <a:sym typeface="Courier New"/>
              </a:rPr>
              <a:t>: mixin</a:t>
            </a:r>
            <a:endParaRPr b="0" i="0" sz="1725" u="none" cap="none" strike="noStrike">
              <a:solidFill>
                <a:schemeClr val="dk1"/>
              </a:solidFill>
              <a:latin typeface="Calibri"/>
              <a:ea typeface="Calibri"/>
              <a:cs typeface="Calibri"/>
              <a:sym typeface="Calibri"/>
            </a:endParaRPr>
          </a:p>
        </p:txBody>
      </p:sp>
      <p:sp>
        <p:nvSpPr>
          <p:cNvPr id="317" name="Google Shape;317;p12"/>
          <p:cNvSpPr/>
          <p:nvPr/>
        </p:nvSpPr>
        <p:spPr>
          <a:xfrm>
            <a:off x="1238250" y="3836938"/>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7BA4F4"/>
              </a:buClr>
              <a:buSzPts val="1725"/>
              <a:buFont typeface="Courier New"/>
              <a:buNone/>
            </a:pPr>
            <a:r>
              <a:rPr b="0" i="0" lang="en-US" sz="1725" u="none" cap="none" strike="noStrike">
                <a:solidFill>
                  <a:srgbClr val="7BA4F4"/>
                </a:solidFill>
                <a:latin typeface="Courier New"/>
                <a:ea typeface="Courier New"/>
                <a:cs typeface="Courier New"/>
                <a:sym typeface="Courier New"/>
              </a:rPr>
              <a:t>name</a:t>
            </a:r>
            <a:r>
              <a:rPr b="0" i="0" lang="en-US" sz="1725" u="none" cap="none" strike="noStrike">
                <a:solidFill>
                  <a:srgbClr val="EEF2F8"/>
                </a:solidFill>
                <a:latin typeface="Courier New"/>
                <a:ea typeface="Courier New"/>
                <a:cs typeface="Courier New"/>
                <a:sym typeface="Courier New"/>
              </a:rPr>
              <a:t>: team-prompt</a:t>
            </a:r>
            <a:endParaRPr b="0" i="0" sz="1725" u="none" cap="none" strike="noStrike">
              <a:solidFill>
                <a:schemeClr val="dk1"/>
              </a:solidFill>
              <a:latin typeface="Calibri"/>
              <a:ea typeface="Calibri"/>
              <a:cs typeface="Calibri"/>
              <a:sym typeface="Calibri"/>
            </a:endParaRPr>
          </a:p>
        </p:txBody>
      </p:sp>
      <p:sp>
        <p:nvSpPr>
          <p:cNvPr id="318" name="Google Shape;318;p12"/>
          <p:cNvSpPr/>
          <p:nvPr/>
        </p:nvSpPr>
        <p:spPr>
          <a:xfrm>
            <a:off x="1238250" y="4221212"/>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7BA4F4"/>
              </a:buClr>
              <a:buSzPts val="1725"/>
              <a:buFont typeface="Courier New"/>
              <a:buNone/>
            </a:pPr>
            <a:r>
              <a:rPr b="0" i="0" lang="en-US" sz="1725" u="none" cap="none" strike="noStrike">
                <a:solidFill>
                  <a:srgbClr val="7BA4F4"/>
                </a:solidFill>
                <a:latin typeface="Courier New"/>
                <a:ea typeface="Courier New"/>
                <a:cs typeface="Courier New"/>
                <a:sym typeface="Courier New"/>
              </a:rPr>
              <a:t>displayName</a:t>
            </a:r>
            <a:r>
              <a:rPr b="0" i="0" lang="en-US" sz="1725" u="none" cap="none" strike="noStrike">
                <a:solidFill>
                  <a:srgbClr val="EEF2F8"/>
                </a:solidFill>
                <a:latin typeface="Courier New"/>
                <a:ea typeface="Courier New"/>
                <a:cs typeface="Courier New"/>
                <a:sym typeface="Courier New"/>
              </a:rPr>
              <a:t>: Team default prompt</a:t>
            </a:r>
            <a:endParaRPr b="0" i="0" sz="1725" u="none" cap="none" strike="noStrike">
              <a:solidFill>
                <a:schemeClr val="dk1"/>
              </a:solidFill>
              <a:latin typeface="Calibri"/>
              <a:ea typeface="Calibri"/>
              <a:cs typeface="Calibri"/>
              <a:sym typeface="Calibri"/>
            </a:endParaRPr>
          </a:p>
        </p:txBody>
      </p:sp>
      <p:sp>
        <p:nvSpPr>
          <p:cNvPr id="319" name="Google Shape;319;p12"/>
          <p:cNvSpPr/>
          <p:nvPr/>
        </p:nvSpPr>
        <p:spPr>
          <a:xfrm>
            <a:off x="1238250" y="4605486"/>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0B0C10"/>
              </a:buClr>
              <a:buSzPts val="1725"/>
              <a:buFont typeface="Courier New"/>
              <a:buNone/>
            </a:pPr>
            <a:r>
              <a:rPr b="0" i="0" lang="en-US" sz="1725" u="none" cap="none" strike="noStrike">
                <a:solidFill>
                  <a:srgbClr val="0B0C10"/>
                </a:solidFill>
                <a:latin typeface="Courier New"/>
                <a:ea typeface="Courier New"/>
                <a:cs typeface="Courier New"/>
                <a:sym typeface="Courier New"/>
              </a:rPr>
              <a:t> </a:t>
            </a:r>
            <a:endParaRPr b="0" i="0" sz="1725" u="none" cap="none" strike="noStrike">
              <a:solidFill>
                <a:schemeClr val="dk1"/>
              </a:solidFill>
              <a:latin typeface="Calibri"/>
              <a:ea typeface="Calibri"/>
              <a:cs typeface="Calibri"/>
              <a:sym typeface="Calibri"/>
            </a:endParaRPr>
          </a:p>
        </p:txBody>
      </p:sp>
      <p:sp>
        <p:nvSpPr>
          <p:cNvPr id="320" name="Google Shape;320;p12"/>
          <p:cNvSpPr/>
          <p:nvPr/>
        </p:nvSpPr>
        <p:spPr>
          <a:xfrm>
            <a:off x="1238250" y="4989761"/>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7BA4F4"/>
              </a:buClr>
              <a:buSzPts val="1725"/>
              <a:buFont typeface="Courier New"/>
              <a:buNone/>
            </a:pPr>
            <a:r>
              <a:rPr b="0" i="0" lang="en-US" sz="1725" u="none" cap="none" strike="noStrike">
                <a:solidFill>
                  <a:srgbClr val="7BA4F4"/>
                </a:solidFill>
                <a:latin typeface="Courier New"/>
                <a:ea typeface="Courier New"/>
                <a:cs typeface="Courier New"/>
                <a:sym typeface="Courier New"/>
              </a:rPr>
              <a:t>commands</a:t>
            </a:r>
            <a:r>
              <a:rPr b="0" i="0" lang="en-US" sz="1725" u="none" cap="none" strike="noStrike">
                <a:solidFill>
                  <a:srgbClr val="EEF2F8"/>
                </a:solidFill>
                <a:latin typeface="Courier New"/>
                <a:ea typeface="Courier New"/>
                <a:cs typeface="Courier New"/>
                <a:sym typeface="Courier New"/>
              </a:rPr>
              <a:t>:</a:t>
            </a:r>
            <a:endParaRPr b="0" i="0" sz="1725" u="none" cap="none" strike="noStrike">
              <a:solidFill>
                <a:schemeClr val="dk1"/>
              </a:solidFill>
              <a:latin typeface="Calibri"/>
              <a:ea typeface="Calibri"/>
              <a:cs typeface="Calibri"/>
              <a:sym typeface="Calibri"/>
            </a:endParaRPr>
          </a:p>
        </p:txBody>
      </p:sp>
      <p:sp>
        <p:nvSpPr>
          <p:cNvPr id="321" name="Google Shape;321;p12"/>
          <p:cNvSpPr/>
          <p:nvPr/>
        </p:nvSpPr>
        <p:spPr>
          <a:xfrm>
            <a:off x="1238250" y="5374035"/>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EEF2F8"/>
              </a:buClr>
              <a:buSzPts val="1725"/>
              <a:buFont typeface="Courier New"/>
              <a:buNone/>
            </a:pPr>
            <a:r>
              <a:rPr b="0" i="0" lang="en-US" sz="1725" u="none" cap="none" strike="noStrike">
                <a:solidFill>
                  <a:srgbClr val="EEF2F8"/>
                </a:solidFill>
                <a:latin typeface="Courier New"/>
                <a:ea typeface="Courier New"/>
                <a:cs typeface="Courier New"/>
                <a:sym typeface="Courier New"/>
              </a:rPr>
              <a:t>  startup:</a:t>
            </a:r>
            <a:endParaRPr b="0" i="0" sz="1725" u="none" cap="none" strike="noStrike">
              <a:solidFill>
                <a:schemeClr val="dk1"/>
              </a:solidFill>
              <a:latin typeface="Calibri"/>
              <a:ea typeface="Calibri"/>
              <a:cs typeface="Calibri"/>
              <a:sym typeface="Calibri"/>
            </a:endParaRPr>
          </a:p>
        </p:txBody>
      </p:sp>
      <p:sp>
        <p:nvSpPr>
          <p:cNvPr id="322" name="Google Shape;322;p12"/>
          <p:cNvSpPr/>
          <p:nvPr/>
        </p:nvSpPr>
        <p:spPr>
          <a:xfrm>
            <a:off x="1238250" y="5758309"/>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EEF2F8"/>
              </a:buClr>
              <a:buSzPts val="1725"/>
              <a:buFont typeface="Courier New"/>
              <a:buNone/>
            </a:pPr>
            <a:r>
              <a:rPr b="0" i="0" lang="en-US" sz="1725" u="none" cap="none" strike="noStrike">
                <a:solidFill>
                  <a:srgbClr val="EEF2F8"/>
                </a:solidFill>
                <a:latin typeface="Courier New"/>
                <a:ea typeface="Courier New"/>
                <a:cs typeface="Courier New"/>
                <a:sym typeface="Courier New"/>
              </a:rPr>
              <a:t>    - command: |</a:t>
            </a:r>
            <a:endParaRPr b="0" i="0" sz="1725" u="none" cap="none" strike="noStrike">
              <a:solidFill>
                <a:schemeClr val="dk1"/>
              </a:solidFill>
              <a:latin typeface="Calibri"/>
              <a:ea typeface="Calibri"/>
              <a:cs typeface="Calibri"/>
              <a:sym typeface="Calibri"/>
            </a:endParaRPr>
          </a:p>
        </p:txBody>
      </p:sp>
      <p:sp>
        <p:nvSpPr>
          <p:cNvPr id="323" name="Google Shape;323;p12"/>
          <p:cNvSpPr/>
          <p:nvPr/>
        </p:nvSpPr>
        <p:spPr>
          <a:xfrm>
            <a:off x="1238250" y="6142583"/>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EEF2F8"/>
              </a:buClr>
              <a:buSzPts val="1725"/>
              <a:buFont typeface="Courier New"/>
              <a:buNone/>
            </a:pPr>
            <a:r>
              <a:rPr b="0" i="0" lang="en-US" sz="1725" u="none" cap="none" strike="noStrike">
                <a:solidFill>
                  <a:srgbClr val="EEF2F8"/>
                </a:solidFill>
                <a:latin typeface="Courier New"/>
                <a:ea typeface="Courier New"/>
                <a:cs typeface="Courier New"/>
                <a:sym typeface="Courier New"/>
              </a:rPr>
              <a:t>        grep -q WORKSHOP-RULES CLAUDE.md 2&gt;/dev/null ||</a:t>
            </a:r>
            <a:endParaRPr b="0" i="0" sz="1725" u="none" cap="none" strike="noStrike">
              <a:solidFill>
                <a:schemeClr val="dk1"/>
              </a:solidFill>
              <a:latin typeface="Calibri"/>
              <a:ea typeface="Calibri"/>
              <a:cs typeface="Calibri"/>
              <a:sym typeface="Calibri"/>
            </a:endParaRPr>
          </a:p>
        </p:txBody>
      </p:sp>
      <p:sp>
        <p:nvSpPr>
          <p:cNvPr id="324" name="Google Shape;324;p12"/>
          <p:cNvSpPr/>
          <p:nvPr/>
        </p:nvSpPr>
        <p:spPr>
          <a:xfrm>
            <a:off x="1238250" y="6526857"/>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EEF2F8"/>
              </a:buClr>
              <a:buSzPts val="1725"/>
              <a:buFont typeface="Courier New"/>
              <a:buNone/>
            </a:pPr>
            <a:r>
              <a:rPr b="0" i="0" lang="en-US" sz="1725" u="none" cap="none" strike="noStrike">
                <a:solidFill>
                  <a:srgbClr val="EEF2F8"/>
                </a:solidFill>
                <a:latin typeface="Courier New"/>
                <a:ea typeface="Courier New"/>
                <a:cs typeface="Courier New"/>
                <a:sym typeface="Courier New"/>
              </a:rPr>
              <a:t>        cat .claude/team-prompt.md &gt;&gt; CLAUDE.md</a:t>
            </a:r>
            <a:endParaRPr b="0" i="0" sz="1725" u="none" cap="none" strike="noStrike">
              <a:solidFill>
                <a:schemeClr val="dk1"/>
              </a:solidFill>
              <a:latin typeface="Calibri"/>
              <a:ea typeface="Calibri"/>
              <a:cs typeface="Calibri"/>
              <a:sym typeface="Calibri"/>
            </a:endParaRPr>
          </a:p>
        </p:txBody>
      </p:sp>
      <p:sp>
        <p:nvSpPr>
          <p:cNvPr id="325" name="Google Shape;325;p12"/>
          <p:cNvSpPr/>
          <p:nvPr/>
        </p:nvSpPr>
        <p:spPr>
          <a:xfrm>
            <a:off x="1238250" y="6911132"/>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EEF2F8"/>
              </a:buClr>
              <a:buSzPts val="1725"/>
              <a:buFont typeface="Courier New"/>
              <a:buNone/>
            </a:pPr>
            <a:r>
              <a:rPr b="0" i="0" lang="en-US" sz="1725" u="none" cap="none" strike="noStrike">
                <a:solidFill>
                  <a:srgbClr val="EEF2F8"/>
                </a:solidFill>
                <a:latin typeface="Courier New"/>
                <a:ea typeface="Courier New"/>
                <a:cs typeface="Courier New"/>
                <a:sym typeface="Courier New"/>
              </a:rPr>
              <a:t>      description: Append default prompt </a:t>
            </a:r>
            <a:r>
              <a:rPr b="0" i="1" lang="en-US" sz="1725" u="none" cap="none" strike="noStrike">
                <a:solidFill>
                  <a:srgbClr val="FFFFFF"/>
                </a:solidFill>
                <a:latin typeface="Courier New"/>
                <a:ea typeface="Courier New"/>
                <a:cs typeface="Courier New"/>
                <a:sym typeface="Courier New"/>
              </a:rPr>
              <a:t># idempotent!</a:t>
            </a:r>
            <a:endParaRPr b="0" i="0" sz="1725" u="none" cap="none" strike="noStrike">
              <a:solidFill>
                <a:schemeClr val="dk1"/>
              </a:solidFill>
              <a:latin typeface="Calibri"/>
              <a:ea typeface="Calibri"/>
              <a:cs typeface="Calibri"/>
              <a:sym typeface="Calibri"/>
            </a:endParaRPr>
          </a:p>
        </p:txBody>
      </p:sp>
      <p:sp>
        <p:nvSpPr>
          <p:cNvPr id="326" name="Google Shape;326;p12"/>
          <p:cNvSpPr/>
          <p:nvPr/>
        </p:nvSpPr>
        <p:spPr>
          <a:xfrm>
            <a:off x="1238250" y="7295406"/>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0B0C10"/>
              </a:buClr>
              <a:buSzPts val="1725"/>
              <a:buFont typeface="Courier New"/>
              <a:buNone/>
            </a:pPr>
            <a:r>
              <a:rPr b="0" i="0" lang="en-US" sz="1725" u="none" cap="none" strike="noStrike">
                <a:solidFill>
                  <a:srgbClr val="0B0C10"/>
                </a:solidFill>
                <a:latin typeface="Courier New"/>
                <a:ea typeface="Courier New"/>
                <a:cs typeface="Courier New"/>
                <a:sym typeface="Courier New"/>
              </a:rPr>
              <a:t> </a:t>
            </a:r>
            <a:endParaRPr b="0" i="0" sz="1725" u="none" cap="none" strike="noStrike">
              <a:solidFill>
                <a:schemeClr val="dk1"/>
              </a:solidFill>
              <a:latin typeface="Calibri"/>
              <a:ea typeface="Calibri"/>
              <a:cs typeface="Calibri"/>
              <a:sym typeface="Calibri"/>
            </a:endParaRPr>
          </a:p>
        </p:txBody>
      </p:sp>
      <p:sp>
        <p:nvSpPr>
          <p:cNvPr id="327" name="Google Shape;327;p12"/>
          <p:cNvSpPr/>
          <p:nvPr/>
        </p:nvSpPr>
        <p:spPr>
          <a:xfrm>
            <a:off x="1238250" y="7679680"/>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FFFFF"/>
              </a:buClr>
              <a:buSzPts val="1725"/>
              <a:buFont typeface="Courier New"/>
              <a:buNone/>
            </a:pPr>
            <a:r>
              <a:rPr b="0" i="1" lang="en-US" sz="1725" u="none" cap="none" strike="noStrike">
                <a:solidFill>
                  <a:srgbClr val="FFFFFF"/>
                </a:solidFill>
                <a:latin typeface="Courier New"/>
                <a:ea typeface="Courier New"/>
                <a:cs typeface="Courier New"/>
                <a:sym typeface="Courier New"/>
              </a:rPr>
              <a:t># files/workspace/.claude/team-prompt.md  ← your prompt text</a:t>
            </a:r>
            <a:endParaRPr b="0" i="0" sz="1725" u="none" cap="none" strike="noStrike">
              <a:solidFill>
                <a:schemeClr val="dk1"/>
              </a:solidFill>
              <a:latin typeface="Calibri"/>
              <a:ea typeface="Calibri"/>
              <a:cs typeface="Calibri"/>
              <a:sym typeface="Calibri"/>
            </a:endParaRPr>
          </a:p>
        </p:txBody>
      </p:sp>
      <p:sp>
        <p:nvSpPr>
          <p:cNvPr id="328" name="Google Shape;328;p12"/>
          <p:cNvSpPr/>
          <p:nvPr/>
        </p:nvSpPr>
        <p:spPr>
          <a:xfrm>
            <a:off x="1238250" y="8063954"/>
            <a:ext cx="8694471"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FFFFF"/>
              </a:buClr>
              <a:buSzPts val="1725"/>
              <a:buFont typeface="Courier New"/>
              <a:buNone/>
            </a:pPr>
            <a:r>
              <a:rPr b="0" i="1" lang="en-US" sz="1725" u="none" cap="none" strike="noStrike">
                <a:solidFill>
                  <a:srgbClr val="FFFFFF"/>
                </a:solidFill>
                <a:latin typeface="Courier New"/>
                <a:ea typeface="Courier New"/>
                <a:cs typeface="Courier New"/>
                <a:sym typeface="Courier New"/>
              </a:rPr>
              <a:t># e.g. "WORKSHOP-RULES: always run tests before declaring done…"</a:t>
            </a:r>
            <a:endParaRPr b="0" i="0" sz="1725" u="none" cap="none" strike="noStrike">
              <a:solidFill>
                <a:schemeClr val="dk1"/>
              </a:solidFill>
              <a:latin typeface="Calibri"/>
              <a:ea typeface="Calibri"/>
              <a:cs typeface="Calibri"/>
              <a:sym typeface="Calibri"/>
            </a:endParaRPr>
          </a:p>
        </p:txBody>
      </p:sp>
      <p:sp>
        <p:nvSpPr>
          <p:cNvPr id="329" name="Google Shape;329;p12"/>
          <p:cNvSpPr/>
          <p:nvPr/>
        </p:nvSpPr>
        <p:spPr>
          <a:xfrm>
            <a:off x="10460534" y="2131665"/>
            <a:ext cx="6924452" cy="6712297"/>
          </a:xfrm>
          <a:prstGeom prst="roundRect">
            <a:avLst>
              <a:gd fmla="val 2270"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2"/>
          <p:cNvSpPr/>
          <p:nvPr/>
        </p:nvSpPr>
        <p:spPr>
          <a:xfrm>
            <a:off x="10889159" y="4053111"/>
            <a:ext cx="6673922"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00"/>
              <a:buFont typeface="IBM Plex Sans"/>
              <a:buNone/>
            </a:pPr>
            <a:r>
              <a:rPr b="1" i="0" lang="en-US" sz="2100" u="none" cap="none" strike="noStrike">
                <a:solidFill>
                  <a:srgbClr val="0B0C10"/>
                </a:solidFill>
                <a:latin typeface="IBM Plex Sans"/>
                <a:ea typeface="IBM Plex Sans"/>
                <a:cs typeface="IBM Plex Sans"/>
                <a:sym typeface="IBM Plex Sans"/>
              </a:rPr>
              <a:t>Run it:</a:t>
            </a:r>
            <a:endParaRPr b="0" i="0" sz="2100" u="none" cap="none" strike="noStrike">
              <a:solidFill>
                <a:schemeClr val="dk1"/>
              </a:solidFill>
              <a:latin typeface="Calibri"/>
              <a:ea typeface="Calibri"/>
              <a:cs typeface="Calibri"/>
              <a:sym typeface="Calibri"/>
            </a:endParaRPr>
          </a:p>
        </p:txBody>
      </p:sp>
      <p:sp>
        <p:nvSpPr>
          <p:cNvPr id="331" name="Google Shape;331;p12"/>
          <p:cNvSpPr/>
          <p:nvPr/>
        </p:nvSpPr>
        <p:spPr>
          <a:xfrm>
            <a:off x="10889159" y="4548411"/>
            <a:ext cx="6673922"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800"/>
              <a:buFont typeface="Courier New"/>
              <a:buNone/>
            </a:pPr>
            <a:r>
              <a:rPr b="1" i="0" lang="en-US" sz="1800" u="none" cap="none" strike="noStrike">
                <a:solidFill>
                  <a:srgbClr val="2560FF"/>
                </a:solidFill>
                <a:latin typeface="Courier New"/>
                <a:ea typeface="Courier New"/>
                <a:cs typeface="Courier New"/>
                <a:sym typeface="Courier New"/>
              </a:rPr>
              <a:t>sbx run claude --kit ./team-prompt .</a:t>
            </a:r>
            <a:endParaRPr b="0" i="0" sz="1800" u="none" cap="none" strike="noStrike">
              <a:solidFill>
                <a:schemeClr val="dk1"/>
              </a:solidFill>
              <a:latin typeface="Calibri"/>
              <a:ea typeface="Calibri"/>
              <a:cs typeface="Calibri"/>
              <a:sym typeface="Calibri"/>
            </a:endParaRPr>
          </a:p>
        </p:txBody>
      </p:sp>
      <p:sp>
        <p:nvSpPr>
          <p:cNvPr id="332" name="Google Shape;332;p12"/>
          <p:cNvSpPr/>
          <p:nvPr/>
        </p:nvSpPr>
        <p:spPr>
          <a:xfrm>
            <a:off x="10889159" y="4967511"/>
            <a:ext cx="6249218" cy="728663"/>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0B0C10"/>
              </a:buClr>
              <a:buSzPts val="1875"/>
              <a:buFont typeface="IBM Plex Sans"/>
              <a:buNone/>
            </a:pPr>
            <a:r>
              <a:rPr b="0" i="0" lang="en-US" sz="1875" u="none" cap="none" strike="noStrike">
                <a:solidFill>
                  <a:srgbClr val="0B0C10"/>
                </a:solidFill>
                <a:latin typeface="IBM Plex Sans"/>
                <a:ea typeface="IBM Plex Sans"/>
                <a:cs typeface="IBM Plex Sans"/>
                <a:sym typeface="IBM Plex Sans"/>
              </a:rPr>
              <a:t>Every sandbox now boots with your instructions in CLAUDE.md.</a:t>
            </a:r>
            <a:endParaRPr b="0" i="0" sz="1875" u="none" cap="none" strike="noStrike">
              <a:solidFill>
                <a:schemeClr val="dk1"/>
              </a:solidFill>
              <a:latin typeface="Calibri"/>
              <a:ea typeface="Calibri"/>
              <a:cs typeface="Calibri"/>
              <a:sym typeface="Calibri"/>
            </a:endParaRPr>
          </a:p>
        </p:txBody>
      </p:sp>
      <p:sp>
        <p:nvSpPr>
          <p:cNvPr id="333" name="Google Shape;333;p12"/>
          <p:cNvSpPr/>
          <p:nvPr/>
        </p:nvSpPr>
        <p:spPr>
          <a:xfrm>
            <a:off x="10889159" y="5886673"/>
            <a:ext cx="6249218" cy="1073944"/>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0B0C10"/>
              </a:buClr>
              <a:buSzPts val="1875"/>
              <a:buFont typeface="IBM Plex Sans"/>
              <a:buNone/>
            </a:pPr>
            <a:r>
              <a:rPr b="0" i="0" lang="en-US" sz="1875" u="none" cap="none" strike="noStrike">
                <a:solidFill>
                  <a:srgbClr val="0B0C10"/>
                </a:solidFill>
                <a:latin typeface="IBM Plex Sans"/>
                <a:ea typeface="IBM Plex Sans"/>
                <a:cs typeface="IBM Plex Sans"/>
                <a:sym typeface="IBM Plex Sans"/>
              </a:rPr>
              <a:t>Richer option: drop a skill at </a:t>
            </a:r>
            <a:r>
              <a:rPr b="1" i="0" lang="en-US" sz="1725" u="none" cap="none" strike="noStrike">
                <a:solidFill>
                  <a:srgbClr val="2D9568"/>
                </a:solidFill>
                <a:latin typeface="Courier New"/>
                <a:ea typeface="Courier New"/>
                <a:cs typeface="Courier New"/>
                <a:sym typeface="Courier New"/>
              </a:rPr>
              <a:t>files/workspace/.claude/skills/&lt;name&gt;/SKILL.md </a:t>
            </a:r>
            <a:r>
              <a:rPr b="0" i="0" lang="en-US" sz="1875" u="none" cap="none" strike="noStrike">
                <a:solidFill>
                  <a:srgbClr val="3D414C"/>
                </a:solidFill>
                <a:latin typeface="IBM Plex Sans"/>
                <a:ea typeface="IBM Plex Sans"/>
                <a:cs typeface="IBM Plex Sans"/>
                <a:sym typeface="IBM Plex Sans"/>
              </a:rPr>
              <a:t>— documented pattern, stackable.</a:t>
            </a:r>
            <a:endParaRPr b="0" i="0" sz="1875" u="none" cap="none" strike="noStrike">
              <a:solidFill>
                <a:schemeClr val="dk1"/>
              </a:solidFill>
              <a:latin typeface="Calibri"/>
              <a:ea typeface="Calibri"/>
              <a:cs typeface="Calibri"/>
              <a:sym typeface="Calibri"/>
            </a:endParaRPr>
          </a:p>
        </p:txBody>
      </p:sp>
      <p:sp>
        <p:nvSpPr>
          <p:cNvPr id="334" name="Google Shape;334;p12"/>
          <p:cNvSpPr/>
          <p:nvPr/>
        </p:nvSpPr>
        <p:spPr>
          <a:xfrm>
            <a:off x="914400" y="9186863"/>
            <a:ext cx="1664285" cy="3762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D9568"/>
              </a:buClr>
              <a:buSzPts val="2025"/>
              <a:buFont typeface="Arial"/>
              <a:buNone/>
            </a:pPr>
            <a:r>
              <a:rPr b="1" i="0" lang="en-US" sz="2025" u="none" cap="none" strike="noStrike">
                <a:solidFill>
                  <a:srgbClr val="2D9568"/>
                </a:solidFill>
                <a:latin typeface="Arial"/>
                <a:ea typeface="Arial"/>
                <a:cs typeface="Arial"/>
                <a:sym typeface="Arial"/>
              </a:rPr>
              <a:t>Checkpoint</a:t>
            </a:r>
            <a:endParaRPr b="0" i="0" sz="2025" u="none" cap="none" strike="noStrike">
              <a:solidFill>
                <a:schemeClr val="dk1"/>
              </a:solidFill>
              <a:latin typeface="Calibri"/>
              <a:ea typeface="Calibri"/>
              <a:cs typeface="Calibri"/>
              <a:sym typeface="Calibri"/>
            </a:endParaRPr>
          </a:p>
        </p:txBody>
      </p:sp>
      <p:sp>
        <p:nvSpPr>
          <p:cNvPr id="335" name="Google Shape;335;p12"/>
          <p:cNvSpPr/>
          <p:nvPr/>
        </p:nvSpPr>
        <p:spPr>
          <a:xfrm>
            <a:off x="2579787" y="9191625"/>
            <a:ext cx="11229752" cy="3714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025"/>
              <a:buFont typeface="IBM Plex Sans"/>
              <a:buNone/>
            </a:pPr>
            <a:r>
              <a:rPr b="0" i="0" lang="en-US" sz="2025" u="none" cap="none" strike="noStrike">
                <a:solidFill>
                  <a:srgbClr val="0B0C10"/>
                </a:solidFill>
                <a:latin typeface="IBM Plex Sans"/>
                <a:ea typeface="IBM Plex Sans"/>
                <a:cs typeface="IBM Plex Sans"/>
                <a:sym typeface="IBM Plex Sans"/>
              </a:rPr>
              <a:t>New sandbox, ask Claude "what are your standing instructions?" — your prompt is there.</a:t>
            </a:r>
            <a:endParaRPr b="0" i="0" sz="2025"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13"/>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04</a:t>
            </a:r>
            <a:endParaRPr b="0" i="0" sz="1950" u="none" cap="none" strike="noStrike">
              <a:solidFill>
                <a:schemeClr val="dk1"/>
              </a:solidFill>
              <a:latin typeface="Calibri"/>
              <a:ea typeface="Calibri"/>
              <a:cs typeface="Calibri"/>
              <a:sym typeface="Calibri"/>
            </a:endParaRPr>
          </a:p>
        </p:txBody>
      </p:sp>
      <p:sp>
        <p:nvSpPr>
          <p:cNvPr id="342" name="Google Shape;342;p13"/>
          <p:cNvSpPr/>
          <p:nvPr/>
        </p:nvSpPr>
        <p:spPr>
          <a:xfrm>
            <a:off x="1384102" y="762000"/>
            <a:ext cx="1431734"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POLICIES</a:t>
            </a:r>
            <a:endParaRPr b="0" i="0" sz="1800" u="none" cap="none" strike="noStrike">
              <a:solidFill>
                <a:schemeClr val="dk1"/>
              </a:solidFill>
              <a:latin typeface="Calibri"/>
              <a:ea typeface="Calibri"/>
              <a:cs typeface="Calibri"/>
              <a:sym typeface="Calibri"/>
            </a:endParaRPr>
          </a:p>
        </p:txBody>
      </p:sp>
      <p:sp>
        <p:nvSpPr>
          <p:cNvPr id="343" name="Google Shape;343;p13"/>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Policies you'll actually type this week</a:t>
            </a:r>
            <a:endParaRPr b="0" i="0" sz="4500" u="none" cap="none" strike="noStrike">
              <a:solidFill>
                <a:schemeClr val="dk1"/>
              </a:solidFill>
              <a:latin typeface="Calibri"/>
              <a:ea typeface="Calibri"/>
              <a:cs typeface="Calibri"/>
              <a:sym typeface="Calibri"/>
            </a:endParaRPr>
          </a:p>
        </p:txBody>
      </p:sp>
      <p:sp>
        <p:nvSpPr>
          <p:cNvPr id="344" name="Google Shape;344;p13"/>
          <p:cNvSpPr/>
          <p:nvPr/>
        </p:nvSpPr>
        <p:spPr>
          <a:xfrm>
            <a:off x="914400" y="2169765"/>
            <a:ext cx="16459200" cy="3886200"/>
          </a:xfrm>
          <a:prstGeom prst="roundRect">
            <a:avLst>
              <a:gd fmla="val 3922"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12573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14859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3"/>
          <p:cNvSpPr/>
          <p:nvPr/>
        </p:nvSpPr>
        <p:spPr>
          <a:xfrm>
            <a:off x="17145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1257300" y="27603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1" lang="en-US" sz="1800" u="none" cap="none" strike="noStrike">
                <a:solidFill>
                  <a:srgbClr val="FFFFFF"/>
                </a:solidFill>
                <a:latin typeface="Courier New"/>
                <a:ea typeface="Courier New"/>
                <a:cs typeface="Courier New"/>
                <a:sym typeface="Courier New"/>
              </a:rPr>
              <a:t># npm install failing? allow the registries — once, globally</a:t>
            </a:r>
            <a:endParaRPr b="0" i="0" sz="1800" u="none" cap="none" strike="noStrike">
              <a:solidFill>
                <a:schemeClr val="dk1"/>
              </a:solidFill>
              <a:latin typeface="Calibri"/>
              <a:ea typeface="Calibri"/>
              <a:cs typeface="Calibri"/>
              <a:sym typeface="Calibri"/>
            </a:endParaRPr>
          </a:p>
        </p:txBody>
      </p:sp>
      <p:sp>
        <p:nvSpPr>
          <p:cNvPr id="349" name="Google Shape;349;p13"/>
          <p:cNvSpPr/>
          <p:nvPr/>
        </p:nvSpPr>
        <p:spPr>
          <a:xfrm>
            <a:off x="1257300" y="31984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policy allow network "*.npmjs.org,pypi.org,files.pythonhosted.org"</a:t>
            </a:r>
            <a:endParaRPr b="0" i="0" sz="1800" u="none" cap="none" strike="noStrike">
              <a:solidFill>
                <a:schemeClr val="dk1"/>
              </a:solidFill>
              <a:latin typeface="Calibri"/>
              <a:ea typeface="Calibri"/>
              <a:cs typeface="Calibri"/>
              <a:sym typeface="Calibri"/>
            </a:endParaRPr>
          </a:p>
        </p:txBody>
      </p:sp>
      <p:sp>
        <p:nvSpPr>
          <p:cNvPr id="350" name="Google Shape;350;p13"/>
          <p:cNvSpPr/>
          <p:nvPr/>
        </p:nvSpPr>
        <p:spPr>
          <a:xfrm>
            <a:off x="1257300" y="36366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p:txBody>
      </p:sp>
      <p:sp>
        <p:nvSpPr>
          <p:cNvPr id="351" name="Google Shape;351;p13"/>
          <p:cNvSpPr/>
          <p:nvPr/>
        </p:nvSpPr>
        <p:spPr>
          <a:xfrm>
            <a:off x="1257300" y="40747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policy allow network --sandbox my-sandbox api.internal.corp</a:t>
            </a:r>
            <a:r>
              <a:rPr b="0" i="1" lang="en-US" sz="1800" u="none" cap="none" strike="noStrike">
                <a:solidFill>
                  <a:srgbClr val="FFFFFF"/>
                </a:solidFill>
                <a:latin typeface="Courier New"/>
                <a:ea typeface="Courier New"/>
                <a:cs typeface="Courier New"/>
                <a:sym typeface="Courier New"/>
              </a:rPr>
              <a:t>  # scoped</a:t>
            </a:r>
            <a:endParaRPr b="0" i="0" sz="1800" u="none" cap="none" strike="noStrike">
              <a:solidFill>
                <a:schemeClr val="dk1"/>
              </a:solidFill>
              <a:latin typeface="Calibri"/>
              <a:ea typeface="Calibri"/>
              <a:cs typeface="Calibri"/>
              <a:sym typeface="Calibri"/>
            </a:endParaRPr>
          </a:p>
        </p:txBody>
      </p:sp>
      <p:sp>
        <p:nvSpPr>
          <p:cNvPr id="352" name="Google Shape;352;p13"/>
          <p:cNvSpPr/>
          <p:nvPr/>
        </p:nvSpPr>
        <p:spPr>
          <a:xfrm>
            <a:off x="1257300" y="45129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policy deny  network ads.example.com</a:t>
            </a:r>
            <a:r>
              <a:rPr b="0" i="1" lang="en-US" sz="1800" u="none" cap="none" strike="noStrike">
                <a:solidFill>
                  <a:srgbClr val="FFFFFF"/>
                </a:solidFill>
                <a:latin typeface="Courier New"/>
                <a:ea typeface="Courier New"/>
                <a:cs typeface="Courier New"/>
                <a:sym typeface="Courier New"/>
              </a:rPr>
              <a:t>                # deny always wins</a:t>
            </a:r>
            <a:endParaRPr b="0" i="0" sz="1800" u="none" cap="none" strike="noStrike">
              <a:solidFill>
                <a:schemeClr val="dk1"/>
              </a:solidFill>
              <a:latin typeface="Calibri"/>
              <a:ea typeface="Calibri"/>
              <a:cs typeface="Calibri"/>
              <a:sym typeface="Calibri"/>
            </a:endParaRPr>
          </a:p>
        </p:txBody>
      </p:sp>
      <p:sp>
        <p:nvSpPr>
          <p:cNvPr id="353" name="Google Shape;353;p13"/>
          <p:cNvSpPr/>
          <p:nvPr/>
        </p:nvSpPr>
        <p:spPr>
          <a:xfrm>
            <a:off x="1257300" y="49510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policy allow network "10.1.2.3:22"</a:t>
            </a:r>
            <a:r>
              <a:rPr b="0" i="1" lang="en-US" sz="1800" u="none" cap="none" strike="noStrike">
                <a:solidFill>
                  <a:srgbClr val="FFFFFF"/>
                </a:solidFill>
                <a:latin typeface="Courier New"/>
                <a:ea typeface="Courier New"/>
                <a:cs typeface="Courier New"/>
                <a:sym typeface="Courier New"/>
              </a:rPr>
              <a:t>      # non-HTTP (ssh) = IP:port only</a:t>
            </a:r>
            <a:endParaRPr b="0" i="0" sz="1800" u="none" cap="none" strike="noStrike">
              <a:solidFill>
                <a:schemeClr val="dk1"/>
              </a:solidFill>
              <a:latin typeface="Calibri"/>
              <a:ea typeface="Calibri"/>
              <a:cs typeface="Calibri"/>
              <a:sym typeface="Calibri"/>
            </a:endParaRPr>
          </a:p>
        </p:txBody>
      </p:sp>
      <p:sp>
        <p:nvSpPr>
          <p:cNvPr id="354" name="Google Shape;354;p13"/>
          <p:cNvSpPr/>
          <p:nvPr/>
        </p:nvSpPr>
        <p:spPr>
          <a:xfrm>
            <a:off x="1257300" y="53892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policy ls</a:t>
            </a:r>
            <a:endParaRPr b="0" i="0" sz="1800" u="none" cap="none" strike="noStrike">
              <a:solidFill>
                <a:schemeClr val="dk1"/>
              </a:solidFill>
              <a:latin typeface="Calibri"/>
              <a:ea typeface="Calibri"/>
              <a:cs typeface="Calibri"/>
              <a:sym typeface="Calibri"/>
            </a:endParaRPr>
          </a:p>
        </p:txBody>
      </p:sp>
      <p:sp>
        <p:nvSpPr>
          <p:cNvPr id="355" name="Google Shape;355;p13"/>
          <p:cNvSpPr/>
          <p:nvPr/>
        </p:nvSpPr>
        <p:spPr>
          <a:xfrm>
            <a:off x="914400" y="7605713"/>
            <a:ext cx="8717280" cy="3762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025"/>
              <a:buFont typeface="Arial"/>
              <a:buNone/>
            </a:pPr>
            <a:r>
              <a:rPr b="1" i="0" lang="en-US" sz="2025" u="none" cap="none" strike="noStrike">
                <a:solidFill>
                  <a:srgbClr val="0B0C10"/>
                </a:solidFill>
                <a:latin typeface="Arial"/>
                <a:ea typeface="Arial"/>
                <a:cs typeface="Arial"/>
                <a:sym typeface="Arial"/>
              </a:rPr>
              <a:t>Pattern cheat-sheet</a:t>
            </a:r>
            <a:endParaRPr b="0" i="0" sz="2025" u="none" cap="none" strike="noStrike">
              <a:solidFill>
                <a:schemeClr val="dk1"/>
              </a:solidFill>
              <a:latin typeface="Calibri"/>
              <a:ea typeface="Calibri"/>
              <a:cs typeface="Calibri"/>
              <a:sym typeface="Calibri"/>
            </a:endParaRPr>
          </a:p>
        </p:txBody>
      </p:sp>
      <p:sp>
        <p:nvSpPr>
          <p:cNvPr id="356" name="Google Shape;356;p13"/>
          <p:cNvSpPr/>
          <p:nvPr/>
        </p:nvSpPr>
        <p:spPr>
          <a:xfrm>
            <a:off x="914400" y="8058150"/>
            <a:ext cx="871728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875"/>
              <a:buFont typeface="Courier New"/>
              <a:buNone/>
            </a:pPr>
            <a:r>
              <a:rPr b="1" i="0" lang="en-US" sz="1875" u="none" cap="none" strike="noStrike">
                <a:solidFill>
                  <a:srgbClr val="2560FF"/>
                </a:solidFill>
                <a:latin typeface="Courier New"/>
                <a:ea typeface="Courier New"/>
                <a:cs typeface="Courier New"/>
                <a:sym typeface="Courier New"/>
              </a:rPr>
              <a:t>*.example.com</a:t>
            </a:r>
            <a:r>
              <a:rPr b="0" i="0" lang="en-US" sz="1875" u="none" cap="none" strike="noStrike">
                <a:solidFill>
                  <a:srgbClr val="3D414C"/>
                </a:solidFill>
                <a:latin typeface="IBM Plex Sans"/>
                <a:ea typeface="IBM Plex Sans"/>
                <a:cs typeface="IBM Plex Sans"/>
                <a:sym typeface="IBM Plex Sans"/>
              </a:rPr>
              <a:t>one level ·</a:t>
            </a:r>
            <a:r>
              <a:rPr b="1" i="0" lang="en-US" sz="1875" u="none" cap="none" strike="noStrike">
                <a:solidFill>
                  <a:srgbClr val="2560FF"/>
                </a:solidFill>
                <a:latin typeface="Courier New"/>
                <a:ea typeface="Courier New"/>
                <a:cs typeface="Courier New"/>
                <a:sym typeface="Courier New"/>
              </a:rPr>
              <a:t>**.example.com</a:t>
            </a:r>
            <a:r>
              <a:rPr b="0" i="0" lang="en-US" sz="1875" u="none" cap="none" strike="noStrike">
                <a:solidFill>
                  <a:srgbClr val="3D414C"/>
                </a:solidFill>
                <a:latin typeface="IBM Plex Sans"/>
                <a:ea typeface="IBM Plex Sans"/>
                <a:cs typeface="IBM Plex Sans"/>
                <a:sym typeface="IBM Plex Sans"/>
              </a:rPr>
              <a:t>any depth</a:t>
            </a:r>
            <a:endParaRPr b="0" i="0" sz="1875" u="none" cap="none" strike="noStrike">
              <a:solidFill>
                <a:schemeClr val="dk1"/>
              </a:solidFill>
              <a:latin typeface="Calibri"/>
              <a:ea typeface="Calibri"/>
              <a:cs typeface="Calibri"/>
              <a:sym typeface="Calibri"/>
            </a:endParaRPr>
          </a:p>
        </p:txBody>
      </p:sp>
      <p:sp>
        <p:nvSpPr>
          <p:cNvPr id="357" name="Google Shape;357;p13"/>
          <p:cNvSpPr/>
          <p:nvPr/>
        </p:nvSpPr>
        <p:spPr>
          <a:xfrm>
            <a:off x="914400" y="8482013"/>
            <a:ext cx="871728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Files: read/write rules,</a:t>
            </a:r>
            <a:r>
              <a:rPr b="1" i="0" lang="en-US" sz="1875" u="none" cap="none" strike="noStrike">
                <a:solidFill>
                  <a:srgbClr val="2560FF"/>
                </a:solidFill>
                <a:latin typeface="Courier New"/>
                <a:ea typeface="Courier New"/>
                <a:cs typeface="Courier New"/>
                <a:sym typeface="Courier New"/>
              </a:rPr>
              <a:t>/data/*</a:t>
            </a:r>
            <a:r>
              <a:rPr b="0" i="0" lang="en-US" sz="1875" u="none" cap="none" strike="noStrike">
                <a:solidFill>
                  <a:srgbClr val="3D414C"/>
                </a:solidFill>
                <a:latin typeface="IBM Plex Sans"/>
                <a:ea typeface="IBM Plex Sans"/>
                <a:cs typeface="IBM Plex Sans"/>
                <a:sym typeface="IBM Plex Sans"/>
              </a:rPr>
              <a:t>one segment,</a:t>
            </a:r>
            <a:r>
              <a:rPr b="1" i="0" lang="en-US" sz="1875" u="none" cap="none" strike="noStrike">
                <a:solidFill>
                  <a:srgbClr val="2560FF"/>
                </a:solidFill>
                <a:latin typeface="Courier New"/>
                <a:ea typeface="Courier New"/>
                <a:cs typeface="Courier New"/>
                <a:sym typeface="Courier New"/>
              </a:rPr>
              <a:t>/data/**</a:t>
            </a:r>
            <a:r>
              <a:rPr b="0" i="0" lang="en-US" sz="1875" u="none" cap="none" strike="noStrike">
                <a:solidFill>
                  <a:srgbClr val="3D414C"/>
                </a:solidFill>
                <a:latin typeface="IBM Plex Sans"/>
                <a:ea typeface="IBM Plex Sans"/>
                <a:cs typeface="IBM Plex Sans"/>
                <a:sym typeface="IBM Plex Sans"/>
              </a:rPr>
              <a:t>recursive</a:t>
            </a:r>
            <a:endParaRPr b="0" i="0" sz="1875" u="none" cap="none" strike="noStrike">
              <a:solidFill>
                <a:schemeClr val="dk1"/>
              </a:solidFill>
              <a:latin typeface="Calibri"/>
              <a:ea typeface="Calibri"/>
              <a:cs typeface="Calibri"/>
              <a:sym typeface="Calibri"/>
            </a:endParaRPr>
          </a:p>
        </p:txBody>
      </p:sp>
      <p:sp>
        <p:nvSpPr>
          <p:cNvPr id="358" name="Google Shape;358;p13"/>
          <p:cNvSpPr/>
          <p:nvPr/>
        </p:nvSpPr>
        <p:spPr>
          <a:xfrm>
            <a:off x="914400" y="8905875"/>
            <a:ext cx="871728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86A00"/>
              </a:buClr>
              <a:buSzPts val="1875"/>
              <a:buFont typeface="IBM Plex Sans"/>
              <a:buNone/>
            </a:pPr>
            <a:r>
              <a:rPr b="1" i="0" lang="en-US" sz="1875" u="none" cap="none" strike="noStrike">
                <a:solidFill>
                  <a:srgbClr val="A86A00"/>
                </a:solidFill>
                <a:latin typeface="IBM Plex Sans"/>
                <a:ea typeface="IBM Plex Sans"/>
                <a:cs typeface="IBM Plex Sans"/>
                <a:sym typeface="IBM Plex Sans"/>
              </a:rPr>
              <a:t>UDP &amp; ICMP: always blocked. Not configurable.</a:t>
            </a:r>
            <a:endParaRPr b="0" i="0" sz="1875" u="none" cap="none" strike="noStrike">
              <a:solidFill>
                <a:schemeClr val="dk1"/>
              </a:solidFill>
              <a:latin typeface="Calibri"/>
              <a:ea typeface="Calibri"/>
              <a:cs typeface="Calibri"/>
              <a:sym typeface="Calibri"/>
            </a:endParaRPr>
          </a:p>
        </p:txBody>
      </p:sp>
      <p:sp>
        <p:nvSpPr>
          <p:cNvPr id="359" name="Google Shape;359;p13"/>
          <p:cNvSpPr/>
          <p:nvPr/>
        </p:nvSpPr>
        <p:spPr>
          <a:xfrm>
            <a:off x="9448800" y="7605713"/>
            <a:ext cx="8717280" cy="3762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025"/>
              <a:buFont typeface="Arial"/>
              <a:buNone/>
            </a:pPr>
            <a:r>
              <a:rPr b="1" i="0" lang="en-US" sz="2025" u="none" cap="none" strike="noStrike">
                <a:solidFill>
                  <a:srgbClr val="0B0C10"/>
                </a:solidFill>
                <a:latin typeface="Arial"/>
                <a:ea typeface="Arial"/>
                <a:cs typeface="Arial"/>
                <a:sym typeface="Arial"/>
              </a:rPr>
              <a:t>When your org turns on governance</a:t>
            </a:r>
            <a:endParaRPr b="0" i="0" sz="2025" u="none" cap="none" strike="noStrike">
              <a:solidFill>
                <a:schemeClr val="dk1"/>
              </a:solidFill>
              <a:latin typeface="Calibri"/>
              <a:ea typeface="Calibri"/>
              <a:cs typeface="Calibri"/>
              <a:sym typeface="Calibri"/>
            </a:endParaRPr>
          </a:p>
        </p:txBody>
      </p:sp>
      <p:sp>
        <p:nvSpPr>
          <p:cNvPr id="360" name="Google Shape;360;p13"/>
          <p:cNvSpPr/>
          <p:nvPr/>
        </p:nvSpPr>
        <p:spPr>
          <a:xfrm>
            <a:off x="9448800" y="8058150"/>
            <a:ext cx="871728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75"/>
              <a:buFont typeface="IBM Plex Sans"/>
              <a:buNone/>
            </a:pPr>
            <a:r>
              <a:rPr b="0" i="0" lang="en-US" sz="1875" u="none" cap="none" strike="noStrike">
                <a:solidFill>
                  <a:srgbClr val="0B0C10"/>
                </a:solidFill>
                <a:latin typeface="IBM Plex Sans"/>
                <a:ea typeface="IBM Plex Sans"/>
                <a:cs typeface="IBM Plex Sans"/>
                <a:sym typeface="IBM Plex Sans"/>
              </a:rPr>
              <a:t>Admin-set policies replace local ones entirely.</a:t>
            </a:r>
            <a:endParaRPr b="0" i="0" sz="1875" u="none" cap="none" strike="noStrike">
              <a:solidFill>
                <a:schemeClr val="dk1"/>
              </a:solidFill>
              <a:latin typeface="Calibri"/>
              <a:ea typeface="Calibri"/>
              <a:cs typeface="Calibri"/>
              <a:sym typeface="Calibri"/>
            </a:endParaRPr>
          </a:p>
        </p:txBody>
      </p:sp>
      <p:sp>
        <p:nvSpPr>
          <p:cNvPr id="361" name="Google Shape;361;p13"/>
          <p:cNvSpPr/>
          <p:nvPr/>
        </p:nvSpPr>
        <p:spPr>
          <a:xfrm>
            <a:off x="9448800" y="8482013"/>
            <a:ext cx="8162544" cy="657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875"/>
              <a:buFont typeface="Courier New"/>
              <a:buNone/>
            </a:pPr>
            <a:r>
              <a:rPr b="1" i="0" lang="en-US" sz="1875" u="none" cap="none" strike="noStrike">
                <a:solidFill>
                  <a:srgbClr val="2560FF"/>
                </a:solidFill>
                <a:latin typeface="Courier New"/>
                <a:ea typeface="Courier New"/>
                <a:cs typeface="Courier New"/>
                <a:sym typeface="Courier New"/>
              </a:rPr>
              <a:t>sbx policy ls --include-inactive </a:t>
            </a:r>
            <a:r>
              <a:rPr b="0" i="0" lang="en-US" sz="1875" u="none" cap="none" strike="noStrike">
                <a:solidFill>
                  <a:srgbClr val="3D414C"/>
                </a:solidFill>
                <a:latin typeface="IBM Plex Sans"/>
                <a:ea typeface="IBM Plex Sans"/>
                <a:cs typeface="IBM Plex Sans"/>
                <a:sym typeface="IBM Plex Sans"/>
              </a:rPr>
              <a:t>shows yours, marked "corporate policy takes precedence".</a:t>
            </a:r>
            <a:endParaRPr b="0" i="0" sz="1875" u="none" cap="none" strike="noStrike">
              <a:solidFill>
                <a:schemeClr val="dk1"/>
              </a:solidFill>
              <a:latin typeface="Calibri"/>
              <a:ea typeface="Calibri"/>
              <a:cs typeface="Calibri"/>
              <a:sym typeface="Calibri"/>
            </a:endParaRPr>
          </a:p>
        </p:txBody>
      </p:sp>
      <p:sp>
        <p:nvSpPr>
          <p:cNvPr id="362" name="Google Shape;362;p13"/>
          <p:cNvSpPr/>
          <p:nvPr/>
        </p:nvSpPr>
        <p:spPr>
          <a:xfrm>
            <a:off x="9448800" y="9215438"/>
            <a:ext cx="871728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Propagation ≤ 5 min. Same CLI, same log.</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sp>
        <p:nvSpPr>
          <p:cNvPr id="368" name="Google Shape;368;p14"/>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05</a:t>
            </a:r>
            <a:endParaRPr b="0" i="0" sz="1950" u="none" cap="none" strike="noStrike">
              <a:solidFill>
                <a:schemeClr val="dk1"/>
              </a:solidFill>
              <a:latin typeface="Calibri"/>
              <a:ea typeface="Calibri"/>
              <a:cs typeface="Calibri"/>
              <a:sym typeface="Calibri"/>
            </a:endParaRPr>
          </a:p>
        </p:txBody>
      </p:sp>
      <p:sp>
        <p:nvSpPr>
          <p:cNvPr id="369" name="Google Shape;369;p14"/>
          <p:cNvSpPr/>
          <p:nvPr/>
        </p:nvSpPr>
        <p:spPr>
          <a:xfrm>
            <a:off x="1384102" y="762000"/>
            <a:ext cx="3548107"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VS CODE IN A SANDBOX</a:t>
            </a:r>
            <a:endParaRPr b="0" i="0" sz="1800" u="none" cap="none" strike="noStrike">
              <a:solidFill>
                <a:schemeClr val="dk1"/>
              </a:solidFill>
              <a:latin typeface="Calibri"/>
              <a:ea typeface="Calibri"/>
              <a:cs typeface="Calibri"/>
              <a:sym typeface="Calibri"/>
            </a:endParaRPr>
          </a:p>
        </p:txBody>
      </p:sp>
      <p:sp>
        <p:nvSpPr>
          <p:cNvPr id="370" name="Google Shape;370;p14"/>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New: built-in SSH (experimental, v0.34+)</a:t>
            </a:r>
            <a:endParaRPr b="0" i="0" sz="4500" u="none" cap="none" strike="noStrike">
              <a:solidFill>
                <a:schemeClr val="dk1"/>
              </a:solidFill>
              <a:latin typeface="Calibri"/>
              <a:ea typeface="Calibri"/>
              <a:cs typeface="Calibri"/>
              <a:sym typeface="Calibri"/>
            </a:endParaRPr>
          </a:p>
        </p:txBody>
      </p:sp>
      <p:sp>
        <p:nvSpPr>
          <p:cNvPr id="371" name="Google Shape;371;p14"/>
          <p:cNvSpPr/>
          <p:nvPr/>
        </p:nvSpPr>
        <p:spPr>
          <a:xfrm>
            <a:off x="914400" y="2169765"/>
            <a:ext cx="9903023" cy="6202710"/>
          </a:xfrm>
          <a:prstGeom prst="roundRect">
            <a:avLst>
              <a:gd fmla="val 2457"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a:off x="12573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p:nvPr/>
        </p:nvSpPr>
        <p:spPr>
          <a:xfrm>
            <a:off x="14859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4"/>
          <p:cNvSpPr/>
          <p:nvPr/>
        </p:nvSpPr>
        <p:spPr>
          <a:xfrm>
            <a:off x="17145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1257300" y="2760315"/>
            <a:ext cx="949374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settings set </a:t>
            </a:r>
            <a:r>
              <a:rPr b="0" i="0" lang="en-US" sz="1800" u="none" cap="none" strike="noStrike">
                <a:solidFill>
                  <a:srgbClr val="F5A524"/>
                </a:solidFill>
                <a:latin typeface="Courier New"/>
                <a:ea typeface="Courier New"/>
                <a:cs typeface="Courier New"/>
                <a:sym typeface="Courier New"/>
              </a:rPr>
              <a:t>feature.ssh true</a:t>
            </a:r>
            <a:endParaRPr b="0" i="0" sz="1800" u="none" cap="none" strike="noStrike">
              <a:solidFill>
                <a:schemeClr val="dk1"/>
              </a:solidFill>
              <a:latin typeface="Calibri"/>
              <a:ea typeface="Calibri"/>
              <a:cs typeface="Calibri"/>
              <a:sym typeface="Calibri"/>
            </a:endParaRPr>
          </a:p>
        </p:txBody>
      </p:sp>
      <p:sp>
        <p:nvSpPr>
          <p:cNvPr id="376" name="Google Shape;376;p14"/>
          <p:cNvSpPr/>
          <p:nvPr/>
        </p:nvSpPr>
        <p:spPr>
          <a:xfrm>
            <a:off x="1257300" y="3198465"/>
            <a:ext cx="949374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ssh setup</a:t>
            </a:r>
            <a:endParaRPr b="0" i="0" sz="1800" u="none" cap="none" strike="noStrike">
              <a:solidFill>
                <a:schemeClr val="dk1"/>
              </a:solidFill>
              <a:latin typeface="Calibri"/>
              <a:ea typeface="Calibri"/>
              <a:cs typeface="Calibri"/>
              <a:sym typeface="Calibri"/>
            </a:endParaRPr>
          </a:p>
        </p:txBody>
      </p:sp>
      <p:sp>
        <p:nvSpPr>
          <p:cNvPr id="377" name="Google Shape;377;p14"/>
          <p:cNvSpPr/>
          <p:nvPr/>
        </p:nvSpPr>
        <p:spPr>
          <a:xfrm>
            <a:off x="1257300" y="3636615"/>
            <a:ext cx="949374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Managed key registered: …/ssh/id_sbx.pub</a:t>
            </a:r>
            <a:endParaRPr b="0" i="0" sz="1800" u="none" cap="none" strike="noStrike">
              <a:solidFill>
                <a:schemeClr val="dk1"/>
              </a:solidFill>
              <a:latin typeface="Calibri"/>
              <a:ea typeface="Calibri"/>
              <a:cs typeface="Calibri"/>
              <a:sym typeface="Calibri"/>
            </a:endParaRPr>
          </a:p>
        </p:txBody>
      </p:sp>
      <p:sp>
        <p:nvSpPr>
          <p:cNvPr id="378" name="Google Shape;378;p14"/>
          <p:cNvSpPr/>
          <p:nvPr/>
        </p:nvSpPr>
        <p:spPr>
          <a:xfrm>
            <a:off x="1257300" y="4074765"/>
            <a:ext cx="949374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Host-key verification: live (KnownHostsCommand)</a:t>
            </a:r>
            <a:endParaRPr b="0" i="0" sz="1800" u="none" cap="none" strike="noStrike">
              <a:solidFill>
                <a:schemeClr val="dk1"/>
              </a:solidFill>
              <a:latin typeface="Calibri"/>
              <a:ea typeface="Calibri"/>
              <a:cs typeface="Calibri"/>
              <a:sym typeface="Calibri"/>
            </a:endParaRPr>
          </a:p>
        </p:txBody>
      </p:sp>
      <p:sp>
        <p:nvSpPr>
          <p:cNvPr id="379" name="Google Shape;379;p14"/>
          <p:cNvSpPr/>
          <p:nvPr/>
        </p:nvSpPr>
        <p:spPr>
          <a:xfrm>
            <a:off x="1257300" y="4512915"/>
            <a:ext cx="949374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daemon stop &amp;&amp; sbx daemon start -d</a:t>
            </a:r>
            <a:endParaRPr b="0" i="0" sz="1800" u="none" cap="none" strike="noStrike">
              <a:solidFill>
                <a:schemeClr val="dk1"/>
              </a:solidFill>
              <a:latin typeface="Calibri"/>
              <a:ea typeface="Calibri"/>
              <a:cs typeface="Calibri"/>
              <a:sym typeface="Calibri"/>
            </a:endParaRPr>
          </a:p>
        </p:txBody>
      </p:sp>
      <p:sp>
        <p:nvSpPr>
          <p:cNvPr id="380" name="Google Shape;380;p14"/>
          <p:cNvSpPr/>
          <p:nvPr/>
        </p:nvSpPr>
        <p:spPr>
          <a:xfrm>
            <a:off x="1257300" y="4951065"/>
            <a:ext cx="949374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p:txBody>
      </p:sp>
      <p:sp>
        <p:nvSpPr>
          <p:cNvPr id="381" name="Google Shape;381;p14"/>
          <p:cNvSpPr/>
          <p:nvPr/>
        </p:nvSpPr>
        <p:spPr>
          <a:xfrm>
            <a:off x="1257300" y="5389215"/>
            <a:ext cx="949374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ssh </a:t>
            </a:r>
            <a:r>
              <a:rPr b="0" i="0" lang="en-US" sz="1800" u="none" cap="none" strike="noStrike">
                <a:solidFill>
                  <a:srgbClr val="F5A524"/>
                </a:solidFill>
                <a:latin typeface="Courier New"/>
                <a:ea typeface="Courier New"/>
                <a:cs typeface="Courier New"/>
                <a:sym typeface="Courier New"/>
              </a:rPr>
              <a:t>&lt;sandbox-name&gt;</a:t>
            </a:r>
            <a:r>
              <a:rPr b="0" i="0" lang="en-US" sz="1800" u="none" cap="none" strike="noStrike">
                <a:solidFill>
                  <a:srgbClr val="EEF2F8"/>
                </a:solidFill>
                <a:latin typeface="Courier New"/>
                <a:ea typeface="Courier New"/>
                <a:cs typeface="Courier New"/>
                <a:sym typeface="Courier New"/>
              </a:rPr>
              <a:t>@sbx</a:t>
            </a:r>
            <a:endParaRPr b="0" i="0" sz="1800" u="none" cap="none" strike="noStrike">
              <a:solidFill>
                <a:schemeClr val="dk1"/>
              </a:solidFill>
              <a:latin typeface="Calibri"/>
              <a:ea typeface="Calibri"/>
              <a:cs typeface="Calibri"/>
              <a:sym typeface="Calibri"/>
            </a:endParaRPr>
          </a:p>
        </p:txBody>
      </p:sp>
      <p:sp>
        <p:nvSpPr>
          <p:cNvPr id="382" name="Google Shape;382;p14"/>
          <p:cNvSpPr/>
          <p:nvPr/>
        </p:nvSpPr>
        <p:spPr>
          <a:xfrm>
            <a:off x="1257300" y="5827365"/>
            <a:ext cx="949374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agent@my-sandbox:~$   </a:t>
            </a:r>
            <a:r>
              <a:rPr b="0" i="1" lang="en-US" sz="1800" u="none" cap="none" strike="noStrike">
                <a:solidFill>
                  <a:srgbClr val="FFFFFF"/>
                </a:solidFill>
                <a:latin typeface="Courier New"/>
                <a:ea typeface="Courier New"/>
                <a:cs typeface="Courier New"/>
                <a:sym typeface="Courier New"/>
              </a:rPr>
              <a:t># you're in</a:t>
            </a:r>
            <a:endParaRPr b="0" i="0" sz="1800" u="none" cap="none" strike="noStrike">
              <a:solidFill>
                <a:schemeClr val="dk1"/>
              </a:solidFill>
              <a:latin typeface="Calibri"/>
              <a:ea typeface="Calibri"/>
              <a:cs typeface="Calibri"/>
              <a:sym typeface="Calibri"/>
            </a:endParaRPr>
          </a:p>
        </p:txBody>
      </p:sp>
      <p:sp>
        <p:nvSpPr>
          <p:cNvPr id="383" name="Google Shape;383;p14"/>
          <p:cNvSpPr/>
          <p:nvPr/>
        </p:nvSpPr>
        <p:spPr>
          <a:xfrm>
            <a:off x="11350823" y="3851895"/>
            <a:ext cx="6541234"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00"/>
              <a:buFont typeface="IBM Plex Sans"/>
              <a:buNone/>
            </a:pPr>
            <a:r>
              <a:rPr b="1" i="0" lang="en-US" sz="2100" u="none" cap="none" strike="noStrike">
                <a:solidFill>
                  <a:srgbClr val="0B0C10"/>
                </a:solidFill>
                <a:latin typeface="IBM Plex Sans"/>
                <a:ea typeface="IBM Plex Sans"/>
                <a:cs typeface="IBM Plex Sans"/>
                <a:sym typeface="IBM Plex Sans"/>
              </a:rPr>
              <a:t>What you get free:</a:t>
            </a:r>
            <a:endParaRPr b="0" i="0" sz="2100" u="none" cap="none" strike="noStrike">
              <a:solidFill>
                <a:schemeClr val="dk1"/>
              </a:solidFill>
              <a:latin typeface="Calibri"/>
              <a:ea typeface="Calibri"/>
              <a:cs typeface="Calibri"/>
              <a:sym typeface="Calibri"/>
            </a:endParaRPr>
          </a:p>
        </p:txBody>
      </p:sp>
      <p:sp>
        <p:nvSpPr>
          <p:cNvPr id="384" name="Google Shape;384;p14"/>
          <p:cNvSpPr/>
          <p:nvPr/>
        </p:nvSpPr>
        <p:spPr>
          <a:xfrm>
            <a:off x="11350823" y="4328145"/>
            <a:ext cx="6541234"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managed keys, live host-key verification</a:t>
            </a:r>
            <a:endParaRPr b="0" i="0" sz="1950" u="none" cap="none" strike="noStrike">
              <a:solidFill>
                <a:schemeClr val="dk1"/>
              </a:solidFill>
              <a:latin typeface="Calibri"/>
              <a:ea typeface="Calibri"/>
              <a:cs typeface="Calibri"/>
              <a:sym typeface="Calibri"/>
            </a:endParaRPr>
          </a:p>
        </p:txBody>
      </p:sp>
      <p:sp>
        <p:nvSpPr>
          <p:cNvPr id="385" name="Google Shape;385;p14"/>
          <p:cNvSpPr/>
          <p:nvPr/>
        </p:nvSpPr>
        <p:spPr>
          <a:xfrm>
            <a:off x="11350823" y="4780583"/>
            <a:ext cx="6124974" cy="676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creds forwarded via acceptEnv </a:t>
            </a:r>
            <a:r>
              <a:rPr b="0" i="0" lang="en-US" sz="1800" u="none" cap="none" strike="noStrike">
                <a:solidFill>
                  <a:srgbClr val="3D414C"/>
                </a:solidFill>
                <a:latin typeface="IBM Plex Sans"/>
                <a:ea typeface="IBM Plex Sans"/>
                <a:cs typeface="IBM Plex Sans"/>
                <a:sym typeface="IBM Plex Sans"/>
              </a:rPr>
              <a:t>(ANTHROPIC_API_KEY, GH_TOKEN…)</a:t>
            </a:r>
            <a:endParaRPr b="0" i="0" sz="1950" u="none" cap="none" strike="noStrike">
              <a:solidFill>
                <a:schemeClr val="dk1"/>
              </a:solidFill>
              <a:latin typeface="Calibri"/>
              <a:ea typeface="Calibri"/>
              <a:cs typeface="Calibri"/>
              <a:sym typeface="Calibri"/>
            </a:endParaRPr>
          </a:p>
        </p:txBody>
      </p:sp>
      <p:sp>
        <p:nvSpPr>
          <p:cNvPr id="386" name="Google Shape;386;p14"/>
          <p:cNvSpPr/>
          <p:nvPr/>
        </p:nvSpPr>
        <p:spPr>
          <a:xfrm>
            <a:off x="11350823" y="5552108"/>
            <a:ext cx="6541234"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no manual tunnel, no kit</a:t>
            </a:r>
            <a:endParaRPr b="0" i="0" sz="1950" u="none" cap="none" strike="noStrike">
              <a:solidFill>
                <a:schemeClr val="dk1"/>
              </a:solidFill>
              <a:latin typeface="Calibri"/>
              <a:ea typeface="Calibri"/>
              <a:cs typeface="Calibri"/>
              <a:sym typeface="Calibri"/>
            </a:endParaRPr>
          </a:p>
        </p:txBody>
      </p:sp>
      <p:sp>
        <p:nvSpPr>
          <p:cNvPr id="387" name="Google Shape;387;p14"/>
          <p:cNvSpPr/>
          <p:nvPr/>
        </p:nvSpPr>
        <p:spPr>
          <a:xfrm>
            <a:off x="11350823" y="6099795"/>
            <a:ext cx="6124974" cy="6286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00"/>
              <a:buFont typeface="IBM Plex Sans"/>
              <a:buNone/>
            </a:pPr>
            <a:r>
              <a:rPr b="0" i="0" lang="en-US" sz="1800" u="none" cap="none" strike="noStrike">
                <a:solidFill>
                  <a:srgbClr val="3D414C"/>
                </a:solidFill>
                <a:latin typeface="IBM Plex Sans"/>
                <a:ea typeface="IBM Plex Sans"/>
                <a:cs typeface="IBM Plex Sans"/>
                <a:sym typeface="IBM Plex Sans"/>
              </a:rPr>
              <a:t>Landed late June — the team is actively hardening it right now.</a:t>
            </a:r>
            <a:endParaRPr b="0" i="0" sz="1800" u="none" cap="none" strike="noStrike">
              <a:solidFill>
                <a:schemeClr val="dk1"/>
              </a:solidFill>
              <a:latin typeface="Calibri"/>
              <a:ea typeface="Calibri"/>
              <a:cs typeface="Calibri"/>
              <a:sym typeface="Calibri"/>
            </a:endParaRPr>
          </a:p>
        </p:txBody>
      </p:sp>
      <p:sp>
        <p:nvSpPr>
          <p:cNvPr id="388" name="Google Shape;388;p14"/>
          <p:cNvSpPr/>
          <p:nvPr/>
        </p:nvSpPr>
        <p:spPr>
          <a:xfrm>
            <a:off x="914400" y="8753475"/>
            <a:ext cx="16482060" cy="809625"/>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A86A00"/>
              </a:buClr>
              <a:buSzPts val="2025"/>
              <a:buFont typeface="IBM Plex Sans"/>
              <a:buNone/>
            </a:pPr>
            <a:r>
              <a:rPr b="1" i="0" lang="en-US" sz="2025" u="none" cap="none" strike="noStrike">
                <a:solidFill>
                  <a:srgbClr val="A86A00"/>
                </a:solidFill>
                <a:latin typeface="IBM Plex Sans"/>
                <a:ea typeface="IBM Plex Sans"/>
                <a:cs typeface="IBM Plex Sans"/>
                <a:sym typeface="IBM Plex Sans"/>
              </a:rPr>
              <a:t>Honest caveats (v0.34): </a:t>
            </a:r>
            <a:r>
              <a:rPr b="0" i="0" lang="en-US" sz="2025" u="none" cap="none" strike="noStrike">
                <a:solidFill>
                  <a:srgbClr val="0B0C10"/>
                </a:solidFill>
                <a:latin typeface="IBM Plex Sans"/>
                <a:ea typeface="IBM Plex Sans"/>
                <a:cs typeface="IBM Plex Sans"/>
                <a:sym typeface="IBM Plex Sans"/>
              </a:rPr>
              <a:t>VS Code Remote-SSH still trips on port forwarding ("only session channels are supported"), and scp/sftp aren't in yet. Terminal SSH: great. Full IDE: use the kit on the next slide — for now.</a:t>
            </a:r>
            <a:endParaRPr b="0" i="0" sz="2025"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93" name="Shape 393"/>
        <p:cNvGrpSpPr/>
        <p:nvPr/>
      </p:nvGrpSpPr>
      <p:grpSpPr>
        <a:xfrm>
          <a:off x="0" y="0"/>
          <a:ext cx="0" cy="0"/>
          <a:chOff x="0" y="0"/>
          <a:chExt cx="0" cy="0"/>
        </a:xfrm>
      </p:grpSpPr>
      <p:sp>
        <p:nvSpPr>
          <p:cNvPr id="394" name="Google Shape;394;p15"/>
          <p:cNvSpPr/>
          <p:nvPr/>
        </p:nvSpPr>
        <p:spPr>
          <a:xfrm>
            <a:off x="914400" y="6905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05</a:t>
            </a:r>
            <a:endParaRPr b="0" i="0" sz="1950" u="none" cap="none" strike="noStrike">
              <a:solidFill>
                <a:schemeClr val="dk1"/>
              </a:solidFill>
              <a:latin typeface="Calibri"/>
              <a:ea typeface="Calibri"/>
              <a:cs typeface="Calibri"/>
              <a:sym typeface="Calibri"/>
            </a:endParaRPr>
          </a:p>
        </p:txBody>
      </p:sp>
      <p:sp>
        <p:nvSpPr>
          <p:cNvPr id="395" name="Google Shape;395;p15"/>
          <p:cNvSpPr/>
          <p:nvPr/>
        </p:nvSpPr>
        <p:spPr>
          <a:xfrm>
            <a:off x="1384102" y="685800"/>
            <a:ext cx="3548107"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VS CODE IN A SANDBOX</a:t>
            </a:r>
            <a:endParaRPr b="0" i="0" sz="1800" u="none" cap="none" strike="noStrike">
              <a:solidFill>
                <a:schemeClr val="dk1"/>
              </a:solidFill>
              <a:latin typeface="Calibri"/>
              <a:ea typeface="Calibri"/>
              <a:cs typeface="Calibri"/>
              <a:sym typeface="Calibri"/>
            </a:endParaRPr>
          </a:p>
        </p:txBody>
      </p:sp>
      <p:sp>
        <p:nvSpPr>
          <p:cNvPr id="396" name="Google Shape;396;p15"/>
          <p:cNvSpPr/>
          <p:nvPr/>
        </p:nvSpPr>
        <p:spPr>
          <a:xfrm>
            <a:off x="914400" y="1095375"/>
            <a:ext cx="18105120" cy="614139"/>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200"/>
              <a:buFont typeface="Arial"/>
              <a:buNone/>
            </a:pPr>
            <a:r>
              <a:rPr b="1" i="0" lang="en-US" sz="4200" u="none" cap="none" strike="noStrike">
                <a:solidFill>
                  <a:srgbClr val="0B0C10"/>
                </a:solidFill>
                <a:latin typeface="Arial"/>
                <a:ea typeface="Arial"/>
                <a:cs typeface="Arial"/>
                <a:sym typeface="Arial"/>
              </a:rPr>
              <a:t>The proven path: Remote-SSH + a small kit</a:t>
            </a:r>
            <a:endParaRPr b="0" i="0" sz="4200" u="none" cap="none" strike="noStrike">
              <a:solidFill>
                <a:schemeClr val="dk1"/>
              </a:solidFill>
              <a:latin typeface="Calibri"/>
              <a:ea typeface="Calibri"/>
              <a:cs typeface="Calibri"/>
              <a:sym typeface="Calibri"/>
            </a:endParaRPr>
          </a:p>
        </p:txBody>
      </p:sp>
      <p:sp>
        <p:nvSpPr>
          <p:cNvPr id="397" name="Google Shape;397;p15"/>
          <p:cNvSpPr/>
          <p:nvPr/>
        </p:nvSpPr>
        <p:spPr>
          <a:xfrm>
            <a:off x="914400" y="2014314"/>
            <a:ext cx="7181850" cy="3990975"/>
          </a:xfrm>
          <a:prstGeom prst="roundRect">
            <a:avLst>
              <a:gd fmla="val 3819"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5"/>
          <p:cNvSpPr/>
          <p:nvPr/>
        </p:nvSpPr>
        <p:spPr>
          <a:xfrm>
            <a:off x="1266825" y="2290539"/>
            <a:ext cx="7124700"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800"/>
              <a:buFont typeface="IBM Plex Sans"/>
              <a:buNone/>
            </a:pPr>
            <a:r>
              <a:rPr b="1" i="0" lang="en-US" sz="1800" u="none" cap="none" strike="noStrike">
                <a:solidFill>
                  <a:srgbClr val="2560FF"/>
                </a:solidFill>
                <a:latin typeface="IBM Plex Sans"/>
                <a:ea typeface="IBM Plex Sans"/>
                <a:cs typeface="IBM Plex Sans"/>
                <a:sym typeface="IBM Plex Sans"/>
              </a:rPr>
              <a:t>HOST SYSTEM</a:t>
            </a:r>
            <a:endParaRPr b="0" i="0" sz="1800" u="none" cap="none" strike="noStrike">
              <a:solidFill>
                <a:schemeClr val="dk1"/>
              </a:solidFill>
              <a:latin typeface="Calibri"/>
              <a:ea typeface="Calibri"/>
              <a:cs typeface="Calibri"/>
              <a:sym typeface="Calibri"/>
            </a:endParaRPr>
          </a:p>
        </p:txBody>
      </p:sp>
      <p:sp>
        <p:nvSpPr>
          <p:cNvPr id="399" name="Google Shape;399;p15"/>
          <p:cNvSpPr/>
          <p:nvPr/>
        </p:nvSpPr>
        <p:spPr>
          <a:xfrm>
            <a:off x="1266825" y="2738214"/>
            <a:ext cx="6477000" cy="633413"/>
          </a:xfrm>
          <a:prstGeom prst="roundRect">
            <a:avLst>
              <a:gd fmla="val 15038" name="adj"/>
            </a:avLst>
          </a:prstGeom>
          <a:solidFill>
            <a:srgbClr val="FFFFFF"/>
          </a:solidFill>
          <a:ln cap="flat" cmpd="sng" w="9525">
            <a:solidFill>
              <a:srgbClr val="17191E">
                <a:alpha val="1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5"/>
          <p:cNvSpPr/>
          <p:nvPr/>
        </p:nvSpPr>
        <p:spPr>
          <a:xfrm>
            <a:off x="1504950" y="2900139"/>
            <a:ext cx="619506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75"/>
              <a:buFont typeface="IBM Plex Sans"/>
              <a:buNone/>
            </a:pPr>
            <a:r>
              <a:rPr b="1" i="0" lang="en-US" sz="1875" u="none" cap="none" strike="noStrike">
                <a:solidFill>
                  <a:srgbClr val="0B0C10"/>
                </a:solidFill>
                <a:latin typeface="IBM Plex Sans"/>
                <a:ea typeface="IBM Plex Sans"/>
                <a:cs typeface="IBM Plex Sans"/>
                <a:sym typeface="IBM Plex Sans"/>
              </a:rPr>
              <a:t>VS Code</a:t>
            </a:r>
            <a:r>
              <a:rPr b="0" i="0" lang="en-US" sz="1800" u="none" cap="none" strike="noStrike">
                <a:solidFill>
                  <a:srgbClr val="3D414C"/>
                </a:solidFill>
                <a:latin typeface="IBM Plex Sans"/>
                <a:ea typeface="IBM Plex Sans"/>
                <a:cs typeface="IBM Plex Sans"/>
                <a:sym typeface="IBM Plex Sans"/>
              </a:rPr>
              <a:t>· Remote-SSH extension</a:t>
            </a:r>
            <a:endParaRPr b="0" i="0" sz="1200" u="none" cap="none" strike="noStrike">
              <a:solidFill>
                <a:schemeClr val="dk1"/>
              </a:solidFill>
              <a:latin typeface="Calibri"/>
              <a:ea typeface="Calibri"/>
              <a:cs typeface="Calibri"/>
              <a:sym typeface="Calibri"/>
            </a:endParaRPr>
          </a:p>
        </p:txBody>
      </p:sp>
      <p:sp>
        <p:nvSpPr>
          <p:cNvPr id="401" name="Google Shape;401;p15"/>
          <p:cNvSpPr/>
          <p:nvPr/>
        </p:nvSpPr>
        <p:spPr>
          <a:xfrm>
            <a:off x="1266825" y="3524027"/>
            <a:ext cx="6477000" cy="633413"/>
          </a:xfrm>
          <a:prstGeom prst="roundRect">
            <a:avLst>
              <a:gd fmla="val 15038" name="adj"/>
            </a:avLst>
          </a:prstGeom>
          <a:solidFill>
            <a:srgbClr val="FFFFFF"/>
          </a:solidFill>
          <a:ln cap="flat" cmpd="sng" w="9525">
            <a:solidFill>
              <a:srgbClr val="17191E">
                <a:alpha val="1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5"/>
          <p:cNvSpPr/>
          <p:nvPr/>
        </p:nvSpPr>
        <p:spPr>
          <a:xfrm>
            <a:off x="1504950" y="3685952"/>
            <a:ext cx="619506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75"/>
              <a:buFont typeface="IBM Plex Sans"/>
              <a:buNone/>
            </a:pPr>
            <a:r>
              <a:rPr b="1" i="0" lang="en-US" sz="1875" u="none" cap="none" strike="noStrike">
                <a:solidFill>
                  <a:srgbClr val="0B0C10"/>
                </a:solidFill>
                <a:latin typeface="IBM Plex Sans"/>
                <a:ea typeface="IBM Plex Sans"/>
                <a:cs typeface="IBM Plex Sans"/>
                <a:sym typeface="IBM Plex Sans"/>
              </a:rPr>
              <a:t>SSH client</a:t>
            </a:r>
            <a:r>
              <a:rPr b="0" i="0" lang="en-US" sz="1725" u="none" cap="none" strike="noStrike">
                <a:solidFill>
                  <a:srgbClr val="3D414C"/>
                </a:solidFill>
                <a:latin typeface="Courier New"/>
                <a:ea typeface="Courier New"/>
                <a:cs typeface="Courier New"/>
                <a:sym typeface="Courier New"/>
              </a:rPr>
              <a:t>· ~/.ssh/config → 127.0.0.1:2222</a:t>
            </a:r>
            <a:endParaRPr b="0" i="0" sz="1200" u="none" cap="none" strike="noStrike">
              <a:solidFill>
                <a:schemeClr val="dk1"/>
              </a:solidFill>
              <a:latin typeface="Calibri"/>
              <a:ea typeface="Calibri"/>
              <a:cs typeface="Calibri"/>
              <a:sym typeface="Calibri"/>
            </a:endParaRPr>
          </a:p>
        </p:txBody>
      </p:sp>
      <p:sp>
        <p:nvSpPr>
          <p:cNvPr id="403" name="Google Shape;403;p15"/>
          <p:cNvSpPr/>
          <p:nvPr/>
        </p:nvSpPr>
        <p:spPr>
          <a:xfrm>
            <a:off x="1266825" y="4309839"/>
            <a:ext cx="6477000" cy="633413"/>
          </a:xfrm>
          <a:prstGeom prst="roundRect">
            <a:avLst>
              <a:gd fmla="val 15038" name="adj"/>
            </a:avLst>
          </a:prstGeom>
          <a:solidFill>
            <a:srgbClr val="FFFFFF"/>
          </a:solidFill>
          <a:ln cap="flat" cmpd="sng" w="9525">
            <a:solidFill>
              <a:srgbClr val="17191E">
                <a:alpha val="1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5"/>
          <p:cNvSpPr/>
          <p:nvPr/>
        </p:nvSpPr>
        <p:spPr>
          <a:xfrm>
            <a:off x="1504950" y="4471764"/>
            <a:ext cx="619506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75"/>
              <a:buFont typeface="IBM Plex Sans"/>
              <a:buNone/>
            </a:pPr>
            <a:r>
              <a:rPr b="1" i="0" lang="en-US" sz="1875" u="none" cap="none" strike="noStrike">
                <a:solidFill>
                  <a:srgbClr val="0B0C10"/>
                </a:solidFill>
                <a:latin typeface="IBM Plex Sans"/>
                <a:ea typeface="IBM Plex Sans"/>
                <a:cs typeface="IBM Plex Sans"/>
                <a:sym typeface="IBM Plex Sans"/>
              </a:rPr>
              <a:t>sbx CLI</a:t>
            </a:r>
            <a:r>
              <a:rPr b="0" i="0" lang="en-US" sz="1725" u="none" cap="none" strike="noStrike">
                <a:solidFill>
                  <a:srgbClr val="3D414C"/>
                </a:solidFill>
                <a:latin typeface="Courier New"/>
                <a:ea typeface="Courier New"/>
                <a:cs typeface="Courier New"/>
                <a:sym typeface="Courier New"/>
              </a:rPr>
              <a:t>· run / exec / ports</a:t>
            </a:r>
            <a:endParaRPr b="0" i="0" sz="1200" u="none" cap="none" strike="noStrike">
              <a:solidFill>
                <a:schemeClr val="dk1"/>
              </a:solidFill>
              <a:latin typeface="Calibri"/>
              <a:ea typeface="Calibri"/>
              <a:cs typeface="Calibri"/>
              <a:sym typeface="Calibri"/>
            </a:endParaRPr>
          </a:p>
        </p:txBody>
      </p:sp>
      <p:sp>
        <p:nvSpPr>
          <p:cNvPr id="405" name="Google Shape;405;p15"/>
          <p:cNvSpPr/>
          <p:nvPr/>
        </p:nvSpPr>
        <p:spPr>
          <a:xfrm>
            <a:off x="1266825" y="5095652"/>
            <a:ext cx="6477000" cy="633413"/>
          </a:xfrm>
          <a:prstGeom prst="roundRect">
            <a:avLst>
              <a:gd fmla="val 15038" name="adj"/>
            </a:avLst>
          </a:prstGeom>
          <a:solidFill>
            <a:srgbClr val="FFFFFF"/>
          </a:solidFill>
          <a:ln cap="flat" cmpd="sng" w="9525">
            <a:solidFill>
              <a:srgbClr val="17191E">
                <a:alpha val="1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5"/>
          <p:cNvSpPr/>
          <p:nvPr/>
        </p:nvSpPr>
        <p:spPr>
          <a:xfrm>
            <a:off x="1504950" y="5257577"/>
            <a:ext cx="1966905"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875"/>
              <a:buFont typeface="IBM Plex Sans"/>
              <a:buNone/>
            </a:pPr>
            <a:r>
              <a:rPr b="1" i="0" lang="en-US" sz="1875" u="none" cap="none" strike="noStrike">
                <a:solidFill>
                  <a:srgbClr val="2560FF"/>
                </a:solidFill>
                <a:latin typeface="IBM Plex Sans"/>
                <a:ea typeface="IBM Plex Sans"/>
                <a:cs typeface="IBM Plex Sans"/>
                <a:sym typeface="IBM Plex Sans"/>
              </a:rPr>
              <a:t>sandboxd proxy</a:t>
            </a:r>
            <a:endParaRPr b="0" i="0" sz="1875" u="none" cap="none" strike="noStrike">
              <a:solidFill>
                <a:schemeClr val="dk1"/>
              </a:solidFill>
              <a:latin typeface="Calibri"/>
              <a:ea typeface="Calibri"/>
              <a:cs typeface="Calibri"/>
              <a:sym typeface="Calibri"/>
            </a:endParaRPr>
          </a:p>
        </p:txBody>
      </p:sp>
      <p:sp>
        <p:nvSpPr>
          <p:cNvPr id="407" name="Google Shape;407;p15"/>
          <p:cNvSpPr/>
          <p:nvPr/>
        </p:nvSpPr>
        <p:spPr>
          <a:xfrm>
            <a:off x="3426396" y="5402833"/>
            <a:ext cx="304800" cy="19050"/>
          </a:xfrm>
          <a:prstGeom prst="rect">
            <a:avLst/>
          </a:prstGeom>
          <a:solidFill>
            <a:srgbClr val="B6BC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p:nvPr/>
        </p:nvSpPr>
        <p:spPr>
          <a:xfrm>
            <a:off x="3731196" y="5345683"/>
            <a:ext cx="85725" cy="133350"/>
          </a:xfrm>
          <a:prstGeom prst="rect">
            <a:avLst/>
          </a:prstGeom>
          <a:solidFill>
            <a:srgbClr val="B6BC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a:off x="3950271" y="5264721"/>
            <a:ext cx="887537"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00"/>
              <a:buFont typeface="IBM Plex Sans"/>
              <a:buNone/>
            </a:pPr>
            <a:r>
              <a:rPr b="0" i="0" lang="en-US" sz="1800" u="none" cap="none" strike="noStrike">
                <a:solidFill>
                  <a:srgbClr val="3D414C"/>
                </a:solidFill>
                <a:latin typeface="IBM Plex Sans"/>
                <a:ea typeface="IBM Plex Sans"/>
                <a:cs typeface="IBM Plex Sans"/>
                <a:sym typeface="IBM Plex Sans"/>
              </a:rPr>
              <a:t>internet</a:t>
            </a:r>
            <a:endParaRPr b="0" i="0" sz="1800" u="none" cap="none" strike="noStrike">
              <a:solidFill>
                <a:schemeClr val="dk1"/>
              </a:solidFill>
              <a:latin typeface="Calibri"/>
              <a:ea typeface="Calibri"/>
              <a:cs typeface="Calibri"/>
              <a:sym typeface="Calibri"/>
            </a:endParaRPr>
          </a:p>
        </p:txBody>
      </p:sp>
      <p:sp>
        <p:nvSpPr>
          <p:cNvPr id="410" name="Google Shape;410;p15"/>
          <p:cNvSpPr/>
          <p:nvPr/>
        </p:nvSpPr>
        <p:spPr>
          <a:xfrm>
            <a:off x="8134350" y="2514377"/>
            <a:ext cx="2019300" cy="62865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A86A00"/>
              </a:buClr>
              <a:buSzPts val="1800"/>
              <a:buFont typeface="IBM Plex Sans"/>
              <a:buNone/>
            </a:pPr>
            <a:r>
              <a:rPr b="1" i="0" lang="en-US" sz="1800" u="none" cap="none" strike="noStrike">
                <a:solidFill>
                  <a:srgbClr val="A86A00"/>
                </a:solidFill>
                <a:latin typeface="IBM Plex Sans"/>
                <a:ea typeface="IBM Plex Sans"/>
                <a:cs typeface="IBM Plex Sans"/>
                <a:sym typeface="IBM Plex Sans"/>
              </a:rPr>
              <a:t>hypervisor boundary</a:t>
            </a:r>
            <a:endParaRPr b="0" i="0" sz="1800" u="none" cap="none" strike="noStrike">
              <a:solidFill>
                <a:schemeClr val="dk1"/>
              </a:solidFill>
              <a:latin typeface="Calibri"/>
              <a:ea typeface="Calibri"/>
              <a:cs typeface="Calibri"/>
              <a:sym typeface="Calibri"/>
            </a:endParaRPr>
          </a:p>
        </p:txBody>
      </p:sp>
      <p:sp>
        <p:nvSpPr>
          <p:cNvPr id="411" name="Google Shape;411;p15"/>
          <p:cNvSpPr/>
          <p:nvPr/>
        </p:nvSpPr>
        <p:spPr>
          <a:xfrm>
            <a:off x="9129713" y="3219227"/>
            <a:ext cx="28575" cy="762000"/>
          </a:xfrm>
          <a:prstGeom prst="rect">
            <a:avLst/>
          </a:prstGeom>
          <a:solidFill>
            <a:srgbClr val="F5A5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
          <p:cNvSpPr/>
          <p:nvPr/>
        </p:nvSpPr>
        <p:spPr>
          <a:xfrm>
            <a:off x="8805863" y="4162202"/>
            <a:ext cx="571500" cy="19050"/>
          </a:xfrm>
          <a:prstGeom prst="rect">
            <a:avLst/>
          </a:prstGeom>
          <a:solidFill>
            <a:srgbClr val="B6BC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p:nvPr/>
        </p:nvSpPr>
        <p:spPr>
          <a:xfrm>
            <a:off x="9377363" y="4095527"/>
            <a:ext cx="104775" cy="152400"/>
          </a:xfrm>
          <a:prstGeom prst="rect">
            <a:avLst/>
          </a:prstGeom>
          <a:solidFill>
            <a:srgbClr val="B6BC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5"/>
          <p:cNvSpPr/>
          <p:nvPr/>
        </p:nvSpPr>
        <p:spPr>
          <a:xfrm>
            <a:off x="8084221" y="4362227"/>
            <a:ext cx="2119484" cy="3048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2560FF"/>
              </a:buClr>
              <a:buSzPts val="1800"/>
              <a:buFont typeface="Courier New"/>
              <a:buNone/>
            </a:pPr>
            <a:r>
              <a:rPr b="1" i="0" lang="en-US" sz="1800" u="none" cap="none" strike="noStrike">
                <a:solidFill>
                  <a:srgbClr val="2560FF"/>
                </a:solidFill>
                <a:latin typeface="Courier New"/>
                <a:ea typeface="Courier New"/>
                <a:cs typeface="Courier New"/>
                <a:sym typeface="Courier New"/>
              </a:rPr>
              <a:t>tcp 2222 → :22</a:t>
            </a:r>
            <a:endParaRPr b="0" i="0" sz="1800" u="none" cap="none" strike="noStrike">
              <a:solidFill>
                <a:schemeClr val="dk1"/>
              </a:solidFill>
              <a:latin typeface="Calibri"/>
              <a:ea typeface="Calibri"/>
              <a:cs typeface="Calibri"/>
              <a:sym typeface="Calibri"/>
            </a:endParaRPr>
          </a:p>
        </p:txBody>
      </p:sp>
      <p:sp>
        <p:nvSpPr>
          <p:cNvPr id="415" name="Google Shape;415;p15"/>
          <p:cNvSpPr/>
          <p:nvPr/>
        </p:nvSpPr>
        <p:spPr>
          <a:xfrm>
            <a:off x="9129713" y="4743227"/>
            <a:ext cx="28575" cy="762000"/>
          </a:xfrm>
          <a:prstGeom prst="rect">
            <a:avLst/>
          </a:prstGeom>
          <a:solidFill>
            <a:srgbClr val="F5A5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5"/>
          <p:cNvSpPr/>
          <p:nvPr/>
        </p:nvSpPr>
        <p:spPr>
          <a:xfrm>
            <a:off x="10191750" y="2014314"/>
            <a:ext cx="7181850" cy="3990975"/>
          </a:xfrm>
          <a:prstGeom prst="roundRect">
            <a:avLst>
              <a:gd fmla="val 3819" name="adj"/>
            </a:avLst>
          </a:prstGeom>
          <a:solidFill>
            <a:srgbClr val="0015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5"/>
          <p:cNvSpPr/>
          <p:nvPr/>
        </p:nvSpPr>
        <p:spPr>
          <a:xfrm>
            <a:off x="10534650" y="2281014"/>
            <a:ext cx="7145655"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3C993"/>
              </a:buClr>
              <a:buSzPts val="1800"/>
              <a:buFont typeface="IBM Plex Sans"/>
              <a:buNone/>
            </a:pPr>
            <a:r>
              <a:rPr b="1" i="0" lang="en-US" sz="1800" u="none" cap="none" strike="noStrike">
                <a:solidFill>
                  <a:srgbClr val="63C993"/>
                </a:solidFill>
                <a:latin typeface="IBM Plex Sans"/>
                <a:ea typeface="IBM Plex Sans"/>
                <a:cs typeface="IBM Plex Sans"/>
                <a:sym typeface="IBM Plex Sans"/>
              </a:rPr>
              <a:t>SANDBOX VM</a:t>
            </a:r>
            <a:endParaRPr b="0" i="0" sz="1800" u="none" cap="none" strike="noStrike">
              <a:solidFill>
                <a:schemeClr val="dk1"/>
              </a:solidFill>
              <a:latin typeface="Calibri"/>
              <a:ea typeface="Calibri"/>
              <a:cs typeface="Calibri"/>
              <a:sym typeface="Calibri"/>
            </a:endParaRPr>
          </a:p>
        </p:txBody>
      </p:sp>
      <p:sp>
        <p:nvSpPr>
          <p:cNvPr id="418" name="Google Shape;418;p15"/>
          <p:cNvSpPr/>
          <p:nvPr/>
        </p:nvSpPr>
        <p:spPr>
          <a:xfrm>
            <a:off x="10534650" y="2728689"/>
            <a:ext cx="6496050" cy="609600"/>
          </a:xfrm>
          <a:prstGeom prst="roundRect">
            <a:avLst>
              <a:gd fmla="val 15625" name="adj"/>
            </a:avLst>
          </a:prstGeom>
          <a:solidFill>
            <a:srgbClr val="FFFFFF">
              <a:alpha val="7058"/>
            </a:srgbClr>
          </a:solidFill>
          <a:ln cap="flat" cmpd="sng" w="9525">
            <a:solidFill>
              <a:srgbClr val="FFFFFF">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p:nvPr/>
        </p:nvSpPr>
        <p:spPr>
          <a:xfrm>
            <a:off x="10772775" y="2890614"/>
            <a:ext cx="621468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Courier New"/>
              <a:buNone/>
            </a:pPr>
            <a:r>
              <a:rPr b="1" i="0" lang="en-US" sz="1800" u="none" cap="none" strike="noStrike">
                <a:solidFill>
                  <a:srgbClr val="FFFFFF"/>
                </a:solidFill>
                <a:latin typeface="Courier New"/>
                <a:ea typeface="Courier New"/>
                <a:cs typeface="Courier New"/>
                <a:sym typeface="Courier New"/>
              </a:rPr>
              <a:t>sshd 0.0.0.0:22</a:t>
            </a:r>
            <a:r>
              <a:rPr b="0" i="0" lang="en-US" sz="1725" u="none" cap="none" strike="noStrike">
                <a:solidFill>
                  <a:srgbClr val="FFFFFF"/>
                </a:solidFill>
                <a:latin typeface="IBM Plex Sans"/>
                <a:ea typeface="IBM Plex Sans"/>
                <a:cs typeface="IBM Plex Sans"/>
                <a:sym typeface="IBM Plex Sans"/>
              </a:rPr>
              <a:t>· PubkeyAuth, agent only</a:t>
            </a:r>
            <a:endParaRPr b="0" i="0" sz="1200" u="none" cap="none" strike="noStrike">
              <a:solidFill>
                <a:schemeClr val="dk1"/>
              </a:solidFill>
              <a:latin typeface="Calibri"/>
              <a:ea typeface="Calibri"/>
              <a:cs typeface="Calibri"/>
              <a:sym typeface="Calibri"/>
            </a:endParaRPr>
          </a:p>
        </p:txBody>
      </p:sp>
      <p:sp>
        <p:nvSpPr>
          <p:cNvPr id="420" name="Google Shape;420;p15"/>
          <p:cNvSpPr/>
          <p:nvPr/>
        </p:nvSpPr>
        <p:spPr>
          <a:xfrm>
            <a:off x="10534650" y="3490689"/>
            <a:ext cx="6496050" cy="633413"/>
          </a:xfrm>
          <a:prstGeom prst="roundRect">
            <a:avLst>
              <a:gd fmla="val 15038" name="adj"/>
            </a:avLst>
          </a:prstGeom>
          <a:solidFill>
            <a:srgbClr val="FFFFFF">
              <a:alpha val="7058"/>
            </a:srgbClr>
          </a:solidFill>
          <a:ln cap="flat" cmpd="sng" w="9525">
            <a:solidFill>
              <a:srgbClr val="FFFFFF">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5"/>
          <p:cNvSpPr/>
          <p:nvPr/>
        </p:nvSpPr>
        <p:spPr>
          <a:xfrm>
            <a:off x="10772775" y="3652614"/>
            <a:ext cx="6214682"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75"/>
              <a:buFont typeface="IBM Plex Sans"/>
              <a:buNone/>
            </a:pPr>
            <a:r>
              <a:rPr b="1" i="0" lang="en-US" sz="1875" u="none" cap="none" strike="noStrike">
                <a:solidFill>
                  <a:srgbClr val="FFFFFF"/>
                </a:solidFill>
                <a:latin typeface="IBM Plex Sans"/>
                <a:ea typeface="IBM Plex Sans"/>
                <a:cs typeface="IBM Plex Sans"/>
                <a:sym typeface="IBM Plex Sans"/>
              </a:rPr>
              <a:t>VS Code Server</a:t>
            </a:r>
            <a:r>
              <a:rPr b="0" i="0" lang="en-US" sz="1725" u="none" cap="none" strike="noStrike">
                <a:solidFill>
                  <a:srgbClr val="FFFFFF"/>
                </a:solidFill>
                <a:latin typeface="IBM Plex Sans"/>
                <a:ea typeface="IBM Plex Sans"/>
                <a:cs typeface="IBM Plex Sans"/>
                <a:sym typeface="IBM Plex Sans"/>
              </a:rPr>
              <a:t>· installed on first connect</a:t>
            </a:r>
            <a:endParaRPr b="0" i="0" sz="1200" u="none" cap="none" strike="noStrike">
              <a:solidFill>
                <a:schemeClr val="dk1"/>
              </a:solidFill>
              <a:latin typeface="Calibri"/>
              <a:ea typeface="Calibri"/>
              <a:cs typeface="Calibri"/>
              <a:sym typeface="Calibri"/>
            </a:endParaRPr>
          </a:p>
        </p:txBody>
      </p:sp>
      <p:sp>
        <p:nvSpPr>
          <p:cNvPr id="422" name="Google Shape;422;p15"/>
          <p:cNvSpPr/>
          <p:nvPr/>
        </p:nvSpPr>
        <p:spPr>
          <a:xfrm>
            <a:off x="10534650" y="4276502"/>
            <a:ext cx="6496050" cy="633413"/>
          </a:xfrm>
          <a:prstGeom prst="roundRect">
            <a:avLst>
              <a:gd fmla="val 15038" name="adj"/>
            </a:avLst>
          </a:prstGeom>
          <a:solidFill>
            <a:srgbClr val="FFFFFF">
              <a:alpha val="7058"/>
            </a:srgbClr>
          </a:solidFill>
          <a:ln cap="flat" cmpd="sng" w="9525">
            <a:solidFill>
              <a:srgbClr val="FFFFFF">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5"/>
          <p:cNvSpPr/>
          <p:nvPr/>
        </p:nvSpPr>
        <p:spPr>
          <a:xfrm>
            <a:off x="10772775" y="4438427"/>
            <a:ext cx="6214682"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75"/>
              <a:buFont typeface="IBM Plex Sans"/>
              <a:buNone/>
            </a:pPr>
            <a:r>
              <a:rPr b="1" i="0" lang="en-US" sz="1875" u="none" cap="none" strike="noStrike">
                <a:solidFill>
                  <a:srgbClr val="FFFFFF"/>
                </a:solidFill>
                <a:latin typeface="IBM Plex Sans"/>
                <a:ea typeface="IBM Plex Sans"/>
                <a:cs typeface="IBM Plex Sans"/>
                <a:sym typeface="IBM Plex Sans"/>
              </a:rPr>
              <a:t>agent shell · claude</a:t>
            </a:r>
            <a:endParaRPr b="0" i="0" sz="1875" u="none" cap="none" strike="noStrike">
              <a:solidFill>
                <a:schemeClr val="dk1"/>
              </a:solidFill>
              <a:latin typeface="Calibri"/>
              <a:ea typeface="Calibri"/>
              <a:cs typeface="Calibri"/>
              <a:sym typeface="Calibri"/>
            </a:endParaRPr>
          </a:p>
        </p:txBody>
      </p:sp>
      <p:sp>
        <p:nvSpPr>
          <p:cNvPr id="424" name="Google Shape;424;p15"/>
          <p:cNvSpPr/>
          <p:nvPr/>
        </p:nvSpPr>
        <p:spPr>
          <a:xfrm>
            <a:off x="10534650" y="5062314"/>
            <a:ext cx="6496050" cy="633413"/>
          </a:xfrm>
          <a:prstGeom prst="roundRect">
            <a:avLst>
              <a:gd fmla="val 15038" name="adj"/>
            </a:avLst>
          </a:prstGeom>
          <a:solidFill>
            <a:srgbClr val="FFFFFF">
              <a:alpha val="7058"/>
            </a:srgbClr>
          </a:solidFill>
          <a:ln cap="flat" cmpd="sng" w="9525">
            <a:solidFill>
              <a:srgbClr val="FFFFFF">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5"/>
          <p:cNvSpPr/>
          <p:nvPr/>
        </p:nvSpPr>
        <p:spPr>
          <a:xfrm>
            <a:off x="10772775" y="5224239"/>
            <a:ext cx="6214682"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3C993"/>
              </a:buClr>
              <a:buSzPts val="1875"/>
              <a:buFont typeface="IBM Plex Sans"/>
              <a:buNone/>
            </a:pPr>
            <a:r>
              <a:rPr b="1" i="0" lang="en-US" sz="1875" u="none" cap="none" strike="noStrike">
                <a:solidFill>
                  <a:srgbClr val="63C993"/>
                </a:solidFill>
                <a:latin typeface="IBM Plex Sans"/>
                <a:ea typeface="IBM Plex Sans"/>
                <a:cs typeface="IBM Plex Sans"/>
                <a:sym typeface="IBM Plex Sans"/>
              </a:rPr>
              <a:t>workspace</a:t>
            </a:r>
            <a:r>
              <a:rPr b="0" i="0" lang="en-US" sz="1725" u="none" cap="none" strike="noStrike">
                <a:solidFill>
                  <a:srgbClr val="FFFFFF"/>
                </a:solidFill>
                <a:latin typeface="IBM Plex Sans"/>
                <a:ea typeface="IBM Plex Sans"/>
                <a:cs typeface="IBM Plex Sans"/>
                <a:sym typeface="IBM Plex Sans"/>
              </a:rPr>
              <a:t>· same absolute path as host</a:t>
            </a:r>
            <a:endParaRPr b="0" i="0" sz="1200" u="none" cap="none" strike="noStrike">
              <a:solidFill>
                <a:schemeClr val="dk1"/>
              </a:solidFill>
              <a:latin typeface="Calibri"/>
              <a:ea typeface="Calibri"/>
              <a:cs typeface="Calibri"/>
              <a:sym typeface="Calibri"/>
            </a:endParaRPr>
          </a:p>
        </p:txBody>
      </p:sp>
      <p:sp>
        <p:nvSpPr>
          <p:cNvPr id="426" name="Google Shape;426;p15"/>
          <p:cNvSpPr/>
          <p:nvPr/>
        </p:nvSpPr>
        <p:spPr>
          <a:xfrm>
            <a:off x="914400" y="6047780"/>
            <a:ext cx="16459200" cy="3067645"/>
          </a:xfrm>
          <a:prstGeom prst="roundRect">
            <a:avLst>
              <a:gd fmla="val 4968"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5"/>
          <p:cNvSpPr/>
          <p:nvPr/>
        </p:nvSpPr>
        <p:spPr>
          <a:xfrm>
            <a:off x="1257300" y="6276380"/>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5"/>
          <p:cNvSpPr/>
          <p:nvPr/>
        </p:nvSpPr>
        <p:spPr>
          <a:xfrm>
            <a:off x="1485900" y="6276380"/>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1714500" y="6276380"/>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5"/>
          <p:cNvSpPr/>
          <p:nvPr/>
        </p:nvSpPr>
        <p:spPr>
          <a:xfrm>
            <a:off x="1257300" y="6562130"/>
            <a:ext cx="16246602"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FFFFFF"/>
              </a:buClr>
              <a:buSzPts val="1725"/>
              <a:buFont typeface="Courier New"/>
              <a:buNone/>
            </a:pPr>
            <a:r>
              <a:rPr b="0" i="1" lang="en-US" sz="1725" u="none" cap="none" strike="noStrike">
                <a:solidFill>
                  <a:srgbClr val="FFFFFF"/>
                </a:solidFill>
                <a:latin typeface="Courier New"/>
                <a:ea typeface="Courier New"/>
                <a:cs typeface="Courier New"/>
                <a:sym typeface="Courier New"/>
              </a:rPr>
              <a:t># the four moves (from the remote-ssh kit's start.sh)</a:t>
            </a:r>
            <a:endParaRPr b="0" i="0" sz="1725" u="none" cap="none" strike="noStrike">
              <a:solidFill>
                <a:schemeClr val="dk1"/>
              </a:solidFill>
              <a:latin typeface="Calibri"/>
              <a:ea typeface="Calibri"/>
              <a:cs typeface="Calibri"/>
              <a:sym typeface="Calibri"/>
            </a:endParaRPr>
          </a:p>
        </p:txBody>
      </p:sp>
      <p:sp>
        <p:nvSpPr>
          <p:cNvPr id="431" name="Google Shape;431;p15"/>
          <p:cNvSpPr/>
          <p:nvPr/>
        </p:nvSpPr>
        <p:spPr>
          <a:xfrm>
            <a:off x="1257300" y="6955929"/>
            <a:ext cx="16246602"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63C993"/>
              </a:buClr>
              <a:buSzPts val="1725"/>
              <a:buFont typeface="Courier New"/>
              <a:buNone/>
            </a:pPr>
            <a:r>
              <a:rPr b="1" i="0" lang="en-US" sz="1725" u="none" cap="none" strike="noStrike">
                <a:solidFill>
                  <a:srgbClr val="63C993"/>
                </a:solidFill>
                <a:latin typeface="Courier New"/>
                <a:ea typeface="Courier New"/>
                <a:cs typeface="Courier New"/>
                <a:sym typeface="Courier New"/>
              </a:rPr>
              <a:t>$ </a:t>
            </a:r>
            <a:r>
              <a:rPr b="0" i="0" lang="en-US" sz="1725" u="none" cap="none" strike="noStrike">
                <a:solidFill>
                  <a:srgbClr val="EEF2F8"/>
                </a:solidFill>
                <a:latin typeface="Courier New"/>
                <a:ea typeface="Courier New"/>
                <a:cs typeface="Courier New"/>
                <a:sym typeface="Courier New"/>
              </a:rPr>
              <a:t>sbx run claude --kit ./remote-ssh --name vscode-ssh </a:t>
            </a:r>
            <a:r>
              <a:rPr b="0" i="0" lang="en-US" sz="1725" u="none" cap="none" strike="noStrike">
                <a:solidFill>
                  <a:srgbClr val="F5A524"/>
                </a:solidFill>
                <a:latin typeface="Courier New"/>
                <a:ea typeface="Courier New"/>
                <a:cs typeface="Courier New"/>
                <a:sym typeface="Courier New"/>
              </a:rPr>
              <a:t>--detached</a:t>
            </a:r>
            <a:r>
              <a:rPr b="0" i="0" lang="en-US" sz="1725" u="none" cap="none" strike="noStrike">
                <a:solidFill>
                  <a:srgbClr val="EEF2F8"/>
                </a:solidFill>
                <a:latin typeface="Courier New"/>
                <a:ea typeface="Courier New"/>
                <a:cs typeface="Courier New"/>
                <a:sym typeface="Courier New"/>
              </a:rPr>
              <a:t> ~/project</a:t>
            </a:r>
            <a:endParaRPr b="0" i="0" sz="1725" u="none" cap="none" strike="noStrike">
              <a:solidFill>
                <a:schemeClr val="dk1"/>
              </a:solidFill>
              <a:latin typeface="Calibri"/>
              <a:ea typeface="Calibri"/>
              <a:cs typeface="Calibri"/>
              <a:sym typeface="Calibri"/>
            </a:endParaRPr>
          </a:p>
        </p:txBody>
      </p:sp>
      <p:sp>
        <p:nvSpPr>
          <p:cNvPr id="432" name="Google Shape;432;p15"/>
          <p:cNvSpPr/>
          <p:nvPr/>
        </p:nvSpPr>
        <p:spPr>
          <a:xfrm>
            <a:off x="1257300" y="7349728"/>
            <a:ext cx="16246602"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63C993"/>
              </a:buClr>
              <a:buSzPts val="1725"/>
              <a:buFont typeface="Courier New"/>
              <a:buNone/>
            </a:pPr>
            <a:r>
              <a:rPr b="1" i="0" lang="en-US" sz="1725" u="none" cap="none" strike="noStrike">
                <a:solidFill>
                  <a:srgbClr val="63C993"/>
                </a:solidFill>
                <a:latin typeface="Courier New"/>
                <a:ea typeface="Courier New"/>
                <a:cs typeface="Courier New"/>
                <a:sym typeface="Courier New"/>
              </a:rPr>
              <a:t>$ </a:t>
            </a:r>
            <a:r>
              <a:rPr b="0" i="0" lang="en-US" sz="1725" u="none" cap="none" strike="noStrike">
                <a:solidFill>
                  <a:srgbClr val="EEF2F8"/>
                </a:solidFill>
                <a:latin typeface="Courier New"/>
                <a:ea typeface="Courier New"/>
                <a:cs typeface="Courier New"/>
                <a:sym typeface="Courier New"/>
              </a:rPr>
              <a:t>sbx exec --env KEY="$(cat ~/.ssh/id_ed25519.pub)" vscode-ssh -- \</a:t>
            </a:r>
            <a:endParaRPr b="0" i="0" sz="1725" u="none" cap="none" strike="noStrike">
              <a:solidFill>
                <a:schemeClr val="dk1"/>
              </a:solidFill>
              <a:latin typeface="Calibri"/>
              <a:ea typeface="Calibri"/>
              <a:cs typeface="Calibri"/>
              <a:sym typeface="Calibri"/>
            </a:endParaRPr>
          </a:p>
        </p:txBody>
      </p:sp>
      <p:sp>
        <p:nvSpPr>
          <p:cNvPr id="433" name="Google Shape;433;p15"/>
          <p:cNvSpPr/>
          <p:nvPr/>
        </p:nvSpPr>
        <p:spPr>
          <a:xfrm>
            <a:off x="1257300" y="7743527"/>
            <a:ext cx="16246602"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EEF2F8"/>
              </a:buClr>
              <a:buSzPts val="1725"/>
              <a:buFont typeface="Courier New"/>
              <a:buNone/>
            </a:pPr>
            <a:r>
              <a:rPr b="0" i="0" lang="en-US" sz="1725" u="none" cap="none" strike="noStrike">
                <a:solidFill>
                  <a:srgbClr val="EEF2F8"/>
                </a:solidFill>
                <a:latin typeface="Courier New"/>
                <a:ea typeface="Courier New"/>
                <a:cs typeface="Courier New"/>
                <a:sym typeface="Courier New"/>
              </a:rPr>
              <a:t>    sh -c 'printf "%s\n" "$KEY" &gt; ~/.ssh/authorized_keys &amp;&amp; chmod 600 ~/.ssh/authorized_keys'</a:t>
            </a:r>
            <a:endParaRPr b="0" i="0" sz="1725" u="none" cap="none" strike="noStrike">
              <a:solidFill>
                <a:schemeClr val="dk1"/>
              </a:solidFill>
              <a:latin typeface="Calibri"/>
              <a:ea typeface="Calibri"/>
              <a:cs typeface="Calibri"/>
              <a:sym typeface="Calibri"/>
            </a:endParaRPr>
          </a:p>
        </p:txBody>
      </p:sp>
      <p:sp>
        <p:nvSpPr>
          <p:cNvPr id="434" name="Google Shape;434;p15"/>
          <p:cNvSpPr/>
          <p:nvPr/>
        </p:nvSpPr>
        <p:spPr>
          <a:xfrm>
            <a:off x="1257300" y="8137327"/>
            <a:ext cx="16246602"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63C993"/>
              </a:buClr>
              <a:buSzPts val="1725"/>
              <a:buFont typeface="Courier New"/>
              <a:buNone/>
            </a:pPr>
            <a:r>
              <a:rPr b="1" i="0" lang="en-US" sz="1725" u="none" cap="none" strike="noStrike">
                <a:solidFill>
                  <a:srgbClr val="63C993"/>
                </a:solidFill>
                <a:latin typeface="Courier New"/>
                <a:ea typeface="Courier New"/>
                <a:cs typeface="Courier New"/>
                <a:sym typeface="Courier New"/>
              </a:rPr>
              <a:t>$ </a:t>
            </a:r>
            <a:r>
              <a:rPr b="0" i="0" lang="en-US" sz="1725" u="none" cap="none" strike="noStrike">
                <a:solidFill>
                  <a:srgbClr val="EEF2F8"/>
                </a:solidFill>
                <a:latin typeface="Courier New"/>
                <a:ea typeface="Courier New"/>
                <a:cs typeface="Courier New"/>
                <a:sym typeface="Courier New"/>
              </a:rPr>
              <a:t>sbx ports vscode-ssh --publish 2222:22/tcp</a:t>
            </a:r>
            <a:endParaRPr b="0" i="0" sz="1725" u="none" cap="none" strike="noStrike">
              <a:solidFill>
                <a:schemeClr val="dk1"/>
              </a:solidFill>
              <a:latin typeface="Calibri"/>
              <a:ea typeface="Calibri"/>
              <a:cs typeface="Calibri"/>
              <a:sym typeface="Calibri"/>
            </a:endParaRPr>
          </a:p>
        </p:txBody>
      </p:sp>
      <p:sp>
        <p:nvSpPr>
          <p:cNvPr id="435" name="Google Shape;435;p15"/>
          <p:cNvSpPr/>
          <p:nvPr/>
        </p:nvSpPr>
        <p:spPr>
          <a:xfrm>
            <a:off x="1257300" y="8531126"/>
            <a:ext cx="16246602" cy="355699"/>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63C993"/>
              </a:buClr>
              <a:buSzPts val="1725"/>
              <a:buFont typeface="Courier New"/>
              <a:buNone/>
            </a:pPr>
            <a:r>
              <a:rPr b="1" i="0" lang="en-US" sz="1725" u="none" cap="none" strike="noStrike">
                <a:solidFill>
                  <a:srgbClr val="63C993"/>
                </a:solidFill>
                <a:latin typeface="Courier New"/>
                <a:ea typeface="Courier New"/>
                <a:cs typeface="Courier New"/>
                <a:sym typeface="Courier New"/>
              </a:rPr>
              <a:t>$ </a:t>
            </a:r>
            <a:r>
              <a:rPr b="0" i="0" lang="en-US" sz="1725" u="none" cap="none" strike="noStrike">
                <a:solidFill>
                  <a:srgbClr val="EEF2F8"/>
                </a:solidFill>
                <a:latin typeface="Courier New"/>
                <a:ea typeface="Courier New"/>
                <a:cs typeface="Courier New"/>
                <a:sym typeface="Courier New"/>
              </a:rPr>
              <a:t>code --remote "ssh-remote+sbx-vscode-ssh" ~/project</a:t>
            </a:r>
            <a:endParaRPr b="0" i="0" sz="1725" u="none" cap="none" strike="noStrike">
              <a:solidFill>
                <a:schemeClr val="dk1"/>
              </a:solidFill>
              <a:latin typeface="Calibri"/>
              <a:ea typeface="Calibri"/>
              <a:cs typeface="Calibri"/>
              <a:sym typeface="Calibri"/>
            </a:endParaRPr>
          </a:p>
        </p:txBody>
      </p:sp>
      <p:sp>
        <p:nvSpPr>
          <p:cNvPr id="436" name="Google Shape;436;p15"/>
          <p:cNvSpPr/>
          <p:nvPr/>
        </p:nvSpPr>
        <p:spPr>
          <a:xfrm>
            <a:off x="914400" y="9305925"/>
            <a:ext cx="18105120"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00"/>
              <a:buFont typeface="IBM Plex Sans"/>
              <a:buNone/>
            </a:pPr>
            <a:r>
              <a:rPr b="0" i="0" lang="en-US" sz="1800" u="none" cap="none" strike="noStrike">
                <a:solidFill>
                  <a:srgbClr val="3D414C"/>
                </a:solidFill>
                <a:latin typeface="IBM Plex Sans"/>
                <a:ea typeface="IBM Plex Sans"/>
                <a:cs typeface="IBM Plex Sans"/>
                <a:sym typeface="IBM Plex Sans"/>
              </a:rPr>
              <a:t>The kit is a mixin on the claude agent — keeping the built-in agent keeps automatic credential wiring.</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41" name="Shape 441"/>
        <p:cNvGrpSpPr/>
        <p:nvPr/>
      </p:nvGrpSpPr>
      <p:grpSpPr>
        <a:xfrm>
          <a:off x="0" y="0"/>
          <a:ext cx="0" cy="0"/>
          <a:chOff x="0" y="0"/>
          <a:chExt cx="0" cy="0"/>
        </a:xfrm>
      </p:grpSpPr>
      <p:sp>
        <p:nvSpPr>
          <p:cNvPr id="442" name="Google Shape;442;p16"/>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05</a:t>
            </a:r>
            <a:endParaRPr b="0" i="0" sz="1950" u="none" cap="none" strike="noStrike">
              <a:solidFill>
                <a:schemeClr val="dk1"/>
              </a:solidFill>
              <a:latin typeface="Calibri"/>
              <a:ea typeface="Calibri"/>
              <a:cs typeface="Calibri"/>
              <a:sym typeface="Calibri"/>
            </a:endParaRPr>
          </a:p>
        </p:txBody>
      </p:sp>
      <p:sp>
        <p:nvSpPr>
          <p:cNvPr id="443" name="Google Shape;443;p16"/>
          <p:cNvSpPr/>
          <p:nvPr/>
        </p:nvSpPr>
        <p:spPr>
          <a:xfrm>
            <a:off x="1384102" y="762000"/>
            <a:ext cx="3548107"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VS CODE IN A SANDBOX</a:t>
            </a:r>
            <a:endParaRPr b="0" i="0" sz="1800" u="none" cap="none" strike="noStrike">
              <a:solidFill>
                <a:schemeClr val="dk1"/>
              </a:solidFill>
              <a:latin typeface="Calibri"/>
              <a:ea typeface="Calibri"/>
              <a:cs typeface="Calibri"/>
              <a:sym typeface="Calibri"/>
            </a:endParaRPr>
          </a:p>
        </p:txBody>
      </p:sp>
      <p:sp>
        <p:nvSpPr>
          <p:cNvPr id="444" name="Google Shape;444;p16"/>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Lab: the two-command version</a:t>
            </a:r>
            <a:endParaRPr b="0" i="0" sz="4500" u="none" cap="none" strike="noStrike">
              <a:solidFill>
                <a:schemeClr val="dk1"/>
              </a:solidFill>
              <a:latin typeface="Calibri"/>
              <a:ea typeface="Calibri"/>
              <a:cs typeface="Calibri"/>
              <a:sym typeface="Calibri"/>
            </a:endParaRPr>
          </a:p>
        </p:txBody>
      </p:sp>
      <p:sp>
        <p:nvSpPr>
          <p:cNvPr id="445" name="Google Shape;445;p16"/>
          <p:cNvSpPr/>
          <p:nvPr/>
        </p:nvSpPr>
        <p:spPr>
          <a:xfrm>
            <a:off x="914400" y="2169765"/>
            <a:ext cx="9784110" cy="3448050"/>
          </a:xfrm>
          <a:prstGeom prst="roundRect">
            <a:avLst>
              <a:gd fmla="val 4420"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6"/>
          <p:cNvSpPr/>
          <p:nvPr/>
        </p:nvSpPr>
        <p:spPr>
          <a:xfrm>
            <a:off x="12573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p:nvPr/>
        </p:nvSpPr>
        <p:spPr>
          <a:xfrm>
            <a:off x="14859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6"/>
          <p:cNvSpPr/>
          <p:nvPr/>
        </p:nvSpPr>
        <p:spPr>
          <a:xfrm>
            <a:off x="17145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6"/>
          <p:cNvSpPr/>
          <p:nvPr/>
        </p:nvSpPr>
        <p:spPr>
          <a:xfrm>
            <a:off x="1257300" y="2760315"/>
            <a:ext cx="9371259"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1" lang="en-US" sz="1800" u="none" cap="none" strike="noStrike">
                <a:solidFill>
                  <a:srgbClr val="FFFFFF"/>
                </a:solidFill>
                <a:latin typeface="Courier New"/>
                <a:ea typeface="Courier New"/>
                <a:cs typeface="Courier New"/>
                <a:sym typeface="Courier New"/>
              </a:rPr>
              <a:t># github.com/DockerSolutionsEngineering/ai.gov.sbx-vscode-ssh</a:t>
            </a:r>
            <a:endParaRPr b="0" i="0" sz="1800" u="none" cap="none" strike="noStrike">
              <a:solidFill>
                <a:schemeClr val="dk1"/>
              </a:solidFill>
              <a:latin typeface="Calibri"/>
              <a:ea typeface="Calibri"/>
              <a:cs typeface="Calibri"/>
              <a:sym typeface="Calibri"/>
            </a:endParaRPr>
          </a:p>
        </p:txBody>
      </p:sp>
      <p:sp>
        <p:nvSpPr>
          <p:cNvPr id="450" name="Google Shape;450;p16"/>
          <p:cNvSpPr/>
          <p:nvPr/>
        </p:nvSpPr>
        <p:spPr>
          <a:xfrm>
            <a:off x="1257300" y="3198465"/>
            <a:ext cx="9371259"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cd 06-better-remote-ssh</a:t>
            </a:r>
            <a:endParaRPr b="0" i="0" sz="1800" u="none" cap="none" strike="noStrike">
              <a:solidFill>
                <a:schemeClr val="dk1"/>
              </a:solidFill>
              <a:latin typeface="Calibri"/>
              <a:ea typeface="Calibri"/>
              <a:cs typeface="Calibri"/>
              <a:sym typeface="Calibri"/>
            </a:endParaRPr>
          </a:p>
        </p:txBody>
      </p:sp>
      <p:sp>
        <p:nvSpPr>
          <p:cNvPr id="451" name="Google Shape;451;p16"/>
          <p:cNvSpPr/>
          <p:nvPr/>
        </p:nvSpPr>
        <p:spPr>
          <a:xfrm>
            <a:off x="1257300" y="3636615"/>
            <a:ext cx="9371259"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./build.sh</a:t>
            </a:r>
            <a:r>
              <a:rPr b="0" i="1" lang="en-US" sz="1800" u="none" cap="none" strike="noStrike">
                <a:solidFill>
                  <a:srgbClr val="FFFFFF"/>
                </a:solidFill>
                <a:latin typeface="Courier New"/>
                <a:ea typeface="Courier New"/>
                <a:cs typeface="Courier New"/>
                <a:sym typeface="Courier New"/>
              </a:rPr>
              <a:t>               # bakes sshd into a template image</a:t>
            </a:r>
            <a:endParaRPr b="0" i="0" sz="1800" u="none" cap="none" strike="noStrike">
              <a:solidFill>
                <a:schemeClr val="dk1"/>
              </a:solidFill>
              <a:latin typeface="Calibri"/>
              <a:ea typeface="Calibri"/>
              <a:cs typeface="Calibri"/>
              <a:sym typeface="Calibri"/>
            </a:endParaRPr>
          </a:p>
        </p:txBody>
      </p:sp>
      <p:sp>
        <p:nvSpPr>
          <p:cNvPr id="452" name="Google Shape;452;p16"/>
          <p:cNvSpPr/>
          <p:nvPr/>
        </p:nvSpPr>
        <p:spPr>
          <a:xfrm>
            <a:off x="1257300" y="4074765"/>
            <a:ext cx="9371259"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./start.sh ~/my-project</a:t>
            </a:r>
            <a:r>
              <a:rPr b="0" i="1" lang="en-US" sz="1800" u="none" cap="none" strike="noStrike">
                <a:solidFill>
                  <a:srgbClr val="FFFFFF"/>
                </a:solidFill>
                <a:latin typeface="Courier New"/>
                <a:ea typeface="Courier New"/>
                <a:cs typeface="Courier New"/>
                <a:sym typeface="Courier New"/>
              </a:rPr>
              <a:t>  # launch + open VS Code</a:t>
            </a:r>
            <a:endParaRPr b="0" i="0" sz="1800" u="none" cap="none" strike="noStrike">
              <a:solidFill>
                <a:schemeClr val="dk1"/>
              </a:solidFill>
              <a:latin typeface="Calibri"/>
              <a:ea typeface="Calibri"/>
              <a:cs typeface="Calibri"/>
              <a:sym typeface="Calibri"/>
            </a:endParaRPr>
          </a:p>
        </p:txBody>
      </p:sp>
      <p:sp>
        <p:nvSpPr>
          <p:cNvPr id="453" name="Google Shape;453;p16"/>
          <p:cNvSpPr/>
          <p:nvPr/>
        </p:nvSpPr>
        <p:spPr>
          <a:xfrm>
            <a:off x="1257300" y="4512915"/>
            <a:ext cx="9371259"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B0C10"/>
              </a:buClr>
              <a:buSzPts val="1800"/>
              <a:buFont typeface="Courier New"/>
              <a:buNone/>
            </a:pPr>
            <a:r>
              <a:rPr b="0" i="0" lang="en-US" sz="1800" u="none" cap="none" strike="noStrike">
                <a:solidFill>
                  <a:srgbClr val="0B0C1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p:txBody>
      </p:sp>
      <p:sp>
        <p:nvSpPr>
          <p:cNvPr id="454" name="Google Shape;454;p16"/>
          <p:cNvSpPr/>
          <p:nvPr/>
        </p:nvSpPr>
        <p:spPr>
          <a:xfrm>
            <a:off x="1257300" y="4951065"/>
            <a:ext cx="9371259"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1" lang="en-US" sz="1800" u="none" cap="none" strike="noStrike">
                <a:solidFill>
                  <a:srgbClr val="FFFFFF"/>
                </a:solidFill>
                <a:latin typeface="Courier New"/>
                <a:ea typeface="Courier New"/>
                <a:cs typeface="Courier New"/>
                <a:sym typeface="Courier New"/>
              </a:rPr>
              <a:t># elsewhere: no build needed — start.sh pulls the template</a:t>
            </a:r>
            <a:endParaRPr b="0" i="0" sz="1800" u="none" cap="none" strike="noStrike">
              <a:solidFill>
                <a:schemeClr val="dk1"/>
              </a:solidFill>
              <a:latin typeface="Calibri"/>
              <a:ea typeface="Calibri"/>
              <a:cs typeface="Calibri"/>
              <a:sym typeface="Calibri"/>
            </a:endParaRPr>
          </a:p>
        </p:txBody>
      </p:sp>
      <p:sp>
        <p:nvSpPr>
          <p:cNvPr id="455" name="Google Shape;455;p16"/>
          <p:cNvSpPr/>
          <p:nvPr/>
        </p:nvSpPr>
        <p:spPr>
          <a:xfrm>
            <a:off x="11231910" y="2912715"/>
            <a:ext cx="6672039"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00"/>
              <a:buFont typeface="IBM Plex Sans"/>
              <a:buNone/>
            </a:pPr>
            <a:r>
              <a:rPr b="1" i="0" lang="en-US" sz="2100" u="none" cap="none" strike="noStrike">
                <a:solidFill>
                  <a:srgbClr val="0B0C10"/>
                </a:solidFill>
                <a:latin typeface="IBM Plex Sans"/>
                <a:ea typeface="IBM Plex Sans"/>
                <a:cs typeface="IBM Plex Sans"/>
                <a:sym typeface="IBM Plex Sans"/>
              </a:rPr>
              <a:t>Why 06 is the good one:</a:t>
            </a:r>
            <a:endParaRPr b="0" i="0" sz="2100" u="none" cap="none" strike="noStrike">
              <a:solidFill>
                <a:schemeClr val="dk1"/>
              </a:solidFill>
              <a:latin typeface="Calibri"/>
              <a:ea typeface="Calibri"/>
              <a:cs typeface="Calibri"/>
              <a:sym typeface="Calibri"/>
            </a:endParaRPr>
          </a:p>
        </p:txBody>
      </p:sp>
      <p:sp>
        <p:nvSpPr>
          <p:cNvPr id="456" name="Google Shape;456;p16"/>
          <p:cNvSpPr/>
          <p:nvPr/>
        </p:nvSpPr>
        <p:spPr>
          <a:xfrm>
            <a:off x="11231910" y="3369915"/>
            <a:ext cx="6247455" cy="676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SSH baked into the image → fast create, no apt egress</a:t>
            </a:r>
            <a:endParaRPr b="0" i="0" sz="1950" u="none" cap="none" strike="noStrike">
              <a:solidFill>
                <a:schemeClr val="dk1"/>
              </a:solidFill>
              <a:latin typeface="Calibri"/>
              <a:ea typeface="Calibri"/>
              <a:cs typeface="Calibri"/>
              <a:sym typeface="Calibri"/>
            </a:endParaRPr>
          </a:p>
        </p:txBody>
      </p:sp>
      <p:sp>
        <p:nvSpPr>
          <p:cNvPr id="457" name="Google Shape;457;p16"/>
          <p:cNvSpPr/>
          <p:nvPr/>
        </p:nvSpPr>
        <p:spPr>
          <a:xfrm>
            <a:off x="11231910" y="4122390"/>
            <a:ext cx="6672039"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reuses a running sandbox</a:t>
            </a:r>
            <a:endParaRPr b="0" i="0" sz="1950" u="none" cap="none" strike="noStrike">
              <a:solidFill>
                <a:schemeClr val="dk1"/>
              </a:solidFill>
              <a:latin typeface="Calibri"/>
              <a:ea typeface="Calibri"/>
              <a:cs typeface="Calibri"/>
              <a:sym typeface="Calibri"/>
            </a:endParaRPr>
          </a:p>
        </p:txBody>
      </p:sp>
      <p:sp>
        <p:nvSpPr>
          <p:cNvPr id="458" name="Google Shape;458;p16"/>
          <p:cNvSpPr/>
          <p:nvPr/>
        </p:nvSpPr>
        <p:spPr>
          <a:xfrm>
            <a:off x="11231910" y="4555778"/>
            <a:ext cx="6672039" cy="3571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950"/>
              <a:buFont typeface="IBM Plex Sans"/>
              <a:buNone/>
            </a:pPr>
            <a:r>
              <a:rPr b="0" i="0" lang="en-US" sz="1950" u="none" cap="none" strike="noStrike">
                <a:solidFill>
                  <a:srgbClr val="0B0C10"/>
                </a:solidFill>
                <a:latin typeface="IBM Plex Sans"/>
                <a:ea typeface="IBM Plex Sans"/>
                <a:cs typeface="IBM Plex Sans"/>
                <a:sym typeface="IBM Plex Sans"/>
              </a:rPr>
              <a:t>· per-boot bits stay in the kit </a:t>
            </a:r>
            <a:r>
              <a:rPr b="0" i="0" lang="en-US" sz="1800" u="none" cap="none" strike="noStrike">
                <a:solidFill>
                  <a:srgbClr val="3D414C"/>
                </a:solidFill>
                <a:latin typeface="IBM Plex Sans"/>
                <a:ea typeface="IBM Plex Sans"/>
                <a:cs typeface="IBM Plex Sans"/>
                <a:sym typeface="IBM Plex Sans"/>
              </a:rPr>
              <a:t>(images can't carry startup)</a:t>
            </a:r>
            <a:endParaRPr b="0" i="0" sz="1950" u="none" cap="none" strike="noStrike">
              <a:solidFill>
                <a:schemeClr val="dk1"/>
              </a:solidFill>
              <a:latin typeface="Calibri"/>
              <a:ea typeface="Calibri"/>
              <a:cs typeface="Calibri"/>
              <a:sym typeface="Calibri"/>
            </a:endParaRPr>
          </a:p>
        </p:txBody>
      </p:sp>
      <p:sp>
        <p:nvSpPr>
          <p:cNvPr id="459" name="Google Shape;459;p16"/>
          <p:cNvSpPr/>
          <p:nvPr/>
        </p:nvSpPr>
        <p:spPr>
          <a:xfrm>
            <a:off x="914400" y="5998815"/>
            <a:ext cx="16459200" cy="1895475"/>
          </a:xfrm>
          <a:prstGeom prst="roundRect">
            <a:avLst>
              <a:gd fmla="val 8040" name="adj"/>
            </a:avLst>
          </a:prstGeom>
          <a:solidFill>
            <a:srgbClr val="D9E5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a:off x="1333500" y="6341715"/>
            <a:ext cx="16089630" cy="1247775"/>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2560FF"/>
              </a:buClr>
              <a:buSzPts val="2100"/>
              <a:buFont typeface="IBM Plex Sans"/>
              <a:buNone/>
            </a:pPr>
            <a:r>
              <a:rPr b="1" i="0" lang="en-US" sz="2100" u="none" cap="none" strike="noStrike">
                <a:solidFill>
                  <a:srgbClr val="2560FF"/>
                </a:solidFill>
                <a:latin typeface="IBM Plex Sans"/>
                <a:ea typeface="IBM Plex Sans"/>
                <a:cs typeface="IBM Plex Sans"/>
                <a:sym typeface="IBM Plex Sans"/>
              </a:rPr>
              <a:t>Less about the agent, more about the isolation:</a:t>
            </a:r>
            <a:r>
              <a:rPr b="0" i="0" lang="en-US" sz="2100" u="none" cap="none" strike="noStrike">
                <a:solidFill>
                  <a:srgbClr val="0B0C10"/>
                </a:solidFill>
                <a:latin typeface="IBM Plex Sans"/>
                <a:ea typeface="IBM Plex Sans"/>
                <a:cs typeface="IBM Plex Sans"/>
                <a:sym typeface="IBM Plex Sans"/>
              </a:rPr>
              <a:t>the same flow works with the empty shell sandbox — swap</a:t>
            </a:r>
            <a:r>
              <a:rPr b="1" i="0" lang="en-US" sz="2100" u="none" cap="none" strike="noStrike">
                <a:solidFill>
                  <a:srgbClr val="2560FF"/>
                </a:solidFill>
                <a:latin typeface="Courier New"/>
                <a:ea typeface="Courier New"/>
                <a:cs typeface="Courier New"/>
                <a:sym typeface="Courier New"/>
              </a:rPr>
              <a:t>claude</a:t>
            </a:r>
            <a:r>
              <a:rPr b="0" i="0" lang="en-US" sz="2100" u="none" cap="none" strike="noStrike">
                <a:solidFill>
                  <a:srgbClr val="0B0C10"/>
                </a:solidFill>
                <a:latin typeface="IBM Plex Sans"/>
                <a:ea typeface="IBM Plex Sans"/>
                <a:cs typeface="IBM Plex Sans"/>
                <a:sym typeface="IBM Plex Sans"/>
              </a:rPr>
              <a:t>for</a:t>
            </a:r>
            <a:r>
              <a:rPr b="1" i="0" lang="en-US" sz="2100" u="none" cap="none" strike="noStrike">
                <a:solidFill>
                  <a:srgbClr val="2560FF"/>
                </a:solidFill>
                <a:latin typeface="Courier New"/>
                <a:ea typeface="Courier New"/>
                <a:cs typeface="Courier New"/>
                <a:sym typeface="Courier New"/>
              </a:rPr>
              <a:t>shell </a:t>
            </a:r>
            <a:r>
              <a:rPr b="0" i="0" lang="en-US" sz="2100" u="none" cap="none" strike="noStrike">
                <a:solidFill>
                  <a:srgbClr val="0B0C10"/>
                </a:solidFill>
                <a:latin typeface="IBM Plex Sans"/>
                <a:ea typeface="IBM Plex Sans"/>
                <a:cs typeface="IBM Plex Sans"/>
                <a:sym typeface="IBM Plex Sans"/>
              </a:rPr>
              <a:t>and you still get an isolated, policy-governed dev box with a full IDE. Cursor works too (05-cursor), and code-server if you prefer a browser.</a:t>
            </a:r>
            <a:endParaRPr b="0" i="0" sz="2100" u="none" cap="none" strike="noStrike">
              <a:solidFill>
                <a:schemeClr val="dk1"/>
              </a:solidFill>
              <a:latin typeface="Calibri"/>
              <a:ea typeface="Calibri"/>
              <a:cs typeface="Calibri"/>
              <a:sym typeface="Calibri"/>
            </a:endParaRPr>
          </a:p>
        </p:txBody>
      </p:sp>
      <p:sp>
        <p:nvSpPr>
          <p:cNvPr id="461" name="Google Shape;461;p16"/>
          <p:cNvSpPr/>
          <p:nvPr/>
        </p:nvSpPr>
        <p:spPr>
          <a:xfrm>
            <a:off x="914400" y="9186863"/>
            <a:ext cx="1664285" cy="3762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D9568"/>
              </a:buClr>
              <a:buSzPts val="2025"/>
              <a:buFont typeface="Arial"/>
              <a:buNone/>
            </a:pPr>
            <a:r>
              <a:rPr b="1" i="0" lang="en-US" sz="2025" u="none" cap="none" strike="noStrike">
                <a:solidFill>
                  <a:srgbClr val="2D9568"/>
                </a:solidFill>
                <a:latin typeface="Arial"/>
                <a:ea typeface="Arial"/>
                <a:cs typeface="Arial"/>
                <a:sym typeface="Arial"/>
              </a:rPr>
              <a:t>Checkpoint</a:t>
            </a:r>
            <a:endParaRPr b="0" i="0" sz="2025" u="none" cap="none" strike="noStrike">
              <a:solidFill>
                <a:schemeClr val="dk1"/>
              </a:solidFill>
              <a:latin typeface="Calibri"/>
              <a:ea typeface="Calibri"/>
              <a:cs typeface="Calibri"/>
              <a:sym typeface="Calibri"/>
            </a:endParaRPr>
          </a:p>
        </p:txBody>
      </p:sp>
      <p:sp>
        <p:nvSpPr>
          <p:cNvPr id="462" name="Google Shape;462;p16"/>
          <p:cNvSpPr/>
          <p:nvPr/>
        </p:nvSpPr>
        <p:spPr>
          <a:xfrm>
            <a:off x="2579787" y="9191625"/>
            <a:ext cx="10724458" cy="3714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025"/>
              <a:buFont typeface="IBM Plex Sans"/>
              <a:buNone/>
            </a:pPr>
            <a:r>
              <a:rPr b="0" i="0" lang="en-US" sz="2025" u="none" cap="none" strike="noStrike">
                <a:solidFill>
                  <a:srgbClr val="0B0C10"/>
                </a:solidFill>
                <a:latin typeface="IBM Plex Sans"/>
                <a:ea typeface="IBM Plex Sans"/>
                <a:cs typeface="IBM Plex Sans"/>
                <a:sym typeface="IBM Plex Sans"/>
              </a:rPr>
              <a:t>VS Code terminal open — run claude, then curl something blocked. Watch policy win.</a:t>
            </a:r>
            <a:endParaRPr b="0" i="0" sz="2025"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67" name="Shape 467"/>
        <p:cNvGrpSpPr/>
        <p:nvPr/>
      </p:nvGrpSpPr>
      <p:grpSpPr>
        <a:xfrm>
          <a:off x="0" y="0"/>
          <a:ext cx="0" cy="0"/>
          <a:chOff x="0" y="0"/>
          <a:chExt cx="0" cy="0"/>
        </a:xfrm>
      </p:grpSpPr>
      <p:sp>
        <p:nvSpPr>
          <p:cNvPr id="468" name="Google Shape;468;p17"/>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05</a:t>
            </a:r>
            <a:endParaRPr b="0" i="0" sz="1950" u="none" cap="none" strike="noStrike">
              <a:solidFill>
                <a:schemeClr val="dk1"/>
              </a:solidFill>
              <a:latin typeface="Calibri"/>
              <a:ea typeface="Calibri"/>
              <a:cs typeface="Calibri"/>
              <a:sym typeface="Calibri"/>
            </a:endParaRPr>
          </a:p>
        </p:txBody>
      </p:sp>
      <p:sp>
        <p:nvSpPr>
          <p:cNvPr id="469" name="Google Shape;469;p17"/>
          <p:cNvSpPr/>
          <p:nvPr/>
        </p:nvSpPr>
        <p:spPr>
          <a:xfrm>
            <a:off x="1384102" y="762000"/>
            <a:ext cx="3548107"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VS CODE IN A SANDBOX</a:t>
            </a:r>
            <a:endParaRPr b="0" i="0" sz="1800" u="none" cap="none" strike="noStrike">
              <a:solidFill>
                <a:schemeClr val="dk1"/>
              </a:solidFill>
              <a:latin typeface="Calibri"/>
              <a:ea typeface="Calibri"/>
              <a:cs typeface="Calibri"/>
              <a:sym typeface="Calibri"/>
            </a:endParaRPr>
          </a:p>
        </p:txBody>
      </p:sp>
      <p:sp>
        <p:nvSpPr>
          <p:cNvPr id="470" name="Google Shape;470;p17"/>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The four ways this bites you</a:t>
            </a:r>
            <a:endParaRPr b="0" i="0" sz="4500" u="none" cap="none" strike="noStrike">
              <a:solidFill>
                <a:schemeClr val="dk1"/>
              </a:solidFill>
              <a:latin typeface="Calibri"/>
              <a:ea typeface="Calibri"/>
              <a:cs typeface="Calibri"/>
              <a:sym typeface="Calibri"/>
            </a:endParaRPr>
          </a:p>
        </p:txBody>
      </p:sp>
      <p:sp>
        <p:nvSpPr>
          <p:cNvPr id="471" name="Google Shape;471;p17"/>
          <p:cNvSpPr/>
          <p:nvPr/>
        </p:nvSpPr>
        <p:spPr>
          <a:xfrm>
            <a:off x="914400" y="2245965"/>
            <a:ext cx="8077200" cy="3487117"/>
          </a:xfrm>
          <a:prstGeom prst="roundRect">
            <a:avLst>
              <a:gd fmla="val 4370"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7"/>
          <p:cNvSpPr/>
          <p:nvPr/>
        </p:nvSpPr>
        <p:spPr>
          <a:xfrm>
            <a:off x="1343025" y="2660303"/>
            <a:ext cx="225326"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86A00"/>
              </a:buClr>
              <a:buSzPts val="1950"/>
              <a:buFont typeface="Courier New"/>
              <a:buNone/>
            </a:pPr>
            <a:r>
              <a:rPr b="1" i="0" lang="en-US" sz="1950" u="none" cap="none" strike="noStrike">
                <a:solidFill>
                  <a:srgbClr val="A86A00"/>
                </a:solidFill>
                <a:latin typeface="Courier New"/>
                <a:ea typeface="Courier New"/>
                <a:cs typeface="Courier New"/>
                <a:sym typeface="Courier New"/>
              </a:rPr>
              <a:t>1</a:t>
            </a:r>
            <a:endParaRPr b="0" i="0" sz="1950" u="none" cap="none" strike="noStrike">
              <a:solidFill>
                <a:schemeClr val="dk1"/>
              </a:solidFill>
              <a:latin typeface="Calibri"/>
              <a:ea typeface="Calibri"/>
              <a:cs typeface="Calibri"/>
              <a:sym typeface="Calibri"/>
            </a:endParaRPr>
          </a:p>
        </p:txBody>
      </p:sp>
      <p:sp>
        <p:nvSpPr>
          <p:cNvPr id="473" name="Google Shape;473;p17"/>
          <p:cNvSpPr/>
          <p:nvPr/>
        </p:nvSpPr>
        <p:spPr>
          <a:xfrm>
            <a:off x="1644551" y="2598390"/>
            <a:ext cx="3259075" cy="40481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75"/>
              <a:buFont typeface="Arial"/>
              <a:buNone/>
            </a:pPr>
            <a:r>
              <a:rPr b="1" i="0" lang="en-US" sz="2175" u="none" cap="none" strike="noStrike">
                <a:solidFill>
                  <a:srgbClr val="0B0C10"/>
                </a:solidFill>
                <a:latin typeface="Arial"/>
                <a:ea typeface="Arial"/>
                <a:cs typeface="Arial"/>
                <a:sym typeface="Arial"/>
              </a:rPr>
              <a:t>Sandbox dies ~30s in</a:t>
            </a:r>
            <a:endParaRPr b="0" i="0" sz="2175" u="none" cap="none" strike="noStrike">
              <a:solidFill>
                <a:schemeClr val="dk1"/>
              </a:solidFill>
              <a:latin typeface="Calibri"/>
              <a:ea typeface="Calibri"/>
              <a:cs typeface="Calibri"/>
              <a:sym typeface="Calibri"/>
            </a:endParaRPr>
          </a:p>
        </p:txBody>
      </p:sp>
      <p:sp>
        <p:nvSpPr>
          <p:cNvPr id="474" name="Google Shape;474;p17"/>
          <p:cNvSpPr/>
          <p:nvPr/>
        </p:nvSpPr>
        <p:spPr>
          <a:xfrm>
            <a:off x="1343025" y="3117503"/>
            <a:ext cx="7436549" cy="1109663"/>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Always pass --detached on sbx run. Otherwise sbx auto-stops after the last sbx command — VS Code's SSH session doesn't count as activity.</a:t>
            </a:r>
            <a:endParaRPr b="0" i="0" sz="1875" u="none" cap="none" strike="noStrike">
              <a:solidFill>
                <a:schemeClr val="dk1"/>
              </a:solidFill>
              <a:latin typeface="Calibri"/>
              <a:ea typeface="Calibri"/>
              <a:cs typeface="Calibri"/>
              <a:sym typeface="Calibri"/>
            </a:endParaRPr>
          </a:p>
        </p:txBody>
      </p:sp>
      <p:sp>
        <p:nvSpPr>
          <p:cNvPr id="475" name="Google Shape;475;p17"/>
          <p:cNvSpPr/>
          <p:nvPr/>
        </p:nvSpPr>
        <p:spPr>
          <a:xfrm>
            <a:off x="9296400" y="2245965"/>
            <a:ext cx="8077200" cy="3487117"/>
          </a:xfrm>
          <a:prstGeom prst="roundRect">
            <a:avLst>
              <a:gd fmla="val 4370"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7"/>
          <p:cNvSpPr/>
          <p:nvPr/>
        </p:nvSpPr>
        <p:spPr>
          <a:xfrm>
            <a:off x="9725025" y="2660303"/>
            <a:ext cx="225326"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86A00"/>
              </a:buClr>
              <a:buSzPts val="1950"/>
              <a:buFont typeface="Courier New"/>
              <a:buNone/>
            </a:pPr>
            <a:r>
              <a:rPr b="1" i="0" lang="en-US" sz="1950" u="none" cap="none" strike="noStrike">
                <a:solidFill>
                  <a:srgbClr val="A86A00"/>
                </a:solidFill>
                <a:latin typeface="Courier New"/>
                <a:ea typeface="Courier New"/>
                <a:cs typeface="Courier New"/>
                <a:sym typeface="Courier New"/>
              </a:rPr>
              <a:t>2</a:t>
            </a:r>
            <a:endParaRPr b="0" i="0" sz="1950" u="none" cap="none" strike="noStrike">
              <a:solidFill>
                <a:schemeClr val="dk1"/>
              </a:solidFill>
              <a:latin typeface="Calibri"/>
              <a:ea typeface="Calibri"/>
              <a:cs typeface="Calibri"/>
              <a:sym typeface="Calibri"/>
            </a:endParaRPr>
          </a:p>
        </p:txBody>
      </p:sp>
      <p:sp>
        <p:nvSpPr>
          <p:cNvPr id="477" name="Google Shape;477;p17"/>
          <p:cNvSpPr/>
          <p:nvPr/>
        </p:nvSpPr>
        <p:spPr>
          <a:xfrm>
            <a:off x="10026551" y="2598390"/>
            <a:ext cx="5388791" cy="40481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75"/>
              <a:buFont typeface="Arial"/>
              <a:buNone/>
            </a:pPr>
            <a:r>
              <a:rPr b="1" i="0" lang="en-US" sz="2175" u="none" cap="none" strike="noStrike">
                <a:solidFill>
                  <a:srgbClr val="0B0C10"/>
                </a:solidFill>
                <a:latin typeface="Arial"/>
                <a:ea typeface="Arial"/>
                <a:cs typeface="Arial"/>
                <a:sym typeface="Arial"/>
              </a:rPr>
              <a:t>"Invalid API key" in the SSH session</a:t>
            </a:r>
            <a:endParaRPr b="0" i="0" sz="2175" u="none" cap="none" strike="noStrike">
              <a:solidFill>
                <a:schemeClr val="dk1"/>
              </a:solidFill>
              <a:latin typeface="Calibri"/>
              <a:ea typeface="Calibri"/>
              <a:cs typeface="Calibri"/>
              <a:sym typeface="Calibri"/>
            </a:endParaRPr>
          </a:p>
        </p:txBody>
      </p:sp>
      <p:sp>
        <p:nvSpPr>
          <p:cNvPr id="478" name="Google Shape;478;p17"/>
          <p:cNvSpPr/>
          <p:nvPr/>
        </p:nvSpPr>
        <p:spPr>
          <a:xfrm>
            <a:off x="9725025" y="3117503"/>
            <a:ext cx="7436549" cy="1109663"/>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sshd doesn't inherit the proxy env. The kit mirrors HTTP(S)_PROXY + CA vars into /etc/sandbox-persistent.sh every boot. Don't strip that block.</a:t>
            </a:r>
            <a:endParaRPr b="0" i="0" sz="1875" u="none" cap="none" strike="noStrike">
              <a:solidFill>
                <a:schemeClr val="dk1"/>
              </a:solidFill>
              <a:latin typeface="Calibri"/>
              <a:ea typeface="Calibri"/>
              <a:cs typeface="Calibri"/>
              <a:sym typeface="Calibri"/>
            </a:endParaRPr>
          </a:p>
        </p:txBody>
      </p:sp>
      <p:sp>
        <p:nvSpPr>
          <p:cNvPr id="479" name="Google Shape;479;p17"/>
          <p:cNvSpPr/>
          <p:nvPr/>
        </p:nvSpPr>
        <p:spPr>
          <a:xfrm>
            <a:off x="914400" y="6037883"/>
            <a:ext cx="8077200" cy="3487117"/>
          </a:xfrm>
          <a:prstGeom prst="roundRect">
            <a:avLst>
              <a:gd fmla="val 4370"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7"/>
          <p:cNvSpPr/>
          <p:nvPr/>
        </p:nvSpPr>
        <p:spPr>
          <a:xfrm>
            <a:off x="1343025" y="6452220"/>
            <a:ext cx="225326"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86A00"/>
              </a:buClr>
              <a:buSzPts val="1950"/>
              <a:buFont typeface="Courier New"/>
              <a:buNone/>
            </a:pPr>
            <a:r>
              <a:rPr b="1" i="0" lang="en-US" sz="1950" u="none" cap="none" strike="noStrike">
                <a:solidFill>
                  <a:srgbClr val="A86A00"/>
                </a:solidFill>
                <a:latin typeface="Courier New"/>
                <a:ea typeface="Courier New"/>
                <a:cs typeface="Courier New"/>
                <a:sym typeface="Courier New"/>
              </a:rPr>
              <a:t>3</a:t>
            </a:r>
            <a:endParaRPr b="0" i="0" sz="1950" u="none" cap="none" strike="noStrike">
              <a:solidFill>
                <a:schemeClr val="dk1"/>
              </a:solidFill>
              <a:latin typeface="Calibri"/>
              <a:ea typeface="Calibri"/>
              <a:cs typeface="Calibri"/>
              <a:sym typeface="Calibri"/>
            </a:endParaRPr>
          </a:p>
        </p:txBody>
      </p:sp>
      <p:sp>
        <p:nvSpPr>
          <p:cNvPr id="481" name="Google Shape;481;p17"/>
          <p:cNvSpPr/>
          <p:nvPr/>
        </p:nvSpPr>
        <p:spPr>
          <a:xfrm>
            <a:off x="1644551" y="6390308"/>
            <a:ext cx="5124725" cy="40481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75"/>
              <a:buFont typeface="Arial"/>
              <a:buNone/>
            </a:pPr>
            <a:r>
              <a:rPr b="1" i="0" lang="en-US" sz="2175" u="none" cap="none" strike="noStrike">
                <a:solidFill>
                  <a:srgbClr val="0B0C10"/>
                </a:solidFill>
                <a:latin typeface="Arial"/>
                <a:ea typeface="Arial"/>
                <a:cs typeface="Arial"/>
                <a:sym typeface="Arial"/>
              </a:rPr>
              <a:t>Infinite reconnect loop on macOS</a:t>
            </a:r>
            <a:endParaRPr b="0" i="0" sz="2175" u="none" cap="none" strike="noStrike">
              <a:solidFill>
                <a:schemeClr val="dk1"/>
              </a:solidFill>
              <a:latin typeface="Calibri"/>
              <a:ea typeface="Calibri"/>
              <a:cs typeface="Calibri"/>
              <a:sym typeface="Calibri"/>
            </a:endParaRPr>
          </a:p>
        </p:txBody>
      </p:sp>
      <p:sp>
        <p:nvSpPr>
          <p:cNvPr id="482" name="Google Shape;482;p17"/>
          <p:cNvSpPr/>
          <p:nvPr/>
        </p:nvSpPr>
        <p:spPr>
          <a:xfrm>
            <a:off x="1343025" y="6909420"/>
            <a:ext cx="7436549" cy="1109663"/>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VS Code's socket path exceeds 104 chars under the default TMPDIR. Fix: export TMPDIR=/tmp, fully quit VS Code (Cmd+Q everywhere), relaunch.</a:t>
            </a:r>
            <a:endParaRPr b="0" i="0" sz="1875" u="none" cap="none" strike="noStrike">
              <a:solidFill>
                <a:schemeClr val="dk1"/>
              </a:solidFill>
              <a:latin typeface="Calibri"/>
              <a:ea typeface="Calibri"/>
              <a:cs typeface="Calibri"/>
              <a:sym typeface="Calibri"/>
            </a:endParaRPr>
          </a:p>
        </p:txBody>
      </p:sp>
      <p:sp>
        <p:nvSpPr>
          <p:cNvPr id="483" name="Google Shape;483;p17"/>
          <p:cNvSpPr/>
          <p:nvPr/>
        </p:nvSpPr>
        <p:spPr>
          <a:xfrm>
            <a:off x="9296400" y="6037883"/>
            <a:ext cx="8077200" cy="3487117"/>
          </a:xfrm>
          <a:prstGeom prst="roundRect">
            <a:avLst>
              <a:gd fmla="val 4370" name="adj"/>
            </a:avLst>
          </a:prstGeom>
          <a:solidFill>
            <a:srgbClr val="F7F8FA"/>
          </a:solidFill>
          <a:ln cap="flat" cmpd="sng" w="9525">
            <a:solidFill>
              <a:srgbClr val="17191E">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7"/>
          <p:cNvSpPr/>
          <p:nvPr/>
        </p:nvSpPr>
        <p:spPr>
          <a:xfrm>
            <a:off x="9725025" y="6452220"/>
            <a:ext cx="225326"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86A00"/>
              </a:buClr>
              <a:buSzPts val="1950"/>
              <a:buFont typeface="Courier New"/>
              <a:buNone/>
            </a:pPr>
            <a:r>
              <a:rPr b="1" i="0" lang="en-US" sz="1950" u="none" cap="none" strike="noStrike">
                <a:solidFill>
                  <a:srgbClr val="A86A00"/>
                </a:solidFill>
                <a:latin typeface="Courier New"/>
                <a:ea typeface="Courier New"/>
                <a:cs typeface="Courier New"/>
                <a:sym typeface="Courier New"/>
              </a:rPr>
              <a:t>4</a:t>
            </a:r>
            <a:endParaRPr b="0" i="0" sz="1950" u="none" cap="none" strike="noStrike">
              <a:solidFill>
                <a:schemeClr val="dk1"/>
              </a:solidFill>
              <a:latin typeface="Calibri"/>
              <a:ea typeface="Calibri"/>
              <a:cs typeface="Calibri"/>
              <a:sym typeface="Calibri"/>
            </a:endParaRPr>
          </a:p>
        </p:txBody>
      </p:sp>
      <p:sp>
        <p:nvSpPr>
          <p:cNvPr id="485" name="Google Shape;485;p17"/>
          <p:cNvSpPr/>
          <p:nvPr/>
        </p:nvSpPr>
        <p:spPr>
          <a:xfrm>
            <a:off x="10026551" y="6390308"/>
            <a:ext cx="5990674" cy="40481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175"/>
              <a:buFont typeface="Arial"/>
              <a:buNone/>
            </a:pPr>
            <a:r>
              <a:rPr b="1" i="0" lang="en-US" sz="2175" u="none" cap="none" strike="noStrike">
                <a:solidFill>
                  <a:srgbClr val="0B0C10"/>
                </a:solidFill>
                <a:latin typeface="Arial"/>
                <a:ea typeface="Arial"/>
                <a:cs typeface="Arial"/>
                <a:sym typeface="Arial"/>
              </a:rPr>
              <a:t>First connect hangs at "Downloading…"</a:t>
            </a:r>
            <a:endParaRPr b="0" i="0" sz="2175" u="none" cap="none" strike="noStrike">
              <a:solidFill>
                <a:schemeClr val="dk1"/>
              </a:solidFill>
              <a:latin typeface="Calibri"/>
              <a:ea typeface="Calibri"/>
              <a:cs typeface="Calibri"/>
              <a:sym typeface="Calibri"/>
            </a:endParaRPr>
          </a:p>
        </p:txBody>
      </p:sp>
      <p:sp>
        <p:nvSpPr>
          <p:cNvPr id="486" name="Google Shape;486;p17"/>
          <p:cNvSpPr/>
          <p:nvPr/>
        </p:nvSpPr>
        <p:spPr>
          <a:xfrm>
            <a:off x="9725025" y="6909420"/>
            <a:ext cx="7436549" cy="1109663"/>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VS Code Server fetch is going through your network policy. Allow: update.code.visualstudio.com, code.visualstudio.com, vscode.download.prss.microsoft.com.</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91" name="Shape 491"/>
        <p:cNvGrpSpPr/>
        <p:nvPr/>
      </p:nvGrpSpPr>
      <p:grpSpPr>
        <a:xfrm>
          <a:off x="0" y="0"/>
          <a:ext cx="0" cy="0"/>
          <a:chOff x="0" y="0"/>
          <a:chExt cx="0" cy="0"/>
        </a:xfrm>
      </p:grpSpPr>
      <p:sp>
        <p:nvSpPr>
          <p:cNvPr id="492" name="Google Shape;492;p18"/>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06</a:t>
            </a:r>
            <a:endParaRPr b="0" i="0" sz="1950" u="none" cap="none" strike="noStrike">
              <a:solidFill>
                <a:schemeClr val="dk1"/>
              </a:solidFill>
              <a:latin typeface="Calibri"/>
              <a:ea typeface="Calibri"/>
              <a:cs typeface="Calibri"/>
              <a:sym typeface="Calibri"/>
            </a:endParaRPr>
          </a:p>
        </p:txBody>
      </p:sp>
      <p:sp>
        <p:nvSpPr>
          <p:cNvPr id="493" name="Google Shape;493;p18"/>
          <p:cNvSpPr/>
          <p:nvPr/>
        </p:nvSpPr>
        <p:spPr>
          <a:xfrm>
            <a:off x="1384102" y="762000"/>
            <a:ext cx="2790698"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OBSERVE &amp; DEBUG</a:t>
            </a:r>
            <a:endParaRPr b="0" i="0" sz="1800" u="none" cap="none" strike="noStrike">
              <a:solidFill>
                <a:schemeClr val="dk1"/>
              </a:solidFill>
              <a:latin typeface="Calibri"/>
              <a:ea typeface="Calibri"/>
              <a:cs typeface="Calibri"/>
              <a:sym typeface="Calibri"/>
            </a:endParaRPr>
          </a:p>
        </p:txBody>
      </p:sp>
      <p:sp>
        <p:nvSpPr>
          <p:cNvPr id="494" name="Google Shape;494;p18"/>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What is my agent actually doing?</a:t>
            </a:r>
            <a:endParaRPr b="0" i="0" sz="4500" u="none" cap="none" strike="noStrike">
              <a:solidFill>
                <a:schemeClr val="dk1"/>
              </a:solidFill>
              <a:latin typeface="Calibri"/>
              <a:ea typeface="Calibri"/>
              <a:cs typeface="Calibri"/>
              <a:sym typeface="Calibri"/>
            </a:endParaRPr>
          </a:p>
        </p:txBody>
      </p:sp>
      <p:sp>
        <p:nvSpPr>
          <p:cNvPr id="495" name="Google Shape;495;p18"/>
          <p:cNvSpPr/>
          <p:nvPr/>
        </p:nvSpPr>
        <p:spPr>
          <a:xfrm>
            <a:off x="914400" y="2169765"/>
            <a:ext cx="16459200" cy="3448050"/>
          </a:xfrm>
          <a:prstGeom prst="roundRect">
            <a:avLst>
              <a:gd fmla="val 4420" name="adj"/>
            </a:avLst>
          </a:prstGeom>
          <a:solidFill>
            <a:srgbClr val="171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8"/>
          <p:cNvSpPr/>
          <p:nvPr/>
        </p:nvSpPr>
        <p:spPr>
          <a:xfrm>
            <a:off x="12573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8"/>
          <p:cNvSpPr/>
          <p:nvPr/>
        </p:nvSpPr>
        <p:spPr>
          <a:xfrm>
            <a:off x="14859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8"/>
          <p:cNvSpPr/>
          <p:nvPr/>
        </p:nvSpPr>
        <p:spPr>
          <a:xfrm>
            <a:off x="1714500" y="2436465"/>
            <a:ext cx="133350" cy="133350"/>
          </a:xfrm>
          <a:prstGeom prst="ellipse">
            <a:avLst/>
          </a:prstGeom>
          <a:solidFill>
            <a:srgbClr val="FFFFFF">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8"/>
          <p:cNvSpPr/>
          <p:nvPr/>
        </p:nvSpPr>
        <p:spPr>
          <a:xfrm>
            <a:off x="1257300" y="27603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policy log</a:t>
            </a:r>
            <a:r>
              <a:rPr b="0" i="1" lang="en-US" sz="1800" u="none" cap="none" strike="noStrike">
                <a:solidFill>
                  <a:srgbClr val="FFFFFF"/>
                </a:solidFill>
                <a:latin typeface="Courier New"/>
                <a:ea typeface="Courier New"/>
                <a:cs typeface="Courier New"/>
                <a:sym typeface="Courier New"/>
              </a:rPr>
              <a:t>                      # every request, allowed AND blocked</a:t>
            </a:r>
            <a:endParaRPr b="0" i="0" sz="1800" u="none" cap="none" strike="noStrike">
              <a:solidFill>
                <a:schemeClr val="dk1"/>
              </a:solidFill>
              <a:latin typeface="Calibri"/>
              <a:ea typeface="Calibri"/>
              <a:cs typeface="Calibri"/>
              <a:sym typeface="Calibri"/>
            </a:endParaRPr>
          </a:p>
        </p:txBody>
      </p:sp>
      <p:sp>
        <p:nvSpPr>
          <p:cNvPr id="500" name="Google Shape;500;p18"/>
          <p:cNvSpPr/>
          <p:nvPr/>
        </p:nvSpPr>
        <p:spPr>
          <a:xfrm>
            <a:off x="1257300" y="31984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TIME      SANDBOX      DECISION  PROXY        DESTINATION</a:t>
            </a:r>
            <a:endParaRPr b="0" i="0" sz="1800" u="none" cap="none" strike="noStrike">
              <a:solidFill>
                <a:schemeClr val="dk1"/>
              </a:solidFill>
              <a:latin typeface="Calibri"/>
              <a:ea typeface="Calibri"/>
              <a:cs typeface="Calibri"/>
              <a:sym typeface="Calibri"/>
            </a:endParaRPr>
          </a:p>
        </p:txBody>
      </p:sp>
      <p:sp>
        <p:nvSpPr>
          <p:cNvPr id="501" name="Google Shape;501;p18"/>
          <p:cNvSpPr/>
          <p:nvPr/>
        </p:nvSpPr>
        <p:spPr>
          <a:xfrm>
            <a:off x="1257300" y="36366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14:02:11  my-sandbox   allow     forward      api.anthropic.com:443</a:t>
            </a:r>
            <a:endParaRPr b="0" i="0" sz="1800" u="none" cap="none" strike="noStrike">
              <a:solidFill>
                <a:schemeClr val="dk1"/>
              </a:solidFill>
              <a:latin typeface="Calibri"/>
              <a:ea typeface="Calibri"/>
              <a:cs typeface="Calibri"/>
              <a:sym typeface="Calibri"/>
            </a:endParaRPr>
          </a:p>
        </p:txBody>
      </p:sp>
      <p:sp>
        <p:nvSpPr>
          <p:cNvPr id="502" name="Google Shape;502;p18"/>
          <p:cNvSpPr/>
          <p:nvPr/>
        </p:nvSpPr>
        <p:spPr>
          <a:xfrm>
            <a:off x="1257300" y="40747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14:02:13  my-sandbox   allow     transparent  httpbin.org:443</a:t>
            </a:r>
            <a:endParaRPr b="0" i="0" sz="1800" u="none" cap="none" strike="noStrike">
              <a:solidFill>
                <a:schemeClr val="dk1"/>
              </a:solidFill>
              <a:latin typeface="Calibri"/>
              <a:ea typeface="Calibri"/>
              <a:cs typeface="Calibri"/>
              <a:sym typeface="Calibri"/>
            </a:endParaRPr>
          </a:p>
        </p:txBody>
      </p:sp>
      <p:sp>
        <p:nvSpPr>
          <p:cNvPr id="503" name="Google Shape;503;p18"/>
          <p:cNvSpPr/>
          <p:nvPr/>
        </p:nvSpPr>
        <p:spPr>
          <a:xfrm>
            <a:off x="1257300" y="451291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FFFFFF"/>
              </a:buClr>
              <a:buSzPts val="1800"/>
              <a:buFont typeface="Courier New"/>
              <a:buNone/>
            </a:pPr>
            <a:r>
              <a:rPr b="0" i="0" lang="en-US" sz="1800" u="none" cap="none" strike="noStrike">
                <a:solidFill>
                  <a:srgbClr val="FFFFFF"/>
                </a:solidFill>
                <a:latin typeface="Courier New"/>
                <a:ea typeface="Courier New"/>
                <a:cs typeface="Courier New"/>
                <a:sym typeface="Courier New"/>
              </a:rPr>
              <a:t>14:02:19  my-sandbox   </a:t>
            </a:r>
            <a:r>
              <a:rPr b="1" i="0" lang="en-US" sz="1800" u="none" cap="none" strike="noStrike">
                <a:solidFill>
                  <a:srgbClr val="FF7575"/>
                </a:solidFill>
                <a:latin typeface="Courier New"/>
                <a:ea typeface="Courier New"/>
                <a:cs typeface="Courier New"/>
                <a:sym typeface="Courier New"/>
              </a:rPr>
              <a:t>deny</a:t>
            </a:r>
            <a:r>
              <a:rPr b="0" i="0" lang="en-US" sz="1800" u="none" cap="none" strike="noStrike">
                <a:solidFill>
                  <a:srgbClr val="FFFFFF"/>
                </a:solidFill>
                <a:latin typeface="Courier New"/>
                <a:ea typeface="Courier New"/>
                <a:cs typeface="Courier New"/>
                <a:sym typeface="Courier New"/>
              </a:rPr>
              <a:t>      network      198.51.100.7:6667</a:t>
            </a:r>
            <a:endParaRPr b="0" i="0" sz="1800" u="none" cap="none" strike="noStrike">
              <a:solidFill>
                <a:schemeClr val="dk1"/>
              </a:solidFill>
              <a:latin typeface="Calibri"/>
              <a:ea typeface="Calibri"/>
              <a:cs typeface="Calibri"/>
              <a:sym typeface="Calibri"/>
            </a:endParaRPr>
          </a:p>
        </p:txBody>
      </p:sp>
      <p:sp>
        <p:nvSpPr>
          <p:cNvPr id="504" name="Google Shape;504;p18"/>
          <p:cNvSpPr/>
          <p:nvPr/>
        </p:nvSpPr>
        <p:spPr>
          <a:xfrm>
            <a:off x="1257300" y="4951065"/>
            <a:ext cx="16246602"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63C993"/>
              </a:buClr>
              <a:buSzPts val="1800"/>
              <a:buFont typeface="Courier New"/>
              <a:buNone/>
            </a:pPr>
            <a:r>
              <a:rPr b="1" i="0" lang="en-US" sz="1800" u="none" cap="none" strike="noStrike">
                <a:solidFill>
                  <a:srgbClr val="63C993"/>
                </a:solidFill>
                <a:latin typeface="Courier New"/>
                <a:ea typeface="Courier New"/>
                <a:cs typeface="Courier New"/>
                <a:sym typeface="Courier New"/>
              </a:rPr>
              <a:t>$ </a:t>
            </a:r>
            <a:r>
              <a:rPr b="0" i="0" lang="en-US" sz="1800" u="none" cap="none" strike="noStrike">
                <a:solidFill>
                  <a:srgbClr val="EEF2F8"/>
                </a:solidFill>
                <a:latin typeface="Courier New"/>
                <a:ea typeface="Courier New"/>
                <a:cs typeface="Courier New"/>
                <a:sym typeface="Courier New"/>
              </a:rPr>
              <a:t>sbx policy log --limit 50 --json</a:t>
            </a:r>
            <a:r>
              <a:rPr b="0" i="1" lang="en-US" sz="1800" u="none" cap="none" strike="noStrike">
                <a:solidFill>
                  <a:srgbClr val="FFFFFF"/>
                </a:solidFill>
                <a:latin typeface="Courier New"/>
                <a:ea typeface="Courier New"/>
                <a:cs typeface="Courier New"/>
                <a:sym typeface="Courier New"/>
              </a:rPr>
              <a:t>    # pipe it, alert on it</a:t>
            </a:r>
            <a:endParaRPr b="0" i="0" sz="1800" u="none" cap="none" strike="noStrike">
              <a:solidFill>
                <a:schemeClr val="dk1"/>
              </a:solidFill>
              <a:latin typeface="Calibri"/>
              <a:ea typeface="Calibri"/>
              <a:cs typeface="Calibri"/>
              <a:sym typeface="Calibri"/>
            </a:endParaRPr>
          </a:p>
        </p:txBody>
      </p:sp>
      <p:sp>
        <p:nvSpPr>
          <p:cNvPr id="505" name="Google Shape;505;p18"/>
          <p:cNvSpPr/>
          <p:nvPr/>
        </p:nvSpPr>
        <p:spPr>
          <a:xfrm>
            <a:off x="914400" y="7505700"/>
            <a:ext cx="9132369" cy="3762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025"/>
              <a:buFont typeface="Arial"/>
              <a:buNone/>
            </a:pPr>
            <a:r>
              <a:rPr b="1" i="0" lang="en-US" sz="2025" u="none" cap="none" strike="noStrike">
                <a:solidFill>
                  <a:srgbClr val="0B0C10"/>
                </a:solidFill>
                <a:latin typeface="Arial"/>
                <a:ea typeface="Arial"/>
                <a:cs typeface="Arial"/>
                <a:sym typeface="Arial"/>
              </a:rPr>
              <a:t>Decode the PROXY column</a:t>
            </a:r>
            <a:endParaRPr b="0" i="0" sz="2025" u="none" cap="none" strike="noStrike">
              <a:solidFill>
                <a:schemeClr val="dk1"/>
              </a:solidFill>
              <a:latin typeface="Calibri"/>
              <a:ea typeface="Calibri"/>
              <a:cs typeface="Calibri"/>
              <a:sym typeface="Calibri"/>
            </a:endParaRPr>
          </a:p>
        </p:txBody>
      </p:sp>
      <p:sp>
        <p:nvSpPr>
          <p:cNvPr id="506" name="Google Shape;506;p18"/>
          <p:cNvSpPr/>
          <p:nvPr/>
        </p:nvSpPr>
        <p:spPr>
          <a:xfrm>
            <a:off x="914400" y="7958138"/>
            <a:ext cx="9132369"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D9568"/>
              </a:buClr>
              <a:buSzPts val="1875"/>
              <a:buFont typeface="Courier New"/>
              <a:buNone/>
            </a:pPr>
            <a:r>
              <a:rPr b="1" i="0" lang="en-US" sz="1875" u="none" cap="none" strike="noStrike">
                <a:solidFill>
                  <a:srgbClr val="2D9568"/>
                </a:solidFill>
                <a:latin typeface="Courier New"/>
                <a:ea typeface="Courier New"/>
                <a:cs typeface="Courier New"/>
                <a:sym typeface="Courier New"/>
              </a:rPr>
              <a:t>forward</a:t>
            </a:r>
            <a:r>
              <a:rPr b="0" i="0" lang="en-US" sz="1875" u="none" cap="none" strike="noStrike">
                <a:solidFill>
                  <a:srgbClr val="3D414C"/>
                </a:solidFill>
                <a:latin typeface="IBM Plex Sans"/>
                <a:ea typeface="IBM Plex Sans"/>
                <a:cs typeface="IBM Plex Sans"/>
                <a:sym typeface="IBM Plex Sans"/>
              </a:rPr>
              <a:t>creds injected — the happy path</a:t>
            </a:r>
            <a:endParaRPr b="0" i="0" sz="1875" u="none" cap="none" strike="noStrike">
              <a:solidFill>
                <a:schemeClr val="dk1"/>
              </a:solidFill>
              <a:latin typeface="Calibri"/>
              <a:ea typeface="Calibri"/>
              <a:cs typeface="Calibri"/>
              <a:sym typeface="Calibri"/>
            </a:endParaRPr>
          </a:p>
        </p:txBody>
      </p:sp>
      <p:sp>
        <p:nvSpPr>
          <p:cNvPr id="507" name="Google Shape;507;p18"/>
          <p:cNvSpPr/>
          <p:nvPr/>
        </p:nvSpPr>
        <p:spPr>
          <a:xfrm>
            <a:off x="914400" y="8382000"/>
            <a:ext cx="9132369"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86A00"/>
              </a:buClr>
              <a:buSzPts val="1875"/>
              <a:buFont typeface="Courier New"/>
              <a:buNone/>
            </a:pPr>
            <a:r>
              <a:rPr b="1" i="0" lang="en-US" sz="1875" u="none" cap="none" strike="noStrike">
                <a:solidFill>
                  <a:srgbClr val="A86A00"/>
                </a:solidFill>
                <a:latin typeface="Courier New"/>
                <a:ea typeface="Courier New"/>
                <a:cs typeface="Courier New"/>
                <a:sym typeface="Courier New"/>
              </a:rPr>
              <a:t>transparent</a:t>
            </a:r>
            <a:r>
              <a:rPr b="0" i="0" lang="en-US" sz="1875" u="none" cap="none" strike="noStrike">
                <a:solidFill>
                  <a:srgbClr val="3D414C"/>
                </a:solidFill>
                <a:latin typeface="IBM Plex Sans"/>
                <a:ea typeface="IBM Plex Sans"/>
                <a:cs typeface="IBM Plex Sans"/>
                <a:sym typeface="IBM Plex Sans"/>
              </a:rPr>
              <a:t>policy only, NO injection</a:t>
            </a:r>
            <a:endParaRPr b="0" i="0" sz="1875" u="none" cap="none" strike="noStrike">
              <a:solidFill>
                <a:schemeClr val="dk1"/>
              </a:solidFill>
              <a:latin typeface="Calibri"/>
              <a:ea typeface="Calibri"/>
              <a:cs typeface="Calibri"/>
              <a:sym typeface="Calibri"/>
            </a:endParaRPr>
          </a:p>
        </p:txBody>
      </p:sp>
      <p:sp>
        <p:nvSpPr>
          <p:cNvPr id="508" name="Google Shape;508;p18"/>
          <p:cNvSpPr/>
          <p:nvPr/>
        </p:nvSpPr>
        <p:spPr>
          <a:xfrm>
            <a:off x="914400" y="8805863"/>
            <a:ext cx="9132369"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9860FF"/>
              </a:buClr>
              <a:buSzPts val="1875"/>
              <a:buFont typeface="Courier New"/>
              <a:buNone/>
            </a:pPr>
            <a:r>
              <a:rPr b="1" i="0" lang="en-US" sz="1875" u="none" cap="none" strike="noStrike">
                <a:solidFill>
                  <a:srgbClr val="9860FF"/>
                </a:solidFill>
                <a:latin typeface="Courier New"/>
                <a:ea typeface="Courier New"/>
                <a:cs typeface="Courier New"/>
                <a:sym typeface="Courier New"/>
              </a:rPr>
              <a:t>network</a:t>
            </a:r>
            <a:r>
              <a:rPr b="0" i="0" lang="en-US" sz="1875" u="none" cap="none" strike="noStrike">
                <a:solidFill>
                  <a:srgbClr val="3D414C"/>
                </a:solidFill>
                <a:latin typeface="IBM Plex Sans"/>
                <a:ea typeface="IBM Plex Sans"/>
                <a:cs typeface="IBM Plex Sans"/>
                <a:sym typeface="IBM Plex Sans"/>
              </a:rPr>
              <a:t>raw TCP — non-HTTP traffic</a:t>
            </a:r>
            <a:endParaRPr b="0" i="0" sz="1875" u="none" cap="none" strike="noStrike">
              <a:solidFill>
                <a:schemeClr val="dk1"/>
              </a:solidFill>
              <a:latin typeface="Calibri"/>
              <a:ea typeface="Calibri"/>
              <a:cs typeface="Calibri"/>
              <a:sym typeface="Calibri"/>
            </a:endParaRPr>
          </a:p>
        </p:txBody>
      </p:sp>
      <p:sp>
        <p:nvSpPr>
          <p:cNvPr id="509" name="Google Shape;509;p18"/>
          <p:cNvSpPr/>
          <p:nvPr/>
        </p:nvSpPr>
        <p:spPr>
          <a:xfrm>
            <a:off x="914400" y="9229725"/>
            <a:ext cx="9132369"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86A00"/>
              </a:buClr>
              <a:buSzPts val="1800"/>
              <a:buFont typeface="IBM Plex Sans"/>
              <a:buNone/>
            </a:pPr>
            <a:r>
              <a:rPr b="1" i="0" lang="en-US" sz="1800" u="none" cap="none" strike="noStrike">
                <a:solidFill>
                  <a:srgbClr val="A86A00"/>
                </a:solidFill>
                <a:latin typeface="IBM Plex Sans"/>
                <a:ea typeface="IBM Plex Sans"/>
                <a:cs typeface="IBM Plex Sans"/>
                <a:sym typeface="IBM Plex Sans"/>
              </a:rPr>
              <a:t>Auth failing in a nested container? It went transparent.</a:t>
            </a:r>
            <a:endParaRPr b="0" i="0" sz="1800" u="none" cap="none" strike="noStrike">
              <a:solidFill>
                <a:schemeClr val="dk1"/>
              </a:solidFill>
              <a:latin typeface="Calibri"/>
              <a:ea typeface="Calibri"/>
              <a:cs typeface="Calibri"/>
              <a:sym typeface="Calibri"/>
            </a:endParaRPr>
          </a:p>
        </p:txBody>
      </p:sp>
      <p:sp>
        <p:nvSpPr>
          <p:cNvPr id="510" name="Google Shape;510;p18"/>
          <p:cNvSpPr/>
          <p:nvPr/>
        </p:nvSpPr>
        <p:spPr>
          <a:xfrm>
            <a:off x="9826154" y="7505700"/>
            <a:ext cx="8302191" cy="3762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2025"/>
              <a:buFont typeface="Arial"/>
              <a:buNone/>
            </a:pPr>
            <a:r>
              <a:rPr b="1" i="0" lang="en-US" sz="2025" u="none" cap="none" strike="noStrike">
                <a:solidFill>
                  <a:srgbClr val="0B0C10"/>
                </a:solidFill>
                <a:latin typeface="Arial"/>
                <a:ea typeface="Arial"/>
                <a:cs typeface="Arial"/>
                <a:sym typeface="Arial"/>
              </a:rPr>
              <a:t>When things get weird</a:t>
            </a:r>
            <a:endParaRPr b="0" i="0" sz="2025" u="none" cap="none" strike="noStrike">
              <a:solidFill>
                <a:schemeClr val="dk1"/>
              </a:solidFill>
              <a:latin typeface="Calibri"/>
              <a:ea typeface="Calibri"/>
              <a:cs typeface="Calibri"/>
              <a:sym typeface="Calibri"/>
            </a:endParaRPr>
          </a:p>
        </p:txBody>
      </p:sp>
      <p:sp>
        <p:nvSpPr>
          <p:cNvPr id="511" name="Google Shape;511;p18"/>
          <p:cNvSpPr/>
          <p:nvPr/>
        </p:nvSpPr>
        <p:spPr>
          <a:xfrm>
            <a:off x="9826154" y="7958138"/>
            <a:ext cx="8302191"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875"/>
              <a:buFont typeface="Courier New"/>
              <a:buNone/>
            </a:pPr>
            <a:r>
              <a:rPr b="1" i="0" lang="en-US" sz="1875" u="none" cap="none" strike="noStrike">
                <a:solidFill>
                  <a:srgbClr val="2560FF"/>
                </a:solidFill>
                <a:latin typeface="Courier New"/>
                <a:ea typeface="Courier New"/>
                <a:cs typeface="Courier New"/>
                <a:sym typeface="Courier New"/>
              </a:rPr>
              <a:t>sbx diagnose</a:t>
            </a:r>
            <a:r>
              <a:rPr b="0" i="0" lang="en-US" sz="1875" u="none" cap="none" strike="noStrike">
                <a:solidFill>
                  <a:srgbClr val="3D414C"/>
                </a:solidFill>
                <a:latin typeface="IBM Plex Sans"/>
                <a:ea typeface="IBM Plex Sans"/>
                <a:cs typeface="IBM Plex Sans"/>
                <a:sym typeface="IBM Plex Sans"/>
              </a:rPr>
              <a:t>— support bundle + checks</a:t>
            </a:r>
            <a:endParaRPr b="0" i="0" sz="1875" u="none" cap="none" strike="noStrike">
              <a:solidFill>
                <a:schemeClr val="dk1"/>
              </a:solidFill>
              <a:latin typeface="Calibri"/>
              <a:ea typeface="Calibri"/>
              <a:cs typeface="Calibri"/>
              <a:sym typeface="Calibri"/>
            </a:endParaRPr>
          </a:p>
        </p:txBody>
      </p:sp>
      <p:sp>
        <p:nvSpPr>
          <p:cNvPr id="512" name="Google Shape;512;p18"/>
          <p:cNvSpPr/>
          <p:nvPr/>
        </p:nvSpPr>
        <p:spPr>
          <a:xfrm>
            <a:off x="9826154" y="8382000"/>
            <a:ext cx="8302191"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875"/>
              <a:buFont typeface="Courier New"/>
              <a:buNone/>
            </a:pPr>
            <a:r>
              <a:rPr b="1" i="0" lang="en-US" sz="1875" u="none" cap="none" strike="noStrike">
                <a:solidFill>
                  <a:srgbClr val="2560FF"/>
                </a:solidFill>
                <a:latin typeface="Courier New"/>
                <a:ea typeface="Courier New"/>
                <a:cs typeface="Courier New"/>
                <a:sym typeface="Courier New"/>
              </a:rPr>
              <a:t>sbx reset --preserve-secrets</a:t>
            </a:r>
            <a:r>
              <a:rPr b="0" i="0" lang="en-US" sz="1875" u="none" cap="none" strike="noStrike">
                <a:solidFill>
                  <a:srgbClr val="3D414C"/>
                </a:solidFill>
                <a:latin typeface="IBM Plex Sans"/>
                <a:ea typeface="IBM Plex Sans"/>
                <a:cs typeface="IBM Plex Sans"/>
                <a:sym typeface="IBM Plex Sans"/>
              </a:rPr>
              <a:t>— big hammer</a:t>
            </a:r>
            <a:endParaRPr b="0" i="0" sz="1875" u="none" cap="none" strike="noStrike">
              <a:solidFill>
                <a:schemeClr val="dk1"/>
              </a:solidFill>
              <a:latin typeface="Calibri"/>
              <a:ea typeface="Calibri"/>
              <a:cs typeface="Calibri"/>
              <a:sym typeface="Calibri"/>
            </a:endParaRPr>
          </a:p>
        </p:txBody>
      </p:sp>
      <p:sp>
        <p:nvSpPr>
          <p:cNvPr id="513" name="Google Shape;513;p18"/>
          <p:cNvSpPr/>
          <p:nvPr/>
        </p:nvSpPr>
        <p:spPr>
          <a:xfrm>
            <a:off x="9826154" y="8805863"/>
            <a:ext cx="7773870" cy="6286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00"/>
              <a:buFont typeface="IBM Plex Sans"/>
              <a:buNone/>
            </a:pPr>
            <a:r>
              <a:rPr b="0" i="0" lang="en-US" sz="1800" u="none" cap="none" strike="noStrike">
                <a:solidFill>
                  <a:srgbClr val="3D414C"/>
                </a:solidFill>
                <a:latin typeface="IBM Plex Sans"/>
                <a:ea typeface="IBM Plex Sans"/>
                <a:cs typeface="IBM Plex Sans"/>
                <a:sym typeface="IBM Plex Sans"/>
              </a:rPr>
              <a:t>Org governance adds tamper-evident JSONL audit logs on every endpoint (ship to SIEM).</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8" name="Shape 518"/>
        <p:cNvGrpSpPr/>
        <p:nvPr/>
      </p:nvGrpSpPr>
      <p:grpSpPr>
        <a:xfrm>
          <a:off x="0" y="0"/>
          <a:ext cx="0" cy="0"/>
          <a:chOff x="0" y="0"/>
          <a:chExt cx="0" cy="0"/>
        </a:xfrm>
      </p:grpSpPr>
      <p:sp>
        <p:nvSpPr>
          <p:cNvPr id="519" name="Google Shape;519;p19"/>
          <p:cNvSpPr/>
          <p:nvPr/>
        </p:nvSpPr>
        <p:spPr>
          <a:xfrm>
            <a:off x="914400" y="766763"/>
            <a:ext cx="374452"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560FF"/>
              </a:buClr>
              <a:buSzPts val="1950"/>
              <a:buFont typeface="Courier New"/>
              <a:buNone/>
            </a:pPr>
            <a:r>
              <a:rPr b="1" i="0" lang="en-US" sz="1950" u="none" cap="none" strike="noStrike">
                <a:solidFill>
                  <a:srgbClr val="2560FF"/>
                </a:solidFill>
                <a:latin typeface="Courier New"/>
                <a:ea typeface="Courier New"/>
                <a:cs typeface="Courier New"/>
                <a:sym typeface="Courier New"/>
              </a:rPr>
              <a:t>06</a:t>
            </a:r>
            <a:endParaRPr b="0" i="0" sz="1950" u="none" cap="none" strike="noStrike">
              <a:solidFill>
                <a:schemeClr val="dk1"/>
              </a:solidFill>
              <a:latin typeface="Calibri"/>
              <a:ea typeface="Calibri"/>
              <a:cs typeface="Calibri"/>
              <a:sym typeface="Calibri"/>
            </a:endParaRPr>
          </a:p>
        </p:txBody>
      </p:sp>
      <p:sp>
        <p:nvSpPr>
          <p:cNvPr id="520" name="Google Shape;520;p19"/>
          <p:cNvSpPr/>
          <p:nvPr/>
        </p:nvSpPr>
        <p:spPr>
          <a:xfrm>
            <a:off x="1384102" y="762000"/>
            <a:ext cx="2790698"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1" i="0" lang="en-US" sz="1800" u="none" cap="none" strike="noStrike">
                <a:solidFill>
                  <a:srgbClr val="8A92A0"/>
                </a:solidFill>
                <a:latin typeface="IBM Plex Sans"/>
                <a:ea typeface="IBM Plex Sans"/>
                <a:cs typeface="IBM Plex Sans"/>
                <a:sym typeface="IBM Plex Sans"/>
              </a:rPr>
              <a:t>OBSERVE &amp; DEBUG</a:t>
            </a:r>
            <a:endParaRPr b="0" i="0" sz="1800" u="none" cap="none" strike="noStrike">
              <a:solidFill>
                <a:schemeClr val="dk1"/>
              </a:solidFill>
              <a:latin typeface="Calibri"/>
              <a:ea typeface="Calibri"/>
              <a:cs typeface="Calibri"/>
              <a:sym typeface="Calibri"/>
            </a:endParaRPr>
          </a:p>
        </p:txBody>
      </p:sp>
      <p:sp>
        <p:nvSpPr>
          <p:cNvPr id="521" name="Google Shape;521;p19"/>
          <p:cNvSpPr/>
          <p:nvPr/>
        </p:nvSpPr>
        <p:spPr>
          <a:xfrm>
            <a:off x="914400" y="1171575"/>
            <a:ext cx="18105120" cy="65529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0B0C10"/>
              </a:buClr>
              <a:buSzPts val="4500"/>
              <a:buFont typeface="Arial"/>
              <a:buNone/>
            </a:pPr>
            <a:r>
              <a:rPr b="1" i="0" lang="en-US" sz="4500" u="none" cap="none" strike="noStrike">
                <a:solidFill>
                  <a:srgbClr val="0B0C10"/>
                </a:solidFill>
                <a:latin typeface="Arial"/>
                <a:ea typeface="Arial"/>
                <a:cs typeface="Arial"/>
                <a:sym typeface="Arial"/>
              </a:rPr>
              <a:t>Gotcha bingo — save this slide</a:t>
            </a:r>
            <a:endParaRPr b="0" i="0" sz="4500" u="none" cap="none" strike="noStrike">
              <a:solidFill>
                <a:schemeClr val="dk1"/>
              </a:solidFill>
              <a:latin typeface="Calibri"/>
              <a:ea typeface="Calibri"/>
              <a:cs typeface="Calibri"/>
              <a:sym typeface="Calibri"/>
            </a:endParaRPr>
          </a:p>
        </p:txBody>
      </p:sp>
      <p:sp>
        <p:nvSpPr>
          <p:cNvPr id="522" name="Google Shape;522;p19"/>
          <p:cNvSpPr/>
          <p:nvPr/>
        </p:nvSpPr>
        <p:spPr>
          <a:xfrm>
            <a:off x="914400" y="2803178"/>
            <a:ext cx="16459200" cy="9525"/>
          </a:xfrm>
          <a:prstGeom prst="rect">
            <a:avLst/>
          </a:prstGeom>
          <a:solidFill>
            <a:srgbClr val="17191E">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9"/>
          <p:cNvSpPr/>
          <p:nvPr/>
        </p:nvSpPr>
        <p:spPr>
          <a:xfrm>
            <a:off x="914400" y="2312640"/>
            <a:ext cx="6705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75"/>
              <a:buFont typeface="IBM Plex Sans"/>
              <a:buNone/>
            </a:pPr>
            <a:r>
              <a:rPr b="1" i="0" lang="en-US" sz="1875" u="none" cap="none" strike="noStrike">
                <a:solidFill>
                  <a:srgbClr val="0B0C10"/>
                </a:solidFill>
                <a:latin typeface="IBM Plex Sans"/>
                <a:ea typeface="IBM Plex Sans"/>
                <a:cs typeface="IBM Plex Sans"/>
                <a:sym typeface="IBM Plex Sans"/>
              </a:rPr>
              <a:t>Global secret not picked up</a:t>
            </a:r>
            <a:endParaRPr b="0" i="0" sz="1875" u="none" cap="none" strike="noStrike">
              <a:solidFill>
                <a:schemeClr val="dk1"/>
              </a:solidFill>
              <a:latin typeface="Calibri"/>
              <a:ea typeface="Calibri"/>
              <a:cs typeface="Calibri"/>
              <a:sym typeface="Calibri"/>
            </a:endParaRPr>
          </a:p>
        </p:txBody>
      </p:sp>
      <p:sp>
        <p:nvSpPr>
          <p:cNvPr id="524" name="Google Shape;524;p19"/>
          <p:cNvSpPr/>
          <p:nvPr/>
        </p:nvSpPr>
        <p:spPr>
          <a:xfrm>
            <a:off x="7467600" y="2312640"/>
            <a:ext cx="10896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-g applies at creation. sbx rm + recreate the sandbox.</a:t>
            </a:r>
            <a:endParaRPr b="0" i="0" sz="1875" u="none" cap="none" strike="noStrike">
              <a:solidFill>
                <a:schemeClr val="dk1"/>
              </a:solidFill>
              <a:latin typeface="Calibri"/>
              <a:ea typeface="Calibri"/>
              <a:cs typeface="Calibri"/>
              <a:sym typeface="Calibri"/>
            </a:endParaRPr>
          </a:p>
        </p:txBody>
      </p:sp>
      <p:sp>
        <p:nvSpPr>
          <p:cNvPr id="525" name="Google Shape;525;p19"/>
          <p:cNvSpPr/>
          <p:nvPr/>
        </p:nvSpPr>
        <p:spPr>
          <a:xfrm>
            <a:off x="914400" y="3484215"/>
            <a:ext cx="16459200" cy="9525"/>
          </a:xfrm>
          <a:prstGeom prst="rect">
            <a:avLst/>
          </a:prstGeom>
          <a:solidFill>
            <a:srgbClr val="17191E">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9"/>
          <p:cNvSpPr/>
          <p:nvPr/>
        </p:nvSpPr>
        <p:spPr>
          <a:xfrm>
            <a:off x="914400" y="2993678"/>
            <a:ext cx="6705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75"/>
              <a:buFont typeface="IBM Plex Sans"/>
              <a:buNone/>
            </a:pPr>
            <a:r>
              <a:rPr b="1" i="0" lang="en-US" sz="1875" u="none" cap="none" strike="noStrike">
                <a:solidFill>
                  <a:srgbClr val="0B0C10"/>
                </a:solidFill>
                <a:latin typeface="IBM Plex Sans"/>
                <a:ea typeface="IBM Plex Sans"/>
                <a:cs typeface="IBM Plex Sans"/>
                <a:sym typeface="IBM Plex Sans"/>
              </a:rPr>
              <a:t>--kit on an existing sandbox</a:t>
            </a:r>
            <a:endParaRPr b="0" i="0" sz="1875" u="none" cap="none" strike="noStrike">
              <a:solidFill>
                <a:schemeClr val="dk1"/>
              </a:solidFill>
              <a:latin typeface="Calibri"/>
              <a:ea typeface="Calibri"/>
              <a:cs typeface="Calibri"/>
              <a:sym typeface="Calibri"/>
            </a:endParaRPr>
          </a:p>
        </p:txBody>
      </p:sp>
      <p:sp>
        <p:nvSpPr>
          <p:cNvPr id="527" name="Google Shape;527;p19"/>
          <p:cNvSpPr/>
          <p:nvPr/>
        </p:nvSpPr>
        <p:spPr>
          <a:xfrm>
            <a:off x="7467600" y="2993678"/>
            <a:ext cx="10896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Create-time only. Use </a:t>
            </a:r>
            <a:r>
              <a:rPr b="0" i="0" lang="en-US" sz="1875" u="none" cap="none" strike="noStrike">
                <a:solidFill>
                  <a:srgbClr val="2560FF"/>
                </a:solidFill>
                <a:latin typeface="Courier New"/>
                <a:ea typeface="Courier New"/>
                <a:cs typeface="Courier New"/>
                <a:sym typeface="Courier New"/>
              </a:rPr>
              <a:t>sbx kit add &lt;sandbox&gt; ./kit </a:t>
            </a:r>
            <a:r>
              <a:rPr b="0" i="0" lang="en-US" sz="1875" u="none" cap="none" strike="noStrike">
                <a:solidFill>
                  <a:srgbClr val="3D414C"/>
                </a:solidFill>
                <a:latin typeface="IBM Plex Sans"/>
                <a:ea typeface="IBM Plex Sans"/>
                <a:cs typeface="IBM Plex Sans"/>
                <a:sym typeface="IBM Plex Sans"/>
              </a:rPr>
              <a:t>instead.</a:t>
            </a:r>
            <a:endParaRPr b="0" i="0" sz="1875" u="none" cap="none" strike="noStrike">
              <a:solidFill>
                <a:schemeClr val="dk1"/>
              </a:solidFill>
              <a:latin typeface="Calibri"/>
              <a:ea typeface="Calibri"/>
              <a:cs typeface="Calibri"/>
              <a:sym typeface="Calibri"/>
            </a:endParaRPr>
          </a:p>
        </p:txBody>
      </p:sp>
      <p:sp>
        <p:nvSpPr>
          <p:cNvPr id="528" name="Google Shape;528;p19"/>
          <p:cNvSpPr/>
          <p:nvPr/>
        </p:nvSpPr>
        <p:spPr>
          <a:xfrm>
            <a:off x="914400" y="4165253"/>
            <a:ext cx="16459200" cy="9525"/>
          </a:xfrm>
          <a:prstGeom prst="rect">
            <a:avLst/>
          </a:prstGeom>
          <a:solidFill>
            <a:srgbClr val="17191E">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9"/>
          <p:cNvSpPr/>
          <p:nvPr/>
        </p:nvSpPr>
        <p:spPr>
          <a:xfrm>
            <a:off x="914400" y="3674715"/>
            <a:ext cx="6705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75"/>
              <a:buFont typeface="IBM Plex Sans"/>
              <a:buNone/>
            </a:pPr>
            <a:r>
              <a:rPr b="1" i="0" lang="en-US" sz="1875" u="none" cap="none" strike="noStrike">
                <a:solidFill>
                  <a:srgbClr val="0B0C10"/>
                </a:solidFill>
                <a:latin typeface="IBM Plex Sans"/>
                <a:ea typeface="IBM Plex Sans"/>
                <a:cs typeface="IBM Plex Sans"/>
                <a:sym typeface="IBM Plex Sans"/>
              </a:rPr>
              <a:t>Kit refused: "source not in allowlist"</a:t>
            </a:r>
            <a:endParaRPr b="0" i="0" sz="1875" u="none" cap="none" strike="noStrike">
              <a:solidFill>
                <a:schemeClr val="dk1"/>
              </a:solidFill>
              <a:latin typeface="Calibri"/>
              <a:ea typeface="Calibri"/>
              <a:cs typeface="Calibri"/>
              <a:sym typeface="Calibri"/>
            </a:endParaRPr>
          </a:p>
        </p:txBody>
      </p:sp>
      <p:sp>
        <p:nvSpPr>
          <p:cNvPr id="530" name="Google Shape;530;p19"/>
          <p:cNvSpPr/>
          <p:nvPr/>
        </p:nvSpPr>
        <p:spPr>
          <a:xfrm>
            <a:off x="7467600" y="3712815"/>
            <a:ext cx="10896600" cy="2952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725"/>
              <a:buFont typeface="Courier New"/>
              <a:buNone/>
            </a:pPr>
            <a:r>
              <a:rPr b="0" i="0" lang="en-US" sz="1725" u="none" cap="none" strike="noStrike">
                <a:solidFill>
                  <a:srgbClr val="3D414C"/>
                </a:solidFill>
                <a:latin typeface="Courier New"/>
                <a:ea typeface="Courier New"/>
                <a:cs typeface="Courier New"/>
                <a:sym typeface="Courier New"/>
              </a:rPr>
              <a:t>sbx settings set kit.allowedSources '["docker.io/","github.com/you/"]'</a:t>
            </a:r>
            <a:endParaRPr b="0" i="0" sz="1725" u="none" cap="none" strike="noStrike">
              <a:solidFill>
                <a:schemeClr val="dk1"/>
              </a:solidFill>
              <a:latin typeface="Calibri"/>
              <a:ea typeface="Calibri"/>
              <a:cs typeface="Calibri"/>
              <a:sym typeface="Calibri"/>
            </a:endParaRPr>
          </a:p>
        </p:txBody>
      </p:sp>
      <p:sp>
        <p:nvSpPr>
          <p:cNvPr id="531" name="Google Shape;531;p19"/>
          <p:cNvSpPr/>
          <p:nvPr/>
        </p:nvSpPr>
        <p:spPr>
          <a:xfrm>
            <a:off x="914400" y="4846290"/>
            <a:ext cx="16459200" cy="9525"/>
          </a:xfrm>
          <a:prstGeom prst="rect">
            <a:avLst/>
          </a:prstGeom>
          <a:solidFill>
            <a:srgbClr val="17191E">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9"/>
          <p:cNvSpPr/>
          <p:nvPr/>
        </p:nvSpPr>
        <p:spPr>
          <a:xfrm>
            <a:off x="914400" y="4355753"/>
            <a:ext cx="6705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75"/>
              <a:buFont typeface="IBM Plex Sans"/>
              <a:buNone/>
            </a:pPr>
            <a:r>
              <a:rPr b="1" i="0" lang="en-US" sz="1875" u="none" cap="none" strike="noStrike">
                <a:solidFill>
                  <a:srgbClr val="0B0C10"/>
                </a:solidFill>
                <a:latin typeface="IBM Plex Sans"/>
                <a:ea typeface="IBM Plex Sans"/>
                <a:cs typeface="IBM Plex Sans"/>
                <a:sym typeface="IBM Plex Sans"/>
              </a:rPr>
              <a:t>Claude ignores your ~/.claude skills</a:t>
            </a:r>
            <a:endParaRPr b="0" i="0" sz="1875" u="none" cap="none" strike="noStrike">
              <a:solidFill>
                <a:schemeClr val="dk1"/>
              </a:solidFill>
              <a:latin typeface="Calibri"/>
              <a:ea typeface="Calibri"/>
              <a:cs typeface="Calibri"/>
              <a:sym typeface="Calibri"/>
            </a:endParaRPr>
          </a:p>
        </p:txBody>
      </p:sp>
      <p:sp>
        <p:nvSpPr>
          <p:cNvPr id="533" name="Google Shape;533;p19"/>
          <p:cNvSpPr/>
          <p:nvPr/>
        </p:nvSpPr>
        <p:spPr>
          <a:xfrm>
            <a:off x="7467600" y="4355753"/>
            <a:ext cx="10896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Host dotfiles don't mount. Copy into the project: </a:t>
            </a:r>
            <a:r>
              <a:rPr b="0" i="0" lang="en-US" sz="1875" u="none" cap="none" strike="noStrike">
                <a:solidFill>
                  <a:srgbClr val="2560FF"/>
                </a:solidFill>
                <a:latin typeface="Courier New"/>
                <a:ea typeface="Courier New"/>
                <a:cs typeface="Courier New"/>
                <a:sym typeface="Courier New"/>
              </a:rPr>
              <a:t>cp -r ~/.claude/skills .claude/</a:t>
            </a:r>
            <a:endParaRPr b="0" i="0" sz="1875" u="none" cap="none" strike="noStrike">
              <a:solidFill>
                <a:schemeClr val="dk1"/>
              </a:solidFill>
              <a:latin typeface="Calibri"/>
              <a:ea typeface="Calibri"/>
              <a:cs typeface="Calibri"/>
              <a:sym typeface="Calibri"/>
            </a:endParaRPr>
          </a:p>
        </p:txBody>
      </p:sp>
      <p:sp>
        <p:nvSpPr>
          <p:cNvPr id="534" name="Google Shape;534;p19"/>
          <p:cNvSpPr/>
          <p:nvPr/>
        </p:nvSpPr>
        <p:spPr>
          <a:xfrm>
            <a:off x="914400" y="5527328"/>
            <a:ext cx="16459200" cy="9525"/>
          </a:xfrm>
          <a:prstGeom prst="rect">
            <a:avLst/>
          </a:prstGeom>
          <a:solidFill>
            <a:srgbClr val="17191E">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9"/>
          <p:cNvSpPr/>
          <p:nvPr/>
        </p:nvSpPr>
        <p:spPr>
          <a:xfrm>
            <a:off x="914400" y="5036790"/>
            <a:ext cx="6705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75"/>
              <a:buFont typeface="IBM Plex Sans"/>
              <a:buNone/>
            </a:pPr>
            <a:r>
              <a:rPr b="1" i="0" lang="en-US" sz="1875" u="none" cap="none" strike="noStrike">
                <a:solidFill>
                  <a:srgbClr val="0B0C10"/>
                </a:solidFill>
                <a:latin typeface="IBM Plex Sans"/>
                <a:ea typeface="IBM Plex Sans"/>
                <a:cs typeface="IBM Plex Sans"/>
                <a:sym typeface="IBM Plex Sans"/>
              </a:rPr>
              <a:t>npm/pip install fails silently</a:t>
            </a:r>
            <a:endParaRPr b="0" i="0" sz="1875" u="none" cap="none" strike="noStrike">
              <a:solidFill>
                <a:schemeClr val="dk1"/>
              </a:solidFill>
              <a:latin typeface="Calibri"/>
              <a:ea typeface="Calibri"/>
              <a:cs typeface="Calibri"/>
              <a:sym typeface="Calibri"/>
            </a:endParaRPr>
          </a:p>
        </p:txBody>
      </p:sp>
      <p:sp>
        <p:nvSpPr>
          <p:cNvPr id="536" name="Google Shape;536;p19"/>
          <p:cNvSpPr/>
          <p:nvPr/>
        </p:nvSpPr>
        <p:spPr>
          <a:xfrm>
            <a:off x="7467600" y="5036790"/>
            <a:ext cx="10896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Check sbx policy log, then allow *.npmjs.org / pypi.org / files.pythonhosted.org</a:t>
            </a:r>
            <a:endParaRPr b="0" i="0" sz="1875" u="none" cap="none" strike="noStrike">
              <a:solidFill>
                <a:schemeClr val="dk1"/>
              </a:solidFill>
              <a:latin typeface="Calibri"/>
              <a:ea typeface="Calibri"/>
              <a:cs typeface="Calibri"/>
              <a:sym typeface="Calibri"/>
            </a:endParaRPr>
          </a:p>
        </p:txBody>
      </p:sp>
      <p:sp>
        <p:nvSpPr>
          <p:cNvPr id="537" name="Google Shape;537;p19"/>
          <p:cNvSpPr/>
          <p:nvPr/>
        </p:nvSpPr>
        <p:spPr>
          <a:xfrm>
            <a:off x="914400" y="6208365"/>
            <a:ext cx="16459200" cy="9525"/>
          </a:xfrm>
          <a:prstGeom prst="rect">
            <a:avLst/>
          </a:prstGeom>
          <a:solidFill>
            <a:srgbClr val="17191E">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9"/>
          <p:cNvSpPr/>
          <p:nvPr/>
        </p:nvSpPr>
        <p:spPr>
          <a:xfrm>
            <a:off x="914400" y="5717828"/>
            <a:ext cx="6705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75"/>
              <a:buFont typeface="IBM Plex Sans"/>
              <a:buNone/>
            </a:pPr>
            <a:r>
              <a:rPr b="1" i="0" lang="en-US" sz="1875" u="none" cap="none" strike="noStrike">
                <a:solidFill>
                  <a:srgbClr val="0B0C10"/>
                </a:solidFill>
                <a:latin typeface="IBM Plex Sans"/>
                <a:ea typeface="IBM Plex Sans"/>
                <a:cs typeface="IBM Plex Sans"/>
                <a:sym typeface="IBM Plex Sans"/>
              </a:rPr>
              <a:t>Dev server unreachable from host</a:t>
            </a:r>
            <a:endParaRPr b="0" i="0" sz="1875" u="none" cap="none" strike="noStrike">
              <a:solidFill>
                <a:schemeClr val="dk1"/>
              </a:solidFill>
              <a:latin typeface="Calibri"/>
              <a:ea typeface="Calibri"/>
              <a:cs typeface="Calibri"/>
              <a:sym typeface="Calibri"/>
            </a:endParaRPr>
          </a:p>
        </p:txBody>
      </p:sp>
      <p:sp>
        <p:nvSpPr>
          <p:cNvPr id="539" name="Google Shape;539;p19"/>
          <p:cNvSpPr/>
          <p:nvPr/>
        </p:nvSpPr>
        <p:spPr>
          <a:xfrm>
            <a:off x="7467600" y="5717828"/>
            <a:ext cx="10896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Bind 0.0.0.0 (not 127.0.0.1), then </a:t>
            </a:r>
            <a:r>
              <a:rPr b="0" i="0" lang="en-US" sz="1875" u="none" cap="none" strike="noStrike">
                <a:solidFill>
                  <a:srgbClr val="2560FF"/>
                </a:solidFill>
                <a:latin typeface="Courier New"/>
                <a:ea typeface="Courier New"/>
                <a:cs typeface="Courier New"/>
                <a:sym typeface="Courier New"/>
              </a:rPr>
              <a:t>sbx ports &lt;name&gt; --publish 8080:3000</a:t>
            </a:r>
            <a:endParaRPr b="0" i="0" sz="1875" u="none" cap="none" strike="noStrike">
              <a:solidFill>
                <a:schemeClr val="dk1"/>
              </a:solidFill>
              <a:latin typeface="Calibri"/>
              <a:ea typeface="Calibri"/>
              <a:cs typeface="Calibri"/>
              <a:sym typeface="Calibri"/>
            </a:endParaRPr>
          </a:p>
        </p:txBody>
      </p:sp>
      <p:sp>
        <p:nvSpPr>
          <p:cNvPr id="540" name="Google Shape;540;p19"/>
          <p:cNvSpPr/>
          <p:nvPr/>
        </p:nvSpPr>
        <p:spPr>
          <a:xfrm>
            <a:off x="914400" y="6398865"/>
            <a:ext cx="6705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B0C10"/>
              </a:buClr>
              <a:buSzPts val="1875"/>
              <a:buFont typeface="IBM Plex Sans"/>
              <a:buNone/>
            </a:pPr>
            <a:r>
              <a:rPr b="1" i="0" lang="en-US" sz="1875" u="none" cap="none" strike="noStrike">
                <a:solidFill>
                  <a:srgbClr val="0B0C10"/>
                </a:solidFill>
                <a:latin typeface="IBM Plex Sans"/>
                <a:ea typeface="IBM Plex Sans"/>
                <a:cs typeface="IBM Plex Sans"/>
                <a:sym typeface="IBM Plex Sans"/>
              </a:rPr>
              <a:t>Corp TLS-inspecting proxy</a:t>
            </a:r>
            <a:endParaRPr b="0" i="0" sz="1875" u="none" cap="none" strike="noStrike">
              <a:solidFill>
                <a:schemeClr val="dk1"/>
              </a:solidFill>
              <a:latin typeface="Calibri"/>
              <a:ea typeface="Calibri"/>
              <a:cs typeface="Calibri"/>
              <a:sym typeface="Calibri"/>
            </a:endParaRPr>
          </a:p>
        </p:txBody>
      </p:sp>
      <p:sp>
        <p:nvSpPr>
          <p:cNvPr id="541" name="Google Shape;541;p19"/>
          <p:cNvSpPr/>
          <p:nvPr/>
        </p:nvSpPr>
        <p:spPr>
          <a:xfrm>
            <a:off x="7467600" y="6398865"/>
            <a:ext cx="1089660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D414C"/>
              </a:buClr>
              <a:buSzPts val="1875"/>
              <a:buFont typeface="IBM Plex Sans"/>
              <a:buNone/>
            </a:pPr>
            <a:r>
              <a:rPr b="0" i="0" lang="en-US" sz="1875" u="none" cap="none" strike="noStrike">
                <a:solidFill>
                  <a:srgbClr val="3D414C"/>
                </a:solidFill>
                <a:latin typeface="IBM Plex Sans"/>
                <a:ea typeface="IBM Plex Sans"/>
                <a:cs typeface="IBM Plex Sans"/>
                <a:sym typeface="IBM Plex Sans"/>
              </a:rPr>
              <a:t>Inject your CA via a kit + update-ca-certificates. Never override SSL_CERT_FILE.</a:t>
            </a:r>
            <a:endParaRPr b="0" i="0" sz="1875" u="none" cap="none" strike="noStrike">
              <a:solidFill>
                <a:schemeClr val="dk1"/>
              </a:solidFill>
              <a:latin typeface="Calibri"/>
              <a:ea typeface="Calibri"/>
              <a:cs typeface="Calibri"/>
              <a:sym typeface="Calibri"/>
            </a:endParaRPr>
          </a:p>
        </p:txBody>
      </p:sp>
      <p:sp>
        <p:nvSpPr>
          <p:cNvPr id="542" name="Google Shape;542;p19"/>
          <p:cNvSpPr/>
          <p:nvPr/>
        </p:nvSpPr>
        <p:spPr>
          <a:xfrm>
            <a:off x="914400" y="9229725"/>
            <a:ext cx="18105120"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2A0"/>
              </a:buClr>
              <a:buSzPts val="1800"/>
              <a:buFont typeface="IBM Plex Sans"/>
              <a:buNone/>
            </a:pPr>
            <a:r>
              <a:rPr b="0" i="0" lang="en-US" sz="1800" u="none" cap="none" strike="noStrike">
                <a:solidFill>
                  <a:srgbClr val="8A92A0"/>
                </a:solidFill>
                <a:latin typeface="IBM Plex Sans"/>
                <a:ea typeface="IBM Plex Sans"/>
                <a:cs typeface="IBM Plex Sans"/>
                <a:sym typeface="IBM Plex Sans"/>
              </a:rPr>
              <a:t>Published ports don't survive restarts · UDP/ICMP never unblock · install output isn't retained — watch the create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3C"/>
        </a:solidFill>
      </p:bgPr>
    </p:bg>
    <p:spTree>
      <p:nvGrpSpPr>
        <p:cNvPr id="547" name="Shape 547"/>
        <p:cNvGrpSpPr/>
        <p:nvPr/>
      </p:nvGrpSpPr>
      <p:grpSpPr>
        <a:xfrm>
          <a:off x="0" y="0"/>
          <a:ext cx="0" cy="0"/>
          <a:chOff x="0" y="0"/>
          <a:chExt cx="0" cy="0"/>
        </a:xfrm>
      </p:grpSpPr>
      <p:sp>
        <p:nvSpPr>
          <p:cNvPr id="548" name="Google Shape;548;p20"/>
          <p:cNvSpPr/>
          <p:nvPr/>
        </p:nvSpPr>
        <p:spPr>
          <a:xfrm>
            <a:off x="990600" y="900113"/>
            <a:ext cx="1453098"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BA4F4"/>
              </a:buClr>
              <a:buSzPts val="1800"/>
              <a:buFont typeface="IBM Plex Sans"/>
              <a:buNone/>
            </a:pPr>
            <a:r>
              <a:rPr b="1" i="0" lang="en-US" sz="1800" u="none" cap="none" strike="noStrike">
                <a:solidFill>
                  <a:srgbClr val="7BA4F4"/>
                </a:solidFill>
                <a:latin typeface="IBM Plex Sans"/>
                <a:ea typeface="IBM Plex Sans"/>
                <a:cs typeface="IBM Plex Sans"/>
                <a:sym typeface="IBM Plex Sans"/>
              </a:rPr>
              <a:t>WRAP-UP</a:t>
            </a:r>
            <a:endParaRPr b="0" i="0" sz="1800" u="none" cap="none" strike="noStrike">
              <a:solidFill>
                <a:schemeClr val="dk1"/>
              </a:solidFill>
              <a:latin typeface="Calibri"/>
              <a:ea typeface="Calibri"/>
              <a:cs typeface="Calibri"/>
              <a:sym typeface="Calibri"/>
            </a:endParaRPr>
          </a:p>
        </p:txBody>
      </p:sp>
      <p:pic>
        <p:nvPicPr>
          <p:cNvPr descr="preencoded.png" id="549" name="Google Shape;549;p20"/>
          <p:cNvPicPr preferRelativeResize="0"/>
          <p:nvPr/>
        </p:nvPicPr>
        <p:blipFill rotWithShape="1">
          <a:blip r:embed="rId3">
            <a:alphaModFix/>
          </a:blip>
          <a:srcRect b="0" l="0" r="0" t="0"/>
          <a:stretch/>
        </p:blipFill>
        <p:spPr>
          <a:xfrm>
            <a:off x="15342691" y="838200"/>
            <a:ext cx="1954709" cy="419100"/>
          </a:xfrm>
          <a:prstGeom prst="rect">
            <a:avLst/>
          </a:prstGeom>
          <a:noFill/>
          <a:ln>
            <a:noFill/>
          </a:ln>
        </p:spPr>
      </p:pic>
      <p:sp>
        <p:nvSpPr>
          <p:cNvPr id="550" name="Google Shape;550;p20"/>
          <p:cNvSpPr/>
          <p:nvPr/>
        </p:nvSpPr>
        <p:spPr>
          <a:xfrm>
            <a:off x="990600" y="1638300"/>
            <a:ext cx="17937480" cy="798165"/>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FFFFFF"/>
              </a:buClr>
              <a:buSzPts val="5700"/>
              <a:buFont typeface="Arial"/>
              <a:buNone/>
            </a:pPr>
            <a:r>
              <a:rPr b="1" i="0" lang="en-US" sz="5700" u="none" cap="none" strike="noStrike">
                <a:solidFill>
                  <a:srgbClr val="FFFFFF"/>
                </a:solidFill>
                <a:latin typeface="Arial"/>
                <a:ea typeface="Arial"/>
                <a:cs typeface="Arial"/>
                <a:sym typeface="Arial"/>
              </a:rPr>
              <a:t>You now have the whole loop.</a:t>
            </a:r>
            <a:endParaRPr b="0" i="0" sz="5700" u="none" cap="none" strike="noStrike">
              <a:solidFill>
                <a:schemeClr val="dk1"/>
              </a:solidFill>
              <a:latin typeface="Calibri"/>
              <a:ea typeface="Calibri"/>
              <a:cs typeface="Calibri"/>
              <a:sym typeface="Calibri"/>
            </a:endParaRPr>
          </a:p>
        </p:txBody>
      </p:sp>
      <p:sp>
        <p:nvSpPr>
          <p:cNvPr id="551" name="Google Shape;551;p20"/>
          <p:cNvSpPr/>
          <p:nvPr/>
        </p:nvSpPr>
        <p:spPr>
          <a:xfrm>
            <a:off x="990600" y="2931765"/>
            <a:ext cx="335280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BA4F4"/>
              </a:buClr>
              <a:buSzPts val="1950"/>
              <a:buFont typeface="Courier New"/>
              <a:buNone/>
            </a:pPr>
            <a:r>
              <a:rPr b="1" i="0" lang="en-US" sz="1950" u="none" cap="none" strike="noStrike">
                <a:solidFill>
                  <a:srgbClr val="7BA4F4"/>
                </a:solidFill>
                <a:latin typeface="Courier New"/>
                <a:ea typeface="Courier New"/>
                <a:cs typeface="Courier New"/>
                <a:sym typeface="Courier New"/>
              </a:rPr>
              <a:t>install</a:t>
            </a:r>
            <a:endParaRPr b="0" i="0" sz="1950" u="none" cap="none" strike="noStrike">
              <a:solidFill>
                <a:schemeClr val="dk1"/>
              </a:solidFill>
              <a:latin typeface="Calibri"/>
              <a:ea typeface="Calibri"/>
              <a:cs typeface="Calibri"/>
              <a:sym typeface="Calibri"/>
            </a:endParaRPr>
          </a:p>
        </p:txBody>
      </p:sp>
      <p:sp>
        <p:nvSpPr>
          <p:cNvPr id="552" name="Google Shape;552;p20"/>
          <p:cNvSpPr/>
          <p:nvPr/>
        </p:nvSpPr>
        <p:spPr>
          <a:xfrm>
            <a:off x="4038600" y="2931765"/>
            <a:ext cx="1458468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Courier New"/>
              <a:buNone/>
            </a:pPr>
            <a:r>
              <a:rPr b="0" i="0" lang="en-US" sz="1950" u="none" cap="none" strike="noStrike">
                <a:solidFill>
                  <a:srgbClr val="FFFFFF"/>
                </a:solidFill>
                <a:latin typeface="Courier New"/>
                <a:ea typeface="Courier New"/>
                <a:cs typeface="Courier New"/>
                <a:sym typeface="Courier New"/>
              </a:rPr>
              <a:t>brew install docker/tap/sbx</a:t>
            </a:r>
            <a:endParaRPr b="0" i="0" sz="1950" u="none" cap="none" strike="noStrike">
              <a:solidFill>
                <a:schemeClr val="dk1"/>
              </a:solidFill>
              <a:latin typeface="Calibri"/>
              <a:ea typeface="Calibri"/>
              <a:cs typeface="Calibri"/>
              <a:sym typeface="Calibri"/>
            </a:endParaRPr>
          </a:p>
        </p:txBody>
      </p:sp>
      <p:sp>
        <p:nvSpPr>
          <p:cNvPr id="553" name="Google Shape;553;p20"/>
          <p:cNvSpPr/>
          <p:nvPr/>
        </p:nvSpPr>
        <p:spPr>
          <a:xfrm>
            <a:off x="990600" y="3408015"/>
            <a:ext cx="335280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BA4F4"/>
              </a:buClr>
              <a:buSzPts val="1950"/>
              <a:buFont typeface="Courier New"/>
              <a:buNone/>
            </a:pPr>
            <a:r>
              <a:rPr b="1" i="0" lang="en-US" sz="1950" u="none" cap="none" strike="noStrike">
                <a:solidFill>
                  <a:srgbClr val="7BA4F4"/>
                </a:solidFill>
                <a:latin typeface="Courier New"/>
                <a:ea typeface="Courier New"/>
                <a:cs typeface="Courier New"/>
                <a:sym typeface="Courier New"/>
              </a:rPr>
              <a:t>run</a:t>
            </a:r>
            <a:endParaRPr b="0" i="0" sz="1950" u="none" cap="none" strike="noStrike">
              <a:solidFill>
                <a:schemeClr val="dk1"/>
              </a:solidFill>
              <a:latin typeface="Calibri"/>
              <a:ea typeface="Calibri"/>
              <a:cs typeface="Calibri"/>
              <a:sym typeface="Calibri"/>
            </a:endParaRPr>
          </a:p>
        </p:txBody>
      </p:sp>
      <p:sp>
        <p:nvSpPr>
          <p:cNvPr id="554" name="Google Shape;554;p20"/>
          <p:cNvSpPr/>
          <p:nvPr/>
        </p:nvSpPr>
        <p:spPr>
          <a:xfrm>
            <a:off x="4038600" y="3408015"/>
            <a:ext cx="1458468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Courier New"/>
              <a:buNone/>
            </a:pPr>
            <a:r>
              <a:rPr b="0" i="0" lang="en-US" sz="1950" u="none" cap="none" strike="noStrike">
                <a:solidFill>
                  <a:srgbClr val="FFFFFF"/>
                </a:solidFill>
                <a:latin typeface="Courier New"/>
                <a:ea typeface="Courier New"/>
                <a:cs typeface="Courier New"/>
                <a:sym typeface="Courier New"/>
              </a:rPr>
              <a:t>sbx run claude</a:t>
            </a:r>
            <a:endParaRPr b="0" i="0" sz="1950" u="none" cap="none" strike="noStrike">
              <a:solidFill>
                <a:schemeClr val="dk1"/>
              </a:solidFill>
              <a:latin typeface="Calibri"/>
              <a:ea typeface="Calibri"/>
              <a:cs typeface="Calibri"/>
              <a:sym typeface="Calibri"/>
            </a:endParaRPr>
          </a:p>
        </p:txBody>
      </p:sp>
      <p:sp>
        <p:nvSpPr>
          <p:cNvPr id="555" name="Google Shape;555;p20"/>
          <p:cNvSpPr/>
          <p:nvPr/>
        </p:nvSpPr>
        <p:spPr>
          <a:xfrm>
            <a:off x="990600" y="3884265"/>
            <a:ext cx="335280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BA4F4"/>
              </a:buClr>
              <a:buSzPts val="1950"/>
              <a:buFont typeface="Courier New"/>
              <a:buNone/>
            </a:pPr>
            <a:r>
              <a:rPr b="1" i="0" lang="en-US" sz="1950" u="none" cap="none" strike="noStrike">
                <a:solidFill>
                  <a:srgbClr val="7BA4F4"/>
                </a:solidFill>
                <a:latin typeface="Courier New"/>
                <a:ea typeface="Courier New"/>
                <a:cs typeface="Courier New"/>
                <a:sym typeface="Courier New"/>
              </a:rPr>
              <a:t>secrets</a:t>
            </a:r>
            <a:endParaRPr b="0" i="0" sz="1950" u="none" cap="none" strike="noStrike">
              <a:solidFill>
                <a:schemeClr val="dk1"/>
              </a:solidFill>
              <a:latin typeface="Calibri"/>
              <a:ea typeface="Calibri"/>
              <a:cs typeface="Calibri"/>
              <a:sym typeface="Calibri"/>
            </a:endParaRPr>
          </a:p>
        </p:txBody>
      </p:sp>
      <p:sp>
        <p:nvSpPr>
          <p:cNvPr id="556" name="Google Shape;556;p20"/>
          <p:cNvSpPr/>
          <p:nvPr/>
        </p:nvSpPr>
        <p:spPr>
          <a:xfrm>
            <a:off x="4038600" y="3884265"/>
            <a:ext cx="1458468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Courier New"/>
              <a:buNone/>
            </a:pPr>
            <a:r>
              <a:rPr b="0" i="0" lang="en-US" sz="1950" u="none" cap="none" strike="noStrike">
                <a:solidFill>
                  <a:srgbClr val="FFFFFF"/>
                </a:solidFill>
                <a:latin typeface="Courier New"/>
                <a:ea typeface="Courier New"/>
                <a:cs typeface="Courier New"/>
                <a:sym typeface="Courier New"/>
              </a:rPr>
              <a:t>sbx secret set -g github</a:t>
            </a:r>
            <a:endParaRPr b="0" i="0" sz="1950" u="none" cap="none" strike="noStrike">
              <a:solidFill>
                <a:schemeClr val="dk1"/>
              </a:solidFill>
              <a:latin typeface="Calibri"/>
              <a:ea typeface="Calibri"/>
              <a:cs typeface="Calibri"/>
              <a:sym typeface="Calibri"/>
            </a:endParaRPr>
          </a:p>
        </p:txBody>
      </p:sp>
      <p:sp>
        <p:nvSpPr>
          <p:cNvPr id="557" name="Google Shape;557;p20"/>
          <p:cNvSpPr/>
          <p:nvPr/>
        </p:nvSpPr>
        <p:spPr>
          <a:xfrm>
            <a:off x="990600" y="4360515"/>
            <a:ext cx="335280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BA4F4"/>
              </a:buClr>
              <a:buSzPts val="1950"/>
              <a:buFont typeface="Courier New"/>
              <a:buNone/>
            </a:pPr>
            <a:r>
              <a:rPr b="1" i="0" lang="en-US" sz="1950" u="none" cap="none" strike="noStrike">
                <a:solidFill>
                  <a:srgbClr val="7BA4F4"/>
                </a:solidFill>
                <a:latin typeface="Courier New"/>
                <a:ea typeface="Courier New"/>
                <a:cs typeface="Courier New"/>
                <a:sym typeface="Courier New"/>
              </a:rPr>
              <a:t>customize</a:t>
            </a:r>
            <a:endParaRPr b="0" i="0" sz="1950" u="none" cap="none" strike="noStrike">
              <a:solidFill>
                <a:schemeClr val="dk1"/>
              </a:solidFill>
              <a:latin typeface="Calibri"/>
              <a:ea typeface="Calibri"/>
              <a:cs typeface="Calibri"/>
              <a:sym typeface="Calibri"/>
            </a:endParaRPr>
          </a:p>
        </p:txBody>
      </p:sp>
      <p:sp>
        <p:nvSpPr>
          <p:cNvPr id="558" name="Google Shape;558;p20"/>
          <p:cNvSpPr/>
          <p:nvPr/>
        </p:nvSpPr>
        <p:spPr>
          <a:xfrm>
            <a:off x="4038600" y="4360515"/>
            <a:ext cx="1458468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Courier New"/>
              <a:buNone/>
            </a:pPr>
            <a:r>
              <a:rPr b="0" i="0" lang="en-US" sz="1950" u="none" cap="none" strike="noStrike">
                <a:solidFill>
                  <a:srgbClr val="FFFFFF"/>
                </a:solidFill>
                <a:latin typeface="Courier New"/>
                <a:ea typeface="Courier New"/>
                <a:cs typeface="Courier New"/>
                <a:sym typeface="Courier New"/>
              </a:rPr>
              <a:t>sbx run claude --kit ./team-prompt</a:t>
            </a:r>
            <a:endParaRPr b="0" i="0" sz="1950" u="none" cap="none" strike="noStrike">
              <a:solidFill>
                <a:schemeClr val="dk1"/>
              </a:solidFill>
              <a:latin typeface="Calibri"/>
              <a:ea typeface="Calibri"/>
              <a:cs typeface="Calibri"/>
              <a:sym typeface="Calibri"/>
            </a:endParaRPr>
          </a:p>
        </p:txBody>
      </p:sp>
      <p:sp>
        <p:nvSpPr>
          <p:cNvPr id="559" name="Google Shape;559;p20"/>
          <p:cNvSpPr/>
          <p:nvPr/>
        </p:nvSpPr>
        <p:spPr>
          <a:xfrm>
            <a:off x="990600" y="4836765"/>
            <a:ext cx="335280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BA4F4"/>
              </a:buClr>
              <a:buSzPts val="1950"/>
              <a:buFont typeface="Courier New"/>
              <a:buNone/>
            </a:pPr>
            <a:r>
              <a:rPr b="1" lang="en-US" sz="1950">
                <a:solidFill>
                  <a:srgbClr val="7BA4F4"/>
                </a:solidFill>
                <a:latin typeface="Courier New"/>
                <a:ea typeface="Courier New"/>
                <a:cs typeface="Courier New"/>
                <a:sym typeface="Courier New"/>
              </a:rPr>
              <a:t>SSH</a:t>
            </a:r>
            <a:endParaRPr b="0" i="0" sz="1950" u="none" cap="none" strike="noStrike">
              <a:solidFill>
                <a:schemeClr val="dk1"/>
              </a:solidFill>
              <a:latin typeface="Calibri"/>
              <a:ea typeface="Calibri"/>
              <a:cs typeface="Calibri"/>
              <a:sym typeface="Calibri"/>
            </a:endParaRPr>
          </a:p>
        </p:txBody>
      </p:sp>
      <p:sp>
        <p:nvSpPr>
          <p:cNvPr id="560" name="Google Shape;560;p20"/>
          <p:cNvSpPr/>
          <p:nvPr/>
        </p:nvSpPr>
        <p:spPr>
          <a:xfrm>
            <a:off x="4038600" y="4836765"/>
            <a:ext cx="1458468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Courier New"/>
              <a:buNone/>
            </a:pPr>
            <a:r>
              <a:rPr b="0" i="0" lang="en-US" sz="1950" u="none" cap="none" strike="noStrike">
                <a:solidFill>
                  <a:srgbClr val="FFFFFF"/>
                </a:solidFill>
                <a:latin typeface="Courier New"/>
                <a:ea typeface="Courier New"/>
                <a:cs typeface="Courier New"/>
                <a:sym typeface="Courier New"/>
              </a:rPr>
              <a:t>ssh &lt;sandbox&gt;@sbx</a:t>
            </a:r>
            <a:r>
              <a:rPr lang="en-US" sz="1950">
                <a:solidFill>
                  <a:srgbClr val="FFFFFF"/>
                </a:solidFill>
                <a:latin typeface="Courier New"/>
                <a:ea typeface="Courier New"/>
                <a:cs typeface="Courier New"/>
                <a:sym typeface="Courier New"/>
              </a:rPr>
              <a:t> (IDE integration coming)</a:t>
            </a:r>
            <a:endParaRPr b="0" i="0" sz="1950" u="none" cap="none" strike="noStrike">
              <a:solidFill>
                <a:schemeClr val="dk1"/>
              </a:solidFill>
              <a:latin typeface="Calibri"/>
              <a:ea typeface="Calibri"/>
              <a:cs typeface="Calibri"/>
              <a:sym typeface="Calibri"/>
            </a:endParaRPr>
          </a:p>
        </p:txBody>
      </p:sp>
      <p:sp>
        <p:nvSpPr>
          <p:cNvPr id="561" name="Google Shape;561;p20"/>
          <p:cNvSpPr/>
          <p:nvPr/>
        </p:nvSpPr>
        <p:spPr>
          <a:xfrm>
            <a:off x="990600" y="5313015"/>
            <a:ext cx="335280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BA4F4"/>
              </a:buClr>
              <a:buSzPts val="1950"/>
              <a:buFont typeface="Courier New"/>
              <a:buNone/>
            </a:pPr>
            <a:r>
              <a:rPr b="1" i="0" lang="en-US" sz="1950" u="none" cap="none" strike="noStrike">
                <a:solidFill>
                  <a:srgbClr val="7BA4F4"/>
                </a:solidFill>
                <a:latin typeface="Courier New"/>
                <a:ea typeface="Courier New"/>
                <a:cs typeface="Courier New"/>
                <a:sym typeface="Courier New"/>
              </a:rPr>
              <a:t>observe</a:t>
            </a:r>
            <a:endParaRPr b="0" i="0" sz="1950" u="none" cap="none" strike="noStrike">
              <a:solidFill>
                <a:schemeClr val="dk1"/>
              </a:solidFill>
              <a:latin typeface="Calibri"/>
              <a:ea typeface="Calibri"/>
              <a:cs typeface="Calibri"/>
              <a:sym typeface="Calibri"/>
            </a:endParaRPr>
          </a:p>
        </p:txBody>
      </p:sp>
      <p:sp>
        <p:nvSpPr>
          <p:cNvPr id="562" name="Google Shape;562;p20"/>
          <p:cNvSpPr/>
          <p:nvPr/>
        </p:nvSpPr>
        <p:spPr>
          <a:xfrm>
            <a:off x="4038600" y="5313015"/>
            <a:ext cx="1458468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Courier New"/>
              <a:buNone/>
            </a:pPr>
            <a:r>
              <a:rPr b="0" i="0" lang="en-US" sz="1950" u="none" cap="none" strike="noStrike">
                <a:solidFill>
                  <a:srgbClr val="FFFFFF"/>
                </a:solidFill>
                <a:latin typeface="Courier New"/>
                <a:ea typeface="Courier New"/>
                <a:cs typeface="Courier New"/>
                <a:sym typeface="Courier New"/>
              </a:rPr>
              <a:t>sbx policy log</a:t>
            </a:r>
            <a:endParaRPr b="0" i="0" sz="1950" u="none" cap="none" strike="noStrike">
              <a:solidFill>
                <a:schemeClr val="dk1"/>
              </a:solidFill>
              <a:latin typeface="Calibri"/>
              <a:ea typeface="Calibri"/>
              <a:cs typeface="Calibri"/>
              <a:sym typeface="Calibri"/>
            </a:endParaRPr>
          </a:p>
        </p:txBody>
      </p:sp>
      <p:sp>
        <p:nvSpPr>
          <p:cNvPr id="563" name="Google Shape;563;p20"/>
          <p:cNvSpPr/>
          <p:nvPr/>
        </p:nvSpPr>
        <p:spPr>
          <a:xfrm>
            <a:off x="990600" y="7510462"/>
            <a:ext cx="17937480" cy="3238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3C993"/>
              </a:buClr>
              <a:buSzPts val="1950"/>
              <a:buFont typeface="Courier New"/>
              <a:buNone/>
            </a:pPr>
            <a:r>
              <a:rPr b="1" i="0" lang="en-US" sz="1950" u="none" cap="none" strike="noStrike">
                <a:solidFill>
                  <a:srgbClr val="63C993"/>
                </a:solidFill>
                <a:latin typeface="Courier New"/>
                <a:ea typeface="Courier New"/>
                <a:cs typeface="Courier New"/>
                <a:sym typeface="Courier New"/>
              </a:rPr>
              <a:t>docs.docker.com/ai/sandboxes/get-started</a:t>
            </a:r>
            <a:endParaRPr b="0" i="0" sz="1950" u="none" cap="none" strike="noStrike">
              <a:solidFill>
                <a:schemeClr val="dk1"/>
              </a:solidFill>
              <a:latin typeface="Calibri"/>
              <a:ea typeface="Calibri"/>
              <a:cs typeface="Calibri"/>
              <a:sym typeface="Calibri"/>
            </a:endParaRPr>
          </a:p>
        </p:txBody>
      </p:sp>
      <p:sp>
        <p:nvSpPr>
          <p:cNvPr id="564" name="Google Shape;564;p20"/>
          <p:cNvSpPr/>
          <p:nvPr/>
        </p:nvSpPr>
        <p:spPr>
          <a:xfrm>
            <a:off x="990600" y="7929563"/>
            <a:ext cx="1793748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75"/>
              <a:buFont typeface="Courier New"/>
              <a:buNone/>
            </a:pPr>
            <a:r>
              <a:rPr b="0" i="0" lang="en-US" sz="1875" u="none" cap="none" strike="noStrike">
                <a:solidFill>
                  <a:srgbClr val="FFFFFF"/>
                </a:solidFill>
                <a:latin typeface="Courier New"/>
                <a:ea typeface="Courier New"/>
                <a:cs typeface="Courier New"/>
                <a:sym typeface="Courier New"/>
              </a:rPr>
              <a:t>github.com/docker/sbx-kits-contrib </a:t>
            </a:r>
            <a:r>
              <a:rPr b="0" i="1" lang="en-US" sz="1875" u="none" cap="none" strike="noStrike">
                <a:solidFill>
                  <a:srgbClr val="FFFFFF"/>
                </a:solidFill>
                <a:latin typeface="IBM Plex Sans"/>
                <a:ea typeface="IBM Plex Sans"/>
                <a:cs typeface="IBM Plex Sans"/>
                <a:sym typeface="IBM Plex Sans"/>
              </a:rPr>
              <a:t>— kits to steal</a:t>
            </a:r>
            <a:endParaRPr b="0" i="0" sz="1875" u="none" cap="none" strike="noStrike">
              <a:solidFill>
                <a:schemeClr val="dk1"/>
              </a:solidFill>
              <a:latin typeface="Calibri"/>
              <a:ea typeface="Calibri"/>
              <a:cs typeface="Calibri"/>
              <a:sym typeface="Calibri"/>
            </a:endParaRPr>
          </a:p>
        </p:txBody>
      </p:sp>
      <p:sp>
        <p:nvSpPr>
          <p:cNvPr id="565" name="Google Shape;565;p20"/>
          <p:cNvSpPr/>
          <p:nvPr/>
        </p:nvSpPr>
        <p:spPr>
          <a:xfrm>
            <a:off x="990600" y="8372475"/>
            <a:ext cx="1793748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75"/>
              <a:buFont typeface="Courier New"/>
              <a:buNone/>
            </a:pPr>
            <a:r>
              <a:rPr lang="en-US" sz="1875">
                <a:solidFill>
                  <a:schemeClr val="lt1"/>
                </a:solidFill>
                <a:latin typeface="Courier New"/>
                <a:ea typeface="Courier New"/>
                <a:cs typeface="Courier New"/>
                <a:sym typeface="Courier New"/>
              </a:rPr>
              <a:t>github.com/mrzarquon/fost-talk-kits - </a:t>
            </a:r>
            <a:r>
              <a:rPr i="1" lang="en-US" sz="1875">
                <a:solidFill>
                  <a:schemeClr val="lt1"/>
                </a:solidFill>
                <a:latin typeface="Courier New"/>
                <a:ea typeface="Courier New"/>
                <a:cs typeface="Courier New"/>
                <a:sym typeface="Courier New"/>
              </a:rPr>
              <a:t>Today</a:t>
            </a:r>
            <a:r>
              <a:rPr i="1" lang="en-US" sz="1875">
                <a:solidFill>
                  <a:schemeClr val="lt1"/>
                </a:solidFill>
                <a:latin typeface="Courier New"/>
                <a:ea typeface="Courier New"/>
                <a:cs typeface="Courier New"/>
                <a:sym typeface="Courier New"/>
              </a:rPr>
              <a:t>'s demo kits</a:t>
            </a:r>
            <a:endParaRPr b="0" i="1" sz="1875" u="none" cap="none" strike="noStrike">
              <a:solidFill>
                <a:schemeClr val="lt1"/>
              </a:solidFill>
              <a:latin typeface="Calibri"/>
              <a:ea typeface="Calibri"/>
              <a:cs typeface="Calibri"/>
              <a:sym typeface="Calibri"/>
            </a:endParaRPr>
          </a:p>
        </p:txBody>
      </p:sp>
      <p:sp>
        <p:nvSpPr>
          <p:cNvPr id="566" name="Google Shape;566;p20"/>
          <p:cNvSpPr/>
          <p:nvPr/>
        </p:nvSpPr>
        <p:spPr>
          <a:xfrm>
            <a:off x="990600" y="9139238"/>
            <a:ext cx="17937480"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75"/>
              <a:buFont typeface="IBM Plex Sans"/>
              <a:buNone/>
            </a:pPr>
            <a:r>
              <a:rPr b="0" i="0" lang="en-US" sz="1875" u="none" cap="none" strike="noStrike">
                <a:solidFill>
                  <a:srgbClr val="FFFFFF"/>
                </a:solidFill>
                <a:latin typeface="IBM Plex Sans"/>
                <a:ea typeface="IBM Plex Sans"/>
                <a:cs typeface="IBM Plex Sans"/>
                <a:sym typeface="IBM Plex Sans"/>
              </a:rPr>
              <a:t>Chris Barker · Docker·questions welcome</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2026-07-08T08:11:04Z</dcterms:created>
  <dc:creator>PptxGenJS</dc:creator>
</cp:coreProperties>
</file>